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Materials: the practice sheet starts with a sketch page; grids 1 to 6 are for the three practice rounds.</a:t>
            </a:r>
            <a:endParaRPr lang="en-US" sz="1600" dirty="0"/>
          </a:p>
          <a:p>
            <a:r>
              <a:rPr lang="en-US" sz="1600" dirty="0"/>
              <a:t>Timing: Do Now 10 min, three rounds about 20 min each, practice sheet 30 min, wrap-up 5 min.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−8)</a:t>
                </a:r>
              </mc:Fallback>
            </mc:AlternateContent>
            <a:r>
              <a:rPr lang="en-US" sz="1600" dirty="0"/>
              <a:t>, minimum</a:t>
            </a:r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0&lt;x&lt;2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A positive; B zero; C negative; D positive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2x−6=0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y=9−18+1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″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y''=2&gt;0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f'(x)=3x^(2)−6x=3x(x−2)&lt;0</a:t>
                </a:r>
              </mc:Fallback>
            </mc:AlternateContent>
            <a:r>
              <a:rPr lang="en-US" sz="1600" dirty="0"/>
              <a:t> between the roots</a:t>
            </a:r>
            <a:endParaRPr lang="en-US" sz="1600" dirty="0"/>
          </a:p>
          <a:p>
            <a:r>
              <a:rPr lang="en-US" sz="1600" dirty="0"/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f'(x)=3x^(2)−3</a:t>
                </a:r>
              </mc:Fallback>
            </mc:AlternateContent>
            <a:r>
              <a:rPr lang="en-US" sz="1600" dirty="0"/>
              <a:t>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3.75</m:t>
                    </m:r>
                  </m:oMath>
                </a14:m>
              </mc:Choice>
              <mc:Fallback>
                <a:r>
                  <a:rPr lang="en-US" sz="1600" dirty="0"/>
                  <a:t>3.75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2.25</m:t>
                    </m:r>
                  </m:oMath>
                </a14:m>
              </mc:Choice>
              <mc:Fallback>
                <a:r>
                  <a:rPr lang="en-US" sz="1600" dirty="0"/>
                  <a:t>−2.25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5.67</m:t>
                    </m:r>
                  </m:oMath>
                </a14:m>
              </mc:Choice>
              <mc:Fallback>
                <a:r>
                  <a:rPr lang="en-US" sz="1600" dirty="0"/>
                  <a:t>5.67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Q3 reading the sign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y</m:t>
                    </m:r>
                  </m:oMath>
                </a14:m>
              </mc:Choice>
              <mc:Fallback>
                <a:r>
                  <a:rPr lang="en-US" sz="1600" dirty="0"/>
                  <a:t>y</a:t>
                </a:r>
              </mc:Fallback>
            </mc:AlternateContent>
            <a:r>
              <a:rPr lang="en-US" sz="1600" dirty="0"/>
              <a:t> instead of the direction of the curve (A is below the axis but going up)</a:t>
            </a:r>
            <a:endParaRPr lang="en-US" sz="1600" dirty="0"/>
          </a:p>
          <a:p>
            <a:r>
              <a:rPr lang="en-US" sz="1600" dirty="0"/>
              <a:t>Diagnostic:</a:t>
            </a:r>
            <a:endParaRPr lang="en-US" sz="1600" dirty="0"/>
          </a:p>
          <a:p>
            <a:r>
              <a:rPr lang="en-US" sz="1600" dirty="0"/>
              <a:t>Q1 or Q2 wrong: Lesson 2 needs a recap before round 2</a:t>
            </a:r>
            <a:endParaRPr lang="en-US" sz="1600" dirty="0"/>
          </a:p>
          <a:p>
            <a:r>
              <a:rPr lang="en-US" sz="1600" dirty="0"/>
              <a:t>Q3 wrong: the student confuses height and gradient, the exact confusion this lesson fixes; spend longer on the one idea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Row 1 on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-axis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f'=0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  <a:p>
            <a:r>
              <a:rPr lang="en-US" sz="1600" dirty="0"/>
              <a:t>Row 2 above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-axis</a:t>
            </a:r>
            <a:endParaRPr lang="en-US" sz="1600" dirty="0"/>
          </a:p>
          <a:p>
            <a:r>
              <a:rPr lang="en-US" sz="1600" dirty="0"/>
              <a:t>Row 3 below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-axis</a:t>
            </a:r>
            <a:endParaRPr lang="en-US" sz="1600" dirty="0"/>
          </a:p>
          <a:p>
            <a:r>
              <a:rPr lang="en-US" sz="1600" dirty="0"/>
              <a:t>Row 4 turning point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fill the table with the student before any graph; keep it on the whiteboard all lesson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L1: students expect the same hump in the same place; say “flat means zero”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straight line crossing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-axis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, below the axis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x&lt;1</a:t>
                </a:r>
              </mc:Fallback>
            </mc:AlternateContent>
            <a:r>
              <a:rPr lang="en-US" sz="1600" dirty="0"/>
              <a:t>, above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x&gt;1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here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f(x)=x^(2)−2x−3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f'(x)=2x−2</a:t>
                </a:r>
              </mc:Fallback>
            </mc:AlternateContent>
            <a:r>
              <a:rPr lang="en-US" sz="1600" dirty="0"/>
              <a:t>: through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(1, 0)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(0, −2)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L3: drawing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as a curve</a:t>
            </a:r>
            <a:endParaRPr lang="en-US" sz="1600" dirty="0"/>
          </a:p>
          <a:p>
            <a:r>
              <a:rPr lang="en-US" sz="1600" dirty="0"/>
              <a:t>the dashed line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 is the ruler line: the zero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sits on it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horizontal line at height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−2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straight line through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(2, 0)</a:t>
                </a:r>
              </mc:Fallback>
            </mc:AlternateContent>
            <a:r>
              <a:rPr lang="en-US" sz="1600" dirty="0"/>
              <a:t>, above the axis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x&lt;2</a:t>
                </a:r>
              </mc:Fallback>
            </mc:AlternateContent>
            <a:r>
              <a:rPr lang="en-US" sz="1600" dirty="0"/>
              <a:t>, below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x&gt;2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the line falls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</a:t>
                </a:r>
              </mc:Fallback>
            </mc:AlternateContent>
            <a:r>
              <a:rPr lang="en-US" sz="1600" dirty="0"/>
              <a:t> for every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1</a:t>
                </a:r>
              </mc:Fallback>
            </mc:AlternateContent>
            <a:r>
              <a:rPr lang="en-US" sz="1600" dirty="0"/>
              <a:t> across: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−2</a:t>
                </a:r>
              </mc:Fallback>
            </mc:AlternateContent>
            <a:r>
              <a:rPr lang="en-US" sz="1600" dirty="0"/>
              <a:t> everywhere</a:t>
            </a:r>
            <a:endParaRPr lang="en-US" sz="1600" dirty="0"/>
          </a:p>
          <a:p>
            <a:r>
              <a:rPr lang="en-US" sz="1600" dirty="0"/>
              <a:t>Q2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f(x)=−x^(2)+4x</a:t>
                </a:r>
              </mc:Fallback>
            </mc:AlternateContent>
            <a:r>
              <a:rPr lang="en-US" sz="1600" dirty="0"/>
              <a:t>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f'(x)=−2x+4</a:t>
                </a:r>
              </mc:Fallback>
            </mc:AlternateContent>
            <a:r>
              <a:rPr lang="en-US" sz="1600" dirty="0"/>
              <a:t>, through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(0, 4)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drawing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as a sloping line</a:t>
            </a:r>
            <a:endParaRPr lang="en-US" sz="1600" dirty="0"/>
          </a:p>
          <a:p>
            <a:r>
              <a:rPr lang="en-US" sz="1600" dirty="0"/>
              <a:t>Q2 slope direction: up then down means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goes from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Model step 1 with a ruler on the whiteboard: vertical lines from each turning point down to the new axis.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Q2 up-parabola with zeros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, lowest point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Q2 up, down, up gives above, below, above;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f'(x)=3x^(2)−3</a:t>
                </a:r>
              </mc:Fallback>
            </mc:AlternateContent>
            <a:r>
              <a:rPr lang="en-US" sz="1600" dirty="0"/>
              <a:t>, minimum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−3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L4: the lowest point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must be under the steepest downhill part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 (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up-parabola with zeros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x=−2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cubic with zeros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x=−2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2</a:t>
                </a:r>
              </mc:Fallback>
            </mc:AlternateContent>
            <a:r>
              <a:rPr lang="en-US" sz="1600" dirty="0"/>
              <a:t>: below, above, below, above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x=−2</a:t>
                </a:r>
              </mc:Fallback>
            </mc:AlternateContent>
            <a:r>
              <a:rPr lang="en-US" sz="1600" dirty="0"/>
              <a:t>, minimum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x=1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f'(x)=3x^(2)+3x−6=3(x+2)(x−1)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quartic with minimums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±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x=±2</a:t>
                </a:r>
              </mc:Fallback>
            </mc:AlternateContent>
            <a:r>
              <a:rPr lang="en-US" sz="1600" dirty="0"/>
              <a:t> and a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r>
              <a:rPr lang="en-US" sz="1600" dirty="0"/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16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f'(x)=4x^(3)−16x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lowest point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0.5</m:t>
                    </m:r>
                  </m:oMath>
                </a14:m>
              </mc:Choice>
              <mc:Fallback>
                <a:r>
                  <a:rPr lang="en-US" sz="1600" dirty="0"/>
                  <a:t>x=−0.5</a:t>
                </a:r>
              </mc:Fallback>
            </mc:AlternateContent>
            <a:r>
              <a:rPr lang="en-US" sz="1600" dirty="0"/>
              <a:t>, halfway between the zeros</a:t>
            </a:r>
            <a:endParaRPr lang="en-US" sz="1600" dirty="0"/>
          </a:p>
          <a:p>
            <a:r>
              <a:rPr lang="en-US" sz="1600" dirty="0"/>
              <a:t>Q2 Merit: a quartic gives a cubic with three zeros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Row 1 maximum</a:t>
            </a:r>
            <a:endParaRPr lang="en-US" sz="1600" dirty="0"/>
          </a:p>
          <a:p>
            <a:r>
              <a:rPr lang="en-US" sz="1600" dirty="0"/>
              <a:t>Row 2 minimum</a:t>
            </a:r>
            <a:endParaRPr lang="en-US" sz="1600" dirty="0"/>
          </a:p>
          <a:p>
            <a:r>
              <a:rPr lang="en-US" sz="1600" dirty="0"/>
              <a:t>Row 3 increasing</a:t>
            </a:r>
            <a:endParaRPr lang="en-US" sz="1600" dirty="0"/>
          </a:p>
          <a:p>
            <a:r>
              <a:rPr lang="en-US" sz="1600" dirty="0"/>
              <a:t>Row 4 decreasing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read each row from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graph left to right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L5: the zeros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are turning points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, not its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x</a:t>
                </a:r>
              </mc:Fallback>
            </mc:AlternateContent>
            <a:r>
              <a:rPr lang="en-US" sz="1600" dirty="0"/>
              <a:t>-intercepts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Q3 minimum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,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, decreasing, increasing, decreasing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Q3 one possible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f(x)=−(1)/(3)x^(3)+x^(2)+3x</a:t>
                </a:r>
              </mc:Fallback>
            </mc:AlternateContent>
            <a:r>
              <a:rPr lang="en-US" sz="1600" dirty="0"/>
              <a:t>: minimum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1.67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(−1, −1.67)</a:t>
                </a:r>
              </mc:Fallback>
            </mc:AlternateContent>
            <a:r>
              <a:rPr lang="en-US" sz="1600" dirty="0"/>
              <a:t>, maximum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 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(3, 9)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L5: drawing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 through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r>
              <a:rPr lang="en-US" sz="1600" dirty="0"/>
              <a:t> on the axis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any straight line with gradient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r>
              <a:rPr lang="en-US" sz="1600" dirty="0"/>
              <a:t>, minimum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x=4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r>
              <a:rPr lang="en-US" sz="1600" dirty="0"/>
              <a:t> everywhere, so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 rises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3</a:t>
                </a:r>
              </mc:Fallback>
            </mc:AlternateContent>
            <a:r>
              <a:rPr lang="en-US" sz="1600" dirty="0"/>
              <a:t> for every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1</a:t>
                </a:r>
              </mc:Fallback>
            </mc:AlternateContent>
            <a:r>
              <a:rPr lang="en-US" sz="1600" dirty="0"/>
              <a:t> across, e.g.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f(x)=3x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goes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0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4</a:t>
                </a:r>
              </mc:Fallback>
            </mc:AlternateContent>
            <a:r>
              <a:rPr lang="en-US" sz="1600" dirty="0"/>
              <a:t>; one possible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en-US" sz="1600" dirty="0"/>
                  <a:t>f(x)=(1)/(3)x^(3)−2x^(2)+4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Q1 drawing a horizontal line (copying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)</a:t>
            </a:r>
            <a:endParaRPr lang="en-US" sz="1600" dirty="0"/>
          </a:p>
          <a:p>
            <a:r>
              <a:rPr lang="en-US" sz="1600" dirty="0"/>
              <a:t>Q2 steepest downhill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r>
              <a:rPr lang="en-US" sz="1600" dirty="0"/>
              <a:t>, under the lowest point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Full list L1 to L6 in the handout, with the versions that get no credit.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Ask the student to say each line back before looking at the screen.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Q1 up-parabola, zeros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x=3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parabola with a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Q3 cubic: zeros under the three turning points; negative, positive, negative, positive</a:t>
            </a:r>
            <a:endParaRPr lang="en-US" sz="1600" dirty="0"/>
          </a:p>
          <a:p>
            <a:r>
              <a:rPr lang="en-US" sz="1600" dirty="0"/>
              <a:t>Q4 cubic shape: minimum under the left zero of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, maximum under the right zero</a:t>
            </a:r>
            <a:endParaRPr lang="en-US" sz="1600" dirty="0"/>
          </a:p>
          <a:p>
            <a:r>
              <a:rPr lang="en-US" sz="1600" dirty="0"/>
              <a:t>Q5 negative quartic shape: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x=−3</a:t>
                </a:r>
              </mc:Fallback>
            </mc:AlternateContent>
            <a:r>
              <a:rPr lang="en-US" sz="1600" dirty="0"/>
              <a:t>, minimum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x=−1</a:t>
                </a:r>
              </mc:Fallback>
            </mc:AlternateContent>
            <a:r>
              <a:rPr lang="en-US" sz="1600" dirty="0"/>
              <a:t>, maximum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3.5</m:t>
                    </m:r>
                  </m:oMath>
                </a14:m>
              </mc:Choice>
              <mc:Fallback>
                <a:r>
                  <a:rPr lang="en-US" sz="1600" dirty="0"/>
                  <a:t>x=3.5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Q6 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f'=−1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g'=1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en-US" sz="1600" dirty="0"/>
                  <a:t>h'(x)=2x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p'=−1</a:t>
                </a:r>
              </mc:Fallback>
            </mc:AlternateContent>
            <a:r>
              <a:rPr lang="en-US" sz="1600" dirty="0"/>
              <a:t>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x&lt;0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p'=1</a:t>
                </a:r>
              </mc:Fallback>
            </mc:AlternateContent>
            <a:r>
              <a:rPr lang="en-US" sz="1600" dirty="0"/>
              <a:t>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x&gt;0</a:t>
                </a:r>
              </mc:Fallback>
            </mc:AlternateContent>
            <a:r>
              <a:rPr lang="en-US" sz="1600" dirty="0"/>
              <a:t>; (iii) no</a:t>
            </a:r>
            <a:endParaRPr lang="en-US" sz="1600" dirty="0"/>
          </a:p>
          <a:p>
            <a:r>
              <a:rPr lang="en-US" sz="1600" dirty="0"/>
              <a:t>Short solution:</a:t>
            </a:r>
            <a:endParaRPr lang="en-US" sz="1600" dirty="0"/>
          </a:p>
          <a:p>
            <a:r>
              <a:rPr lang="en-US" sz="1600" dirty="0"/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en-US" sz="1600" dirty="0"/>
                  <a:t>f'(x)=x^(2)−2x−3=(x+1)(x−3)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is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, crossing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en-US" sz="1600" dirty="0"/>
                  <a:t>x=2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crosses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en-US" sz="1600" dirty="0"/>
                  <a:t>−3</a:t>
                </a:r>
              </mc:Fallback>
            </mc:AlternateContent>
            <a:r>
              <a:rPr lang="en-US" sz="1600" dirty="0"/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3.5</m:t>
                    </m:r>
                  </m:oMath>
                </a14:m>
              </mc:Choice>
              <mc:Fallback>
                <a:r>
                  <a:rPr lang="en-US" sz="1600" dirty="0"/>
                  <a:t>3.5</a:t>
                </a:r>
              </mc:Fallback>
            </mc:AlternateContent>
            <a:r>
              <a:rPr lang="en-US" sz="1600" dirty="0"/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</mc:Choice>
              <mc:Fallback>
                <a:r>
                  <a:rPr lang="en-US" sz="1600" dirty="0"/>
                  <a:t>−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</m:oMath>
                </a14:m>
              </mc:Choice>
              <mc:Fallback>
                <a:r>
                  <a:rPr lang="en-US" sz="1600" dirty="0"/>
                  <a:t>+</a:t>
                </a:r>
              </mc:Fallback>
            </mc:AlternateContent>
            <a:r>
              <a:rPr lang="en-US" sz="1600" dirty="0"/>
              <a:t>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−1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Q7 (iii)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</m:oMath>
                </a14:m>
              </mc:Choice>
              <mc:Fallback>
                <a:r>
                  <a:rPr lang="en-US" sz="1600" dirty="0"/>
                  <a:t>p</a:t>
                </a:r>
              </mc:Fallback>
            </mc:AlternateContent>
            <a:r>
              <a:rPr lang="en-US" sz="1600" dirty="0"/>
              <a:t> has a sharp corner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r>
              <a:rPr lang="en-US" sz="1600" dirty="0"/>
              <a:t>; the gradient jumps from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−1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en-US" sz="1600" dirty="0"/>
                  <a:t>1</a:t>
                </a:r>
              </mc:Fallback>
            </mc:AlternateContent>
            <a:r>
              <a:rPr lang="en-US" sz="1600" dirty="0"/>
              <a:t>, so it is not defined there, not zero</a:t>
            </a:r>
            <a:endParaRPr lang="en-US" sz="1600" dirty="0"/>
          </a:p>
          <a:p>
            <a:r>
              <a:rPr lang="en-US" sz="1600" dirty="0"/>
              <a:t>Watch for:</a:t>
            </a:r>
            <a:endParaRPr lang="en-US" sz="1600" dirty="0"/>
          </a:p>
          <a:p>
            <a:r>
              <a:rPr lang="en-US" sz="1600" dirty="0"/>
              <a:t>Q6 (i) straight lines give horizontal lines;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h'</a:t>
                </a:r>
              </mc:Fallback>
            </mc:AlternateContent>
            <a:r>
              <a:rPr lang="en-US" sz="1600" dirty="0"/>
              <a:t> passes through the origin</a:t>
            </a:r>
            <a:endParaRPr lang="en-US" sz="1600" dirty="0"/>
          </a:p>
          <a:p>
            <a:r>
              <a:rPr lang="en-US" sz="1600" dirty="0"/>
              <a:t>Q7 open circles at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en-US" sz="1600" dirty="0"/>
                  <a:t>x=0</a:t>
                </a:r>
              </mc:Fallback>
            </mc:AlternateContent>
            <a:r>
              <a:rPr lang="en-US" sz="1600" dirty="0"/>
              <a:t> on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p'</a:t>
                </a:r>
              </mc:Fallback>
            </mc:AlternateContent>
            <a:endParaRPr lang="en-US" sz="1600" dirty="0"/>
          </a:p>
          <a:p>
            <a:r>
              <a:rPr lang="en-US" sz="1600" dirty="0"/>
              <a:t>Full working: practice answer version (tutor's working, not an official mark scheme)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Teaching line, not a question slide.</a:t>
            </a:r>
            <a:endParaRPr lang="en-US" sz="1600" dirty="0"/>
          </a:p>
          <a:p>
            <a:r>
              <a:rPr lang="en-US" sz="1600" dirty="0"/>
              <a:t>Answers: homework answer version (tutor's working, not an official mark scheme).</a:t>
            </a:r>
            <a:endParaRPr lang="en-US" sz="1600" dirty="0"/>
          </a:p>
          <a:p>
            <a:r>
              <a:rPr lang="en-US" sz="1600" dirty="0"/>
              <a:t>Next lesson Do Now checks one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</m:oMath>
                </a14:m>
              </mc:Choice>
              <mc:Fallback>
                <a:r>
                  <a:rPr lang="en-US" sz="1600" dirty="0"/>
                  <a:t>f</a:t>
                </a:r>
              </mc:Fallback>
            </mc:AlternateContent>
            <a:r>
              <a:rPr lang="en-US" sz="1600" dirty="0"/>
              <a:t> to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</mc:Choice>
              <mc:Fallback>
                <a:r>
                  <a:rPr lang="en-US" sz="1600" dirty="0"/>
                  <a:t>f'</a:t>
                </a:r>
              </mc:Fallback>
            </mc:AlternateContent>
            <a:r>
              <a:rPr lang="en-US" sz="1600" dirty="0"/>
              <a:t> sketch in words.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