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Say: calculus is about gradients of curves. Today is the toolkit every later lesson uses.</a:t>
            </a:r>
            <a:endParaRPr lang="en-US" sz="1600" dirty="0"/>
          </a:p>
          <a:p>
            <a:r>
              <a:rPr lang="en-US" sz="1600" dirty="0"/>
              <a:t>Timing: Do Now 10 min, three teach-and-practise rounds about 20 min each, practice sheet 30 min, wrap-up 5 min.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3x^(2)−12x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11</m:t>
                    </m:r>
                  </m:oMath>
                </a14:m>
              </mc:Choice>
              <mc:Fallback>
                <a:r>
                  <a:rPr lang="en-US" sz="1600" dirty="0"/>
                  <a:t>y=−2x+11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m=(12−3)/(4−1)=(9)/(3)=3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3x× x−3x×4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y−5=−2(x−3)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y=−2x+6+5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(x−2)(x−3)=0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run over rise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en-US" sz="1600" dirty="0"/>
                  <a:t>(1)/(3)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sign error when expanding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−2(x−3)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Diagnostic:</a:t>
            </a:r>
            <a:endParaRPr lang="en-US" sz="1600" dirty="0"/>
          </a:p>
          <a:p>
            <a:r>
              <a:rPr lang="en-US" sz="1600" dirty="0"/>
              <a:t>Q1 wrong: gradient idea is shaky; spend longer on the one-idea slide</a:t>
            </a:r>
            <a:endParaRPr lang="en-US" sz="1600" dirty="0"/>
          </a:p>
          <a:p>
            <a:r>
              <a:rPr lang="en-US" sz="1600" dirty="0"/>
              <a:t>Q2 wrong: expect L1 errors (expanding before differentiating)</a:t>
            </a:r>
            <a:endParaRPr lang="en-US" sz="1600" dirty="0"/>
          </a:p>
          <a:p>
            <a:r>
              <a:rPr lang="en-US" sz="1600" dirty="0"/>
              <a:t>Q3 wrong: the tangent step (round 3) will fail; re-teach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</mc:Choice>
              <mc:Fallback>
                <a:r>
                  <a:rPr lang="en-US" sz="1600" dirty="0"/>
                  <a:t>y−y_1=m(x−x_1)</a:t>
                </a:r>
              </mc:Fallback>
            </mc:AlternateContent>
            <a:r>
              <a:rPr lang="en-US" sz="1600" dirty="0"/>
              <a:t> first</a:t>
            </a:r>
            <a:endParaRPr lang="en-US" sz="1600" dirty="0"/>
          </a:p>
          <a:p>
            <a:r>
              <a:rPr lang="en-US" sz="1600" dirty="0"/>
              <a:t>Q4 wrong: allow the calculator EQUA menu for quadratics today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A down, 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B up, 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C up and steepest, 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y=x^(2)</a:t>
                </a:r>
              </mc:Fallback>
            </mc:AlternateContent>
            <a:r>
              <a:rPr lang="en-US" sz="1600" dirty="0"/>
              <a:t> the gradient machine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f'(x)=2x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2(−1)=−2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2(1)=2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2(2)=4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students reading steepness from height; C is steeper because the tangent rises faster, not because it is higher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x^(5)→5x^(4)</a:t>
                </a:r>
              </mc:Fallback>
            </mc:AlternateContent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4x^(3)→12x^(2)</a:t>
                </a:r>
              </mc:Fallback>
            </mc:AlternateContent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−6x^(2)→−12x</a:t>
                </a:r>
              </mc:Fallback>
            </mc:AlternateContent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7x→7</a:t>
                </a:r>
              </mc:Fallback>
            </mc:AlternateContent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9→0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7x=7x^(1)→7×1× x^(0)=7</a:t>
                </a:r>
              </mc:Fallback>
            </mc:AlternateContent>
            <a:r>
              <a:rPr lang="en-US" sz="1600" dirty="0"/>
              <a:t>; a constant is a flat line, 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7x→7x</a:t>
                </a:r>
              </mc:Fallback>
            </mc:AlternateContent>
            <a:r>
              <a:rPr lang="en-US" sz="1600" dirty="0"/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7x→0</a:t>
                </a:r>
              </mc:Fallback>
            </mc:AlternateContent>
            <a:r>
              <a:rPr lang="en-US" sz="1600" dirty="0"/>
              <a:t> (L3)</a:t>
            </a:r>
            <a:endParaRPr lang="en-US" sz="1600" dirty="0"/>
          </a:p>
          <a:p>
            <a:r>
              <a:rPr lang="en-US" sz="1600" dirty="0"/>
              <a:t>the sign travels with the term: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−6x^(2)→−12x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f'(x)=12x^(3)−10x+7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(dy)/(dx)=4x−5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3x^(4)→12x^(3)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−5x^(2)→−10x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7x→7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−2→0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y=2x^(2)−6x+x−3=2x^(2)−5x−3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differentiating each bracket and multiplying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2×1=2</a:t>
                </a:r>
              </mc:Fallback>
            </mc:AlternateContent>
            <a:r>
              <a:rPr lang="en-US" sz="1600" dirty="0"/>
              <a:t> (L1)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f'(x)=15x^(2)−8x+1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(dy)/(dx)=3x^(2)+6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(dy)/(dx)=2x−4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Q2 expand: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y=x^(3)+6x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expand: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(x−2)^(2)=x^(2)−4x+4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(x−2)^(2)≠ x^(2)+4</a:t>
                </a:r>
              </mc:Fallback>
            </mc:AlternateContent>
            <a:r>
              <a:rPr lang="en-US" sz="1600" dirty="0"/>
              <a:t>; the middle term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−4x</a:t>
                </a:r>
              </mc:Fallback>
            </mc:AlternateContent>
            <a:r>
              <a:rPr lang="en-US" sz="1600" dirty="0"/>
              <a:t> is the one that matters</a:t>
            </a:r>
            <a:endParaRPr lang="en-US" sz="1600" dirty="0"/>
          </a:p>
          <a:p>
            <a:r>
              <a:rPr lang="en-US" sz="1600" dirty="0"/>
              <a:t>Q1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-term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1</a:t>
                </a:r>
              </mc:Fallback>
            </mc:AlternateContent>
            <a:r>
              <a:rPr lang="en-US" sz="1600" dirty="0"/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0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Ask the student to underline what is given and circle what is asked before choosing a row.</a:t>
            </a:r>
            <a:endParaRPr lang="en-US" sz="1600" dirty="0"/>
          </a:p>
          <a:p>
            <a:r>
              <a:rPr lang="en-US" sz="1600" dirty="0"/>
              <a:t>L2 (substituting into the wrong function) is the most common slip in this lesson.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en-US" sz="1600" dirty="0"/>
                  <a:t>15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(5, −9)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a=2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f'(x)=3x^(2)−12x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60</m:t>
                    </m:r>
                  </m:oMath>
                </a14:m>
              </mc:Choice>
              <mc:Fallback>
                <a:r>
                  <a:rPr lang="en-US" sz="1600" dirty="0"/>
                  <a:t>f'(5)=75−60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2x−7=3</a:t>
                </a:r>
              </mc:Fallback>
            </mc:AlternateContent>
            <a:r>
              <a:rPr lang="en-US" sz="1600" dirty="0"/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x=5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y=25−35+1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f'(x)=2ax+3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11</m:t>
                    </m:r>
                  </m:oMath>
                </a14:m>
              </mc:Choice>
              <mc:Fallback>
                <a:r>
                  <a:rPr lang="en-US" sz="1600" dirty="0"/>
                  <a:t>4a+3=11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Q4 stopping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x=5</a:t>
                </a:r>
              </mc:Fallback>
            </mc:AlternateContent>
            <a:r>
              <a:rPr lang="en-US" sz="1600" dirty="0"/>
              <a:t>: a point needs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en-US" sz="1600" dirty="0"/>
                  <a:t>y</a:t>
                </a:r>
              </mc:Fallback>
            </mc:AlternateContent>
            <a:r>
              <a:rPr lang="en-US" sz="1600" dirty="0"/>
              <a:t> as well</a:t>
            </a:r>
            <a:endParaRPr lang="en-US" sz="1600" dirty="0"/>
          </a:p>
          <a:p>
            <a:r>
              <a:rPr lang="en-US" sz="1600" dirty="0"/>
              <a:t>Q5 differentiating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en-US" sz="1600" dirty="0"/>
                  <a:t>a</a:t>
                </a:r>
              </mc:Fallback>
            </mc:AlternateContent>
            <a:r>
              <a:rPr lang="en-US" sz="1600" dirty="0"/>
              <a:t> away;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en-US" sz="1600" dirty="0"/>
                  <a:t>a</a:t>
                </a:r>
              </mc:Fallback>
            </mc:AlternateContent>
            <a:r>
              <a:rPr lang="en-US" sz="1600" dirty="0"/>
              <a:t> is a number and stays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en-US" sz="1600" dirty="0"/>
                  <a:t>24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18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(3, 18)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k=2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f'(x)=6x^(2)+2x−4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f'(2)=24+4−4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2x+4=10</a:t>
                </a:r>
              </mc:Fallback>
            </mc:AlternateContent>
            <a:r>
              <a:rPr lang="en-US" sz="1600" dirty="0"/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y=9+12−3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f'(x)=3kx^(2)−2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22</m:t>
                    </m:r>
                  </m:oMath>
                </a14:m>
              </mc:Choice>
              <mc:Fallback>
                <a:r>
                  <a:rPr lang="en-US" sz="1600" dirty="0"/>
                  <a:t>12k−2=22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substituting into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f(x)</a:t>
                </a:r>
              </mc:Fallback>
            </mc:AlternateContent>
            <a:r>
              <a:rPr lang="en-US" sz="1600" dirty="0"/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en-US" sz="1600" dirty="0"/>
                  <a:t>16</a:t>
                </a:r>
              </mc:Fallback>
            </mc:AlternateContent>
            <a:r>
              <a:rPr lang="en-US" sz="1600" dirty="0"/>
              <a:t> (L2)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3kx^(2)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en-US" sz="1600" dirty="0"/>
                  <a:t>12k</a:t>
                </a:r>
              </mc:Fallback>
            </mc:AlternateContent>
            <a:r>
              <a:rPr lang="en-US" sz="1600" dirty="0"/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en-US" sz="1600" dirty="0"/>
                  <a:t>6k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Q6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en-US" sz="1600" dirty="0"/>
                  <a:t>y=10x−15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Q6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(2, 5)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(dy)/(dx)=3x^(2)−2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m=10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y−5=10(x−2)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using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</a:t>
                </a:r>
              </mc:Fallback>
            </mc:AlternateContent>
            <a:r>
              <a:rPr lang="en-US" sz="1600" dirty="0"/>
              <a:t>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</mc:Choice>
              <mc:Fallback>
                <a:r>
                  <a:rPr lang="en-US" sz="1600" dirty="0"/>
                  <a:t>y_1</a:t>
                </a:r>
              </mc:Fallback>
            </mc:AlternateContent>
            <a:r>
              <a:rPr lang="en-US" sz="1600" dirty="0"/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(2, 10)</a:t>
                </a:r>
              </mc:Fallback>
            </mc:AlternateContent>
            <a:r>
              <a:rPr lang="en-US" sz="1600" dirty="0"/>
              <a:t> (L2)</a:t>
            </a:r>
            <a:endParaRPr lang="en-US" sz="1600" dirty="0"/>
          </a:p>
          <a:p>
            <a:r>
              <a:rPr lang="en-US" sz="1600" dirty="0"/>
              <a:t>writing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y−5=(3x^(2)−2)(x−2)</a:t>
                </a:r>
              </mc:Fallback>
            </mc:AlternateContent>
            <a:r>
              <a:rPr lang="en-US" sz="1600" dirty="0"/>
              <a:t>: the gradient must be a number (L4)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Q7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a=3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b=2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Q7 point: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a+b=5</a:t>
                </a:r>
              </mc:Fallback>
            </mc:AlternateContent>
            <a:r>
              <a:rPr lang="en-US" sz="1600" dirty="0"/>
              <a:t>; gradient: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en-US" sz="1600" dirty="0"/>
                  <a:t>2a+b=8</a:t>
                </a:r>
              </mc:Fallback>
            </mc:AlternateContent>
            <a:r>
              <a:rPr lang="en-US" sz="1600" dirty="0"/>
              <a:t>; subtract: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a=3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Q7 using only one condition and guessing the other letter</a:t>
            </a:r>
            <a:endParaRPr lang="en-US" sz="1600" dirty="0"/>
          </a:p>
          <a:p>
            <a:r>
              <a:rPr lang="en-US" sz="1600" dirty="0"/>
              <a:t>Merit marker: two linked conditions, clearly labelled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y=5x−4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y=2x−2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(−2, −8)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(2, 6)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f'(x)=4x−3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m=5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y−6=5(x−2)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2x−4=2</a:t>
                </a:r>
              </mc:Fallback>
            </mc:AlternateContent>
            <a:r>
              <a:rPr lang="en-US" sz="1600" dirty="0"/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r>
              <a:rPr lang="en-US" sz="1600" dirty="0"/>
              <a:t>;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(3, 4)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y−4=2(x−3)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tangent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y=3x−2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x^(3)−3x+2=0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(x−1)^(2)(x+2)=0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the point P is not given: find it from the gradient first (Merit)</a:t>
            </a:r>
            <a:endParaRPr lang="en-US" sz="1600" dirty="0"/>
          </a:p>
          <a:p>
            <a:r>
              <a:rPr lang="en-US" sz="1600" dirty="0"/>
              <a:t>Q3 Excellence stretch; the repeated root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 is the point of contact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Full list L1 to L6 is in the handout; L5 (brackets around negative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) is there too.</a:t>
            </a:r>
            <a:endParaRPr lang="en-US" sz="1600" dirty="0"/>
          </a:p>
          <a:p>
            <a:r>
              <a:rPr lang="en-US" sz="1600" dirty="0"/>
              <a:t>Ask: which of these did you do today? Tick them in the handout.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Ask the student to say each line back before looking at the screen.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f'(x)=24x^(3)−9x^(2)+2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11</m:t>
                    </m:r>
                  </m:oMath>
                </a14:m>
              </mc:Choice>
              <mc:Fallback>
                <a:r>
                  <a:rPr lang="en-US" sz="1600" dirty="0"/>
                  <a:t>11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−7)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25</m:t>
                    </m:r>
                  </m:oMath>
                </a14:m>
              </mc:Choice>
              <mc:Fallback>
                <a:r>
                  <a:rPr lang="en-US" sz="1600" dirty="0"/>
                  <a:t>y=9x−25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89</m:t>
                    </m:r>
                  </m:oMath>
                </a14:m>
              </mc:Choice>
              <mc:Fallback>
                <a:r>
                  <a:rPr lang="en-US" sz="1600" dirty="0"/>
                  <a:t>89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Q6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6.5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en-US" sz="1600" dirty="0"/>
                  <a:t>y=6.5x−8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c=4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Q8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204</m:t>
                    </m:r>
                  </m:oMath>
                </a14:m>
              </mc:Choice>
              <mc:Fallback>
                <a:r>
                  <a:rPr lang="en-US" sz="1600" dirty="0"/>
                  <a:t>204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Q9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p=−4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0.5</m:t>
                    </m:r>
                  </m:oMath>
                </a14:m>
              </mc:Choice>
              <mc:Fallback>
                <a:r>
                  <a:rPr lang="en-US" sz="1600" dirty="0"/>
                  <a:t>q=0.5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Q10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y=−2x−2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Q6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(2, 5)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0.5</m:t>
                    </m:r>
                  </m:oMath>
                </a14:m>
              </mc:Choice>
              <mc:Fallback>
                <a:r>
                  <a:rPr lang="en-US" sz="1600" dirty="0"/>
                  <a:t>f'(x)=1.5x^(2)+0.5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6.5</m:t>
                    </m:r>
                  </m:oMath>
                </a14:m>
              </mc:Choice>
              <mc:Fallback>
                <a:r>
                  <a:rPr lang="en-US" sz="1600" dirty="0"/>
                  <a:t>m=6.5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f'(x)=3+2cx−6x^(2)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f'(2)=4c−21=−5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Q9 point: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en-US" sz="1600" dirty="0"/>
                  <a:t>2p−4q=−10</a:t>
                </a:r>
              </mc:Fallback>
            </mc:AlternateContent>
            <a:r>
              <a:rPr lang="en-US" sz="1600" dirty="0"/>
              <a:t>; gradient: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p−4q=−6</a:t>
                </a:r>
              </mc:Fallback>
            </mc:AlternateContent>
            <a:r>
              <a:rPr lang="en-US" sz="1600" dirty="0"/>
              <a:t>; subtract: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p=−4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Q10 expand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y=2x^(2)−6x</a:t>
                </a:r>
              </mc:Fallback>
            </mc:AlternateContent>
            <a:r>
              <a:rPr lang="en-US" sz="1600" dirty="0"/>
              <a:t>;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(1, −4)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m=4−6=−2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Q6 halves: keep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(1)/(2)x^(3)→(3)/(2)x^(2)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Q10 must expand first (L1)</a:t>
            </a:r>
            <a:endParaRPr lang="en-US" sz="1600" dirty="0"/>
          </a:p>
          <a:p>
            <a:r>
              <a:rPr lang="en-US" sz="1600" dirty="0"/>
              <a:t>Full working: practice answer version (tutor's working, not an official mark scheme)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Answers: homework answer version (tutor's working, not an official mark scheme).</a:t>
            </a:r>
            <a:endParaRPr lang="en-US" sz="1600" dirty="0"/>
          </a:p>
          <a:p>
            <a:r>
              <a:rPr lang="en-US" sz="1600" dirty="0"/>
              <a:t>Next lesson Do Now checks Q2 style (differentiate after expanding) and gradient at a point.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