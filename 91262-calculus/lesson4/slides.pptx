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Timing: Do Now 10 min, three rounds about 20 min each, practice sheet 30 min, wrap-up 5 min.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x=−1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x=4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maximum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(ds)/(dt)=10t−3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c=−2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Q2 gradient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</m:oMath>
                </a14:m>
              </mc:Choice>
              <mc:Fallback>
                <a:r>
                  <a:rPr lang="en-US" sz="1600" dirty="0"/>
                  <a:t>+</a:t>
                </a:r>
              </mc:Fallback>
            </mc:AlternateContent>
            <a:r>
              <a:rPr lang="en-US" sz="1600" dirty="0"/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</m:oMath>
                </a14:m>
              </mc:Choice>
              <mc:Fallback>
                <a:r>
                  <a:rPr lang="en-US" sz="1600" dirty="0"/>
                  <a:t>−</a:t>
                </a:r>
              </mc:Fallback>
            </mc:AlternateContent>
            <a:r>
              <a:rPr lang="en-US" sz="1600" dirty="0"/>
              <a:t>: up then down</a:t>
            </a:r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12=18−4+c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Q3 the variable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</m:oMath>
                </a14:m>
              </mc:Choice>
              <mc:Fallback>
                <a:r>
                  <a:rPr lang="en-US" sz="1600" dirty="0"/>
                  <a:t>t</a:t>
                </a:r>
              </mc:Fallback>
            </mc:AlternateContent>
            <a:r>
              <a:rPr lang="en-US" sz="1600" dirty="0"/>
              <a:t>: same rule, different letter</a:t>
            </a:r>
            <a:endParaRPr lang="en-US" sz="1600" dirty="0"/>
          </a:p>
          <a:p>
            <a:r>
              <a:rPr lang="en-US" sz="1600" dirty="0"/>
              <a:t>Diagnostic:</a:t>
            </a:r>
            <a:endParaRPr lang="en-US" sz="1600" dirty="0"/>
          </a:p>
          <a:p>
            <a:r>
              <a:rPr lang="en-US" sz="1600" dirty="0"/>
              <a:t>Q1 or Q2 wrong: Lesson 3 link between turning points and zeros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not secure; revisit before homework</a:t>
            </a:r>
            <a:endParaRPr lang="en-US" sz="1600" dirty="0"/>
          </a:p>
          <a:p>
            <a:r>
              <a:rPr lang="en-US" sz="1600" dirty="0"/>
              <a:t>Q3 wrong: a letter other than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 throws the student; say “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</m:oMath>
                </a14:m>
              </mc:Choice>
              <mc:Fallback>
                <a:r>
                  <a:rPr lang="en-US" sz="1600" dirty="0"/>
                  <a:t>t</a:t>
                </a:r>
              </mc:Fallback>
            </mc:AlternateContent>
            <a:r>
              <a:rPr lang="en-US" sz="1600" dirty="0"/>
              <a:t> works exactly like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”</a:t>
            </a:r>
            <a:endParaRPr lang="en-US" sz="1600" dirty="0"/>
          </a:p>
          <a:p>
            <a:r>
              <a:rPr lang="en-US" sz="1600" dirty="0"/>
              <a:t>Q4 wrong: finding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c</a:t>
                </a:r>
              </mc:Fallback>
            </mc:AlternateContent>
            <a:r>
              <a:rPr lang="en-US" sz="1600" dirty="0"/>
              <a:t> will be slow today; model one more example in round 1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Ask: differentiate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2x+3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2x+10</a:t>
                </a:r>
              </mc:Fallback>
            </mc:AlternateContent>
            <a:r>
              <a:rPr lang="en-US" sz="1600" dirty="0"/>
              <a:t>. Both give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2</a:t>
                </a:r>
              </mc:Fallback>
            </mc:AlternateContent>
            <a:r>
              <a:rPr lang="en-US" sz="1600" dirty="0"/>
              <a:t>, so going back we cannot know the constant: that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c</a:t>
                </a:r>
              </mc:Fallback>
            </mc:AlternateContent>
            <a:r>
              <a:rPr lang="en-US" sz="1600" dirty="0"/>
              <a:t>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f(x)=2x^(3)−2x^(2)+5x+c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f(x)=2x^(2)−3x+5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\dfrac6x^(3)3−\dfrac4x^(2)2+5x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7=2(4)−6+c=2+c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c=5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L2: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1600" dirty="0"/>
                  <a:t>6x^(2)→\dfrac6x^(3)2</a:t>
                </a:r>
              </mc:Fallback>
            </mc:AlternateContent>
            <a:r>
              <a:rPr lang="en-US" sz="1600" dirty="0"/>
              <a:t> (old power)</a:t>
            </a:r>
            <a:endParaRPr lang="en-US" sz="1600" dirty="0"/>
          </a:p>
          <a:p>
            <a:r>
              <a:rPr lang="en-US" sz="1600" dirty="0"/>
              <a:t>L1: leaving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c</a:t>
                </a:r>
              </mc:Fallback>
            </mc:AlternateContent>
            <a:r>
              <a:rPr lang="en-US" sz="1600" dirty="0"/>
              <a:t> in the final answer to Q2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f(x)=3x^(3)+x^(2)−7x+c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f(x)=(1)/(4)x^(4)−3x^(2)+c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f(x)=3x^(2)−5x+6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n-US" sz="1600" dirty="0"/>
                  <a:t>\dfracx^(4)4−\dfrac6x^(2)2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f(x)=3x^(2)−5x+c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3−5+c=4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Q1 the constant term: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−7→−7x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“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f(1)=4</a:t>
                </a:r>
              </mc:Fallback>
            </mc:AlternateContent>
            <a:r>
              <a:rPr lang="en-US" sz="1600" dirty="0"/>
              <a:t>” is the point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(1, 4)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t=10</a:t>
                </a:r>
              </mc:Fallback>
            </mc:AlternateContent>
            <a:r>
              <a:rPr lang="en-US" sz="1600" dirty="0"/>
              <a:t>: increasing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20</m:t>
                    </m:r>
                  </m:oMath>
                </a14:m>
              </mc:Choice>
              <mc:Fallback>
                <a:r>
                  <a:rPr lang="en-US" sz="1600" dirty="0"/>
                  <a:t>20</a:t>
                </a:r>
              </mc:Fallback>
            </mc:AlternateContent>
            <a:r>
              <a:rPr lang="en-US" sz="1600" dirty="0"/>
              <a:t> litres per minute;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40</m:t>
                    </m:r>
                  </m:oMath>
                </a14:m>
              </mc:Choice>
              <mc:Fallback>
                <a:r>
                  <a:rPr lang="en-US" sz="1600" dirty="0"/>
                  <a:t>t=40</a:t>
                </a:r>
              </mc:Fallback>
            </mc:AlternateContent>
            <a:r>
              <a:rPr lang="en-US" sz="1600" dirty="0"/>
              <a:t>: decreasing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10</a:t>
                </a:r>
              </mc:Fallback>
            </mc:AlternateContent>
            <a:r>
              <a:rPr lang="en-US" sz="1600" dirty="0"/>
              <a:t> litres per minute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V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</m:oMath>
                </a14:m>
              </mc:Choice>
              <mc:Fallback>
                <a:r>
                  <a:rPr lang="en-US" sz="1600" dirty="0"/>
                  <a:t>(dV)/(dt)=30−t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L3: substituting into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</m:oMath>
                </a14:m>
              </mc:Choice>
              <mc:Fallback>
                <a:r>
                  <a:rPr lang="en-US" sz="1600" dirty="0"/>
                  <a:t>V</a:t>
                </a:r>
              </mc:Fallback>
            </mc:AlternateContent>
            <a:r>
              <a:rPr lang="en-US" sz="1600" dirty="0"/>
              <a:t> gives the amount of water, not the rate</a:t>
            </a:r>
            <a:endParaRPr lang="en-US" sz="1600" dirty="0"/>
          </a:p>
          <a:p>
            <a:r>
              <a:rPr lang="en-US" sz="1600" dirty="0"/>
              <a:t>L4: “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−10</a:t>
                </a:r>
              </mc:Fallback>
            </mc:AlternateContent>
            <a:r>
              <a:rPr lang="en-US" sz="1600" dirty="0"/>
              <a:t>” alone is not an interpretation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15</m:t>
                    </m:r>
                  </m:oMath>
                </a14:m>
              </mc:Choice>
              <mc:Fallback>
                <a:r>
                  <a:rPr lang="en-US" sz="1600" dirty="0"/>
                  <a:t>t=15</a:t>
                </a:r>
              </mc:Fallback>
            </mc:AlternateContent>
            <a:r>
              <a:rPr lang="en-US" sz="1600" dirty="0"/>
              <a:t> years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(dP)/(dt)=40−2t=10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setting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P=10</a:t>
                </a:r>
              </mc:Fallback>
            </mc:AlternateContent>
            <a:r>
              <a:rPr lang="en-US" sz="1600" dirty="0"/>
              <a:t> instead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(dP)/(dt)=10</a:t>
                </a:r>
              </mc:Fallback>
            </mc:AlternateContent>
            <a:r>
              <a:rPr lang="en-US" sz="1600" dirty="0"/>
              <a:t> (L3)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−4</a:t>
                </a:r>
              </mc:Fallback>
            </mc:AlternateContent>
            <a:r>
              <a:rPr lang="en-US" sz="1600" dirty="0"/>
              <a:t>: cooling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4</a:t>
                </a:r>
              </mc:Fallback>
            </mc:AlternateContent>
            <a:r>
              <a:rPr lang="en-US" sz="1600" dirty="0"/>
              <a:t> degrees per minute</a:t>
            </a:r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7.5</m:t>
                    </m:r>
                  </m:oMath>
                </a14:m>
              </mc:Choice>
              <mc:Fallback>
                <a:r>
                  <a:rPr lang="en-US" sz="1600" dirty="0"/>
                  <a:t>t=7.5</a:t>
                </a:r>
              </mc:Fallback>
            </mc:AlternateContent>
            <a:r>
              <a:rPr lang="en-US" sz="1600" dirty="0"/>
              <a:t> minutes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10</a:t>
                </a:r>
              </mc:Fallback>
            </mc:AlternateContent>
            <a:r>
              <a:rPr lang="en-US" sz="1600" dirty="0"/>
              <a:t> square metres per week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0.2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</m:oMath>
                </a14:m>
              </mc:Choice>
              <mc:Fallback>
                <a:r>
                  <a:rPr lang="en-US" sz="1600" dirty="0"/>
                  <a:t>(dT)/(dt)=−6+0.2t</a:t>
                </a:r>
              </mc:Fallback>
            </mc:AlternateContent>
            <a:r>
              <a:rPr lang="en-US" sz="1600" dirty="0"/>
              <a:t>;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t=10</a:t>
                </a:r>
              </mc:Fallback>
            </mc:AlternateContent>
            <a:r>
              <a:rPr lang="en-US" sz="1600" dirty="0"/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−4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(dN)/(dt)=15−2t=0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31</m:t>
                    </m:r>
                  </m:oMath>
                </a14:m>
              </mc:Choice>
              <mc:Fallback>
                <a:r>
                  <a:rPr lang="en-US" sz="1600" dirty="0"/>
                  <a:t>t^(2)−4t+10=31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t^(2)−4t−21=0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en-US" sz="1600" dirty="0"/>
                  <a:t>t=7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(dA)/(dt)=2t−4=10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Q3 Merit: solve for the time first; reject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t=−3</a:t>
                </a:r>
              </mc:Fallback>
            </mc:AlternateContent>
            <a:r>
              <a:rPr lang="en-US" sz="1600" dirty="0"/>
              <a:t> (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t≥2</a:t>
                </a:r>
              </mc:Fallback>
            </mc:AlternateContent>
            <a:r>
              <a:rPr lang="en-US" sz="1600" dirty="0"/>
              <a:t>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Row 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Row 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s=0</a:t>
                </a:r>
              </mc:Fallback>
            </mc:AlternateContent>
            <a:r>
              <a:rPr lang="en-US" sz="1600" dirty="0"/>
              <a:t> when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t=0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Row 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v=0</a:t>
                </a:r>
              </mc:Fallback>
            </mc:AlternateContent>
            <a:r>
              <a:rPr lang="en-US" sz="1600" dirty="0"/>
              <a:t> when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t=0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right: differentiate (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en-US" sz="1600" dirty="0"/>
                  <a:t>s→ v→ a</a:t>
                </a:r>
              </mc:Fallback>
            </mc:AlternateContent>
            <a:r>
              <a:rPr lang="en-US" sz="1600" dirty="0"/>
              <a:t>); left: anti-differentiate and find each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c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L5: maximum height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v=0</a:t>
                </a:r>
              </mc:Fallback>
            </mc:AlternateContent>
            <a:r>
              <a:rPr lang="en-US" sz="1600" dirty="0"/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a=0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v(2)=−3\ m s^(−1)</a:t>
                </a:r>
              </mc:Fallback>
            </mc:AlternateContent>
            <a:r>
              <a:rPr lang="en-US" sz="1600" dirty="0"/>
              <a:t>; at rest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t=1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t=3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a(3)=6\ m s^(−2)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Q6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11.2</m:t>
                    </m:r>
                  </m:oMath>
                </a14:m>
              </mc:Choice>
              <mc:Fallback>
                <a:r>
                  <a:rPr lang="en-US" sz="1600" dirty="0"/>
                  <a:t>11.2</a:t>
                </a:r>
              </mc:Fallback>
            </mc:AlternateContent>
            <a:r>
              <a:rPr lang="en-US" sz="1600" dirty="0"/>
              <a:t> m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v=3t^(2)−12t+9=3(t−1)(t−3)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en-US" sz="1600" dirty="0"/>
                  <a:t>a=6t−12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Q6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9.8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14</m:t>
                    </m:r>
                  </m:oMath>
                </a14:m>
              </mc:Choice>
              <mc:Fallback>
                <a:r>
                  <a:rPr lang="en-US" sz="1600" dirty="0"/>
                  <a:t>v=−9.8t+14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4.9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1.2</m:t>
                    </m:r>
                  </m:oMath>
                </a14:m>
              </mc:Choice>
              <mc:Fallback>
                <a:r>
                  <a:rPr lang="en-US" sz="1600" dirty="0"/>
                  <a:t>s=−4.9t^(2)+14t+1.2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v=0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1.4286</m:t>
                    </m:r>
                  </m:oMath>
                </a14:m>
              </mc:Choice>
              <mc:Fallback>
                <a:r>
                  <a:rPr lang="en-US" sz="1600" dirty="0"/>
                  <a:t>t=1.4286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Q5 a negative velocity means moving backwards, not an error</a:t>
            </a:r>
            <a:endParaRPr lang="en-US" sz="1600" dirty="0"/>
          </a:p>
          <a:p>
            <a:r>
              <a:rPr lang="en-US" sz="1600" dirty="0"/>
              <a:t>Q6 two constants: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14</m:t>
                    </m:r>
                  </m:oMath>
                </a14:m>
              </mc:Choice>
              <mc:Fallback>
                <a:r>
                  <a:rPr lang="en-US" sz="1600" dirty="0"/>
                  <a:t>v(0)=14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1.2</m:t>
                    </m:r>
                  </m:oMath>
                </a14:m>
              </mc:Choice>
              <mc:Fallback>
                <a:r>
                  <a:rPr lang="en-US" sz="1600" dirty="0"/>
                  <a:t>s(0)=1.2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t=1</a:t>
                </a:r>
              </mc:Fallback>
            </mc:AlternateContent>
            <a:r>
              <a:rPr lang="en-US" sz="1600" dirty="0"/>
              <a:t> s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t=2</a:t>
                </a:r>
              </mc:Fallback>
            </mc:AlternateContent>
            <a:r>
              <a:rPr lang="en-US" sz="1600" dirty="0"/>
              <a:t> s</a:t>
            </a:r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7.5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7.5\ m s^(−1)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12.5</m:t>
                    </m:r>
                  </m:oMath>
                </a14:m>
              </mc:Choice>
              <mc:Fallback>
                <a:r>
                  <a:rPr lang="en-US" sz="1600" dirty="0"/>
                  <a:t>12.5</a:t>
                </a:r>
              </mc:Fallback>
            </mc:AlternateContent>
            <a:r>
              <a:rPr lang="en-US" sz="1600" dirty="0"/>
              <a:t> m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30.6</m:t>
                    </m:r>
                  </m:oMath>
                </a14:m>
              </mc:Choice>
              <mc:Fallback>
                <a:r>
                  <a:rPr lang="en-US" sz="1600" dirty="0"/>
                  <a:t>30.6</a:t>
                </a:r>
              </mc:Fallback>
            </mc:AlternateContent>
            <a:r>
              <a:rPr lang="en-US" sz="1600" dirty="0"/>
              <a:t> m; lands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t=5</a:t>
                </a:r>
              </mc:Fallback>
            </mc:AlternateContent>
            <a:r>
              <a:rPr lang="en-US" sz="1600" dirty="0"/>
              <a:t> s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v=6t^(2)−18t+12=6(t−1)(t−2)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0.3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v=0.3t^(2)</a:t>
                </a:r>
              </mc:Fallback>
            </mc:AlternateContent>
            <a:r>
              <a:rPr lang="en-US" sz="1600" dirty="0"/>
              <a:t> (from rest),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0.1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s=0.1t^(3)</a:t>
                </a:r>
              </mc:Fallback>
            </mc:AlternateContent>
            <a:r>
              <a:rPr lang="en-US" sz="1600" dirty="0"/>
              <a:t> (from the start line)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24.5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9.8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v=24.5−9.8t=0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2.5</m:t>
                    </m:r>
                  </m:oMath>
                </a14:m>
              </mc:Choice>
              <mc:Fallback>
                <a:r>
                  <a:rPr lang="en-US" sz="1600" dirty="0"/>
                  <a:t>t=2.5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24.5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4.9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s=24.5t−4.9t^(2)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s=0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t=5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Q2 both constants are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0</a:t>
                </a:r>
              </mc:Fallback>
            </mc:AlternateContent>
            <a:r>
              <a:rPr lang="en-US" sz="1600" dirty="0"/>
              <a:t> here; say why</a:t>
            </a:r>
            <a:endParaRPr lang="en-US" sz="1600" dirty="0"/>
          </a:p>
          <a:p>
            <a:r>
              <a:rPr lang="en-US" sz="1600" dirty="0"/>
              <a:t>Q3 Merit: “when it lands”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s=0</a:t>
                </a:r>
              </mc:Fallback>
            </mc:AlternateContent>
            <a:r>
              <a:rPr lang="en-US" sz="1600" dirty="0"/>
              <a:t>, the second root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Full list L1 to L6 in the handout; L6 (distance and displacement) is the homework extension.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Ask the student to say each line back before looking at the screen.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f(x)=4x^(3)−x^(2)+3x+4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20</m:t>
                    </m:r>
                  </m:oMath>
                </a14:m>
              </mc:Choice>
              <mc:Fallback>
                <a:r>
                  <a:rPr lang="en-US" sz="1600" dirty="0"/>
                  <a:t>s(3)=20</a:t>
                </a:r>
              </mc:Fallback>
            </mc:AlternateContent>
            <a:r>
              <a:rPr lang="en-US" sz="1600" dirty="0"/>
              <a:t> m; at rest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t=4</a:t>
                </a:r>
              </mc:Fallback>
            </mc:AlternateContent>
            <a:r>
              <a:rPr lang="en-US" sz="1600" dirty="0"/>
              <a:t> s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23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(2, 23)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f(x)=(2)/(3)x^(3)−3x^(2)+4x+1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5.7</m:t>
                    </m:r>
                  </m:oMath>
                </a14:m>
              </mc:Choice>
              <mc:Fallback>
                <a:r>
                  <a:rPr lang="en-US" sz="1600" dirty="0"/>
                  <a:t>5.7</a:t>
                </a:r>
              </mc:Fallback>
            </mc:AlternateContent>
            <a:r>
              <a:rPr lang="en-US" sz="1600" dirty="0"/>
              <a:t> m</a:t>
            </a:r>
            <a:endParaRPr lang="en-US" sz="1600" dirty="0"/>
          </a:p>
          <a:p>
            <a:r>
              <a:rPr lang="en-US" sz="1600" dirty="0"/>
              <a:t>Q6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−7\ m s^(−1)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Q7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26.2</m:t>
                    </m:r>
                  </m:oMath>
                </a14:m>
              </mc:Choice>
              <mc:Fallback>
                <a:r>
                  <a:rPr lang="en-US" sz="1600" dirty="0"/>
                  <a:t>26.2</a:t>
                </a:r>
              </mc:Fallback>
            </mc:AlternateContent>
            <a:r>
              <a:rPr lang="en-US" sz="1600" dirty="0"/>
              <a:t> m above the water</a:t>
            </a:r>
            <a:endParaRPr lang="en-US" sz="1600" dirty="0"/>
          </a:p>
          <a:p>
            <a:r>
              <a:rPr lang="en-US" sz="1600" dirty="0"/>
              <a:t>Q8 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528</m:t>
                    </m:r>
                  </m:oMath>
                </a14:m>
              </mc:Choice>
              <mc:Fallback>
                <a:r>
                  <a:rPr lang="en-US" sz="1600" dirty="0"/>
                  <a:t>P'(6)=−528</a:t>
                </a:r>
              </mc:Fallback>
            </mc:AlternateContent>
            <a:r>
              <a:rPr lang="en-US" sz="1600" dirty="0"/>
              <a:t>; (ii) decreasing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528</m:t>
                    </m:r>
                  </m:oMath>
                </a14:m>
              </mc:Choice>
              <mc:Fallback>
                <a:r>
                  <a:rPr lang="en-US" sz="1600" dirty="0"/>
                  <a:t>528</a:t>
                </a:r>
              </mc:Fallback>
            </mc:AlternateContent>
            <a:r>
              <a:rPr lang="en-US" sz="1600" dirty="0"/>
              <a:t> people per hour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2.5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f(x)=2x^(3)+2.5x^(2)−x+c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2.5</m:t>
                    </m:r>
                  </m:oMath>
                </a14:m>
              </mc:Choice>
              <mc:Fallback>
                <a:r>
                  <a:rPr lang="en-US" sz="1600" dirty="0"/>
                  <a:t>f(1)=2.5</a:t>
                </a:r>
              </mc:Fallback>
            </mc:AlternateContent>
            <a:r>
              <a:rPr lang="en-US" sz="1600" dirty="0"/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c=−1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f(3)=12−27+18+c=4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c=1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0.1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</m:oMath>
                </a14:m>
              </mc:Choice>
              <mc:Fallback>
                <a:r>
                  <a:rPr lang="en-US" sz="1600" dirty="0"/>
                  <a:t>s=0.1t^(3)+t</a:t>
                </a:r>
              </mc:Fallback>
            </mc:AlternateContent>
            <a:r>
              <a:rPr lang="en-US" sz="1600" dirty="0"/>
              <a:t> with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s(0)=0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Q7 lands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2.6</m:t>
                    </m:r>
                  </m:oMath>
                </a14:m>
              </mc:Choice>
              <mc:Fallback>
                <a:r>
                  <a:rPr lang="en-US" sz="1600" dirty="0"/>
                  <a:t>t=2.6</a:t>
                </a:r>
              </mc:Fallback>
            </mc:AlternateContent>
            <a:r>
              <a:rPr lang="en-US" sz="1600" dirty="0"/>
              <a:t>; cliff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25.844</m:t>
                    </m:r>
                  </m:oMath>
                </a14:m>
              </mc:Choice>
              <mc:Fallback>
                <a:r>
                  <a:rPr lang="en-US" sz="1600" dirty="0"/>
                  <a:t>25.844</a:t>
                </a:r>
              </mc:Fallback>
            </mc:AlternateContent>
            <a:r>
              <a:rPr lang="en-US" sz="1600" dirty="0"/>
              <a:t> m; top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0.2857</m:t>
                    </m:r>
                  </m:oMath>
                </a14:m>
              </mc:Choice>
              <mc:Fallback>
                <a:r>
                  <a:rPr lang="en-US" sz="1600" dirty="0"/>
                  <a:t>t=0.2857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Q7 Excellence: needs the cliff height first; heights are above the water</a:t>
            </a:r>
            <a:endParaRPr lang="en-US" sz="1600" dirty="0"/>
          </a:p>
          <a:p>
            <a:r>
              <a:rPr lang="en-US" sz="1600" dirty="0"/>
              <a:t>Q8 (ii) people are leaving: the crowd is shrinking</a:t>
            </a:r>
            <a:endParaRPr lang="en-US" sz="1600" dirty="0"/>
          </a:p>
          <a:p>
            <a:r>
              <a:rPr lang="en-US" sz="1600" dirty="0"/>
              <a:t>Full working: practice answer version (tutor's working, not an official mark scheme)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Answers: homework answer version (tutor's working, not an official mark scheme).</a:t>
            </a:r>
            <a:endParaRPr lang="en-US" sz="1600" dirty="0"/>
          </a:p>
          <a:p>
            <a:r>
              <a:rPr lang="en-US" sz="1600" dirty="0"/>
              <a:t>Next lesson is the mixed practice lesson; its Do Now covers all four lessons.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