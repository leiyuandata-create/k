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100 分钟。时间：Do Now 0:00–0:05；核心思想 0:05–0:07；Block 1 log 的意思 0:07–0:17；Block 2 log laws 0:17–0:32；Block 3 解指数方程 0:32–0:47；Block 4 增长和衰减 0:47–0:57；Classwork 0:57–1:17；真题演练 1:17–1:35；收尾 1:35–1:40。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发四份纸：Handout 2、Classwork 2、Practice set 2、Homework 2。学生需要计算器（log、ln 键）。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先用 5 分钟对 Homework 1 的答案（按 L 编号说错在哪），再开始 Do Now；时间不够就把 Block 4 的 Practice 放进作业。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exponential = ek-spoh-NEN-shul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logarithm = LOG-uh-rith-um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ln = el-EN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8x^4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x^(2)/(3)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5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(2x+1)(x+3)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2^10 = 1024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is bigger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÷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8x^3 ÷ x^-1 = 8x^3-(-1)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2, 4, 8, 16, 32：数了 5 次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8x^2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：减负数（L1）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ac = 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：6 和 1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Diagnostic: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Q1、Q2 错：Lesson 1 的指数还不稳，Block 2 讲 log laws 前先回顾 index laws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靠猜也可以；问他 “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2^x = 30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怎么办”，引出今天的 log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Q4 错：Block 3 的 disguised quadratic 要慢一点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what (the power 3)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4, because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2^4 = 16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log 的答案就是一个 power；把它读成问题：“2 的几次方是 16？”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答 8（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16 ÷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）：把 log 当成除法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Ask: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_2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？（1）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_2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？（0）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64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81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0.01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Q4 1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Q5 3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10^-2 = 110^2 = (1)/(100)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Q5 power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(1)/(2)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是 square root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答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-100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或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-20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：负 index（L1）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讲义最后一页有常用的 power 表，今天每个 log 都会用到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81; 4;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5^3 = 125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5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base 是 log 下面的小数字；它在 power form 里是底数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写成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3^5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：base 和 power 弄反（L11）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base = BAYS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 no;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7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base 必须是正数（且不是 1），所以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-7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舍去，并写出理由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只写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± 7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或只写 7 不说理由：评分表要 evidence of negative value being disregarded（L14）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0; 1; 3; 1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any base to the power 0 is 1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7^0 =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6^0 =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，所以都是 0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 1000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答 100：把 log 当成除以 10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计算器上 log 是 base 10，ln 是 base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e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；今天的指数方程两个都会用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(a) 5; (b)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(1)/(2)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(c)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64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5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(b) 9 的几次方是 3？square root，所以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(1)/(2)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4^3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x^3 = 125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，cube root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(b) 答 3：方向反了（L11）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这里 cube root 只有一个值，不需要舍去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15; 3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x^a× x^b = x^a+b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: multiplying adds the powers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log 就是 power，所以 log 的加法对应里面的乘法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三条都在 formula sheet 上，不用背，但要会用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_23 + _25 = _28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：加法对应乘法，不是加法（L12）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2;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the add and subtract laws only work on logs with nothing in front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前面的系数先变成 power，然后加号进分子、减号进分母，最后约分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写成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 2x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：2 没有变成 power（L13）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答案停在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5x^210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：分数要约到最简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_3(-9)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does not exist: reject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-5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5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先合并成一个 log，再换成 power form：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x^2 - 16 = 9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两个解都留下（L14）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右边的 2 换成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3^2 = 9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，不是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2^3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（L11）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1. (a) there is no law for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(x+3)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: it cannot be split (L12)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2. (b)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 2 =  2^3 =  8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not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 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(L13)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(a)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(x+3)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already simplest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(b)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 8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(a) 代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7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检查：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 10 =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，但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1.32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 7 +  3 =  21  1.32</a:t>
                </a:r>
              </mc:Fallback>
            </mc:AlternateContent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a^42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6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4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 4a + a^38 = 4a^48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x^2 - 4 = 32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± 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，舍去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(x)/(x-3) =  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，所以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4x - 12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num>
                              <m:den>
                                <m:r>
                                  <a:rPr lang="en-US" sz="16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((a)/(2))^3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分母也要立方（L2）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不舍去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（L14）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3.561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3^x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is not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 × 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the power has to come down first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两边取 log，power law 把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拿下来，再除以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 3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检查：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3^3 = 27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3^4 = 81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，所以答案在 3 和 4 之间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( 50)/( 3)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写成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(50)/(3)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（L12）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2.146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only the 1 gets multiplied by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 5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整个 power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(2x-1)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拿下来要加括号；先求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2x - 1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，最后再解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中间值保留计算器里的全部位数，最后才四舍五入（L16）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没有括号（L13）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3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base 2;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底数相同时 power 相等；精确解，不用计算器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检查：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4^3 = 64 = 8^2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sSup>
                              <m:e>
                                <m:r>
                                  <a:rPr lang="en-US" sz="16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16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(2^2)^x+1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写成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2^2x+1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：括号（L1 的 power of a power）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5.365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ln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/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because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k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 e^k = k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0.3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t = ( 5)/(0.3)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；也可以用 log：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0.3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e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t = ( 5)/(0.3  e)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，答案一样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0.3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t = (5)/(0.3)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：先除再取 ln 是错的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考试里常见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k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T = T_0 + ke^-rt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的冷却模型，先把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e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的那一项单独移出来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1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3^x =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时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3^x = 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时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(t)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如果某个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u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是负数，要舍去：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3^x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永远是正的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解出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u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就停：要换回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认出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sSup>
                              <m:e>
                                <m:r>
                                  <a:rPr lang="en-US" sz="160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3^2x = (3^x)^2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是 Excellence 的关键一步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1. the power comes down in a bracket: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(x-2) 5 =  40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(L13)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2.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( 40)/( 5) ≠  8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: divide on the calculator,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2.292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= 2.292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(L12)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2.292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- 2 = 2.292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4.292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4.292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检查：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4.292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2.292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5^4.292-2 = 5^2.292  40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；Sam 的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0.903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4.3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5^0.903  4.3</a:t>
                </a:r>
              </mc:Fallback>
            </mc:AlternateContent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8.229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8.229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0.4375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0.4375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3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300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( 300)/( 2)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90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2.3124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3x + 1 = ( 90)/( 7) = 2.3124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3^2x = 3^3x-3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2x = 3x - 3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括号（L13）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用计算器得到小数也对，但题目要 exactly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0.85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each year it keeps 85% of its value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增长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R\%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：乘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R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 + (R)/(100)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；减少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R\%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：乘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R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1 - (R)/(100)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用 0.15：一年后只剩 15%（L15）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 no: it is first worth less than \$6000 during the 7th year, after about 6.8 years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先除以 18000，再取 log；最后一句话要有单位和情境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只写 6.76 或 “6 years”：没解释（L16）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(1)/(3)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和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0.85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 0.85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都是负数，相除是正数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Gap 1.0520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a root: the 8th root, then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5.2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R = 5.2\%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 未知数在 base，不在 power：开 8 次方（power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(1)/(8)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答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1.052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R = 1.052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或 0.052：要换成百分数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答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6.25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R = 6.25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（把 50% 平均分给 8 年）：复利不是平均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1. a 20% loss keeps 80%: the factor is 0.8, not 0.2 (L15)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2. the answer needs units and a sentence in context (L16)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0.8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0.8^t = (1)/(3)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4.92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t = 4.92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：during the 5th year, after about 4.9 years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Sam 的 0.683 年明显不合理：一年后车还值 \$12000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Q1 after about 13.0 hours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after about 9.7 minutes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about 4.9% per year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1.35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1.35^t = 50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1.35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13.04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t = ( 50)/( 1.35) = 13.04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(u)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65</m:t>
                    </m:r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0.08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65e^-0.08t = 30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0.08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65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-0.08t = (30)/(65)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9.665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t = 9.665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r^6 = (4)/(3)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1.0491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r = 1.0491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(r)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Q2 先减 20 再除 65：顺序反了得不到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e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单独一项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每题最后写一句话（L16）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答案在 classwork2_answers.pdf（同版面，红色答案）。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A1 5；A2 36；A3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 10 = 1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；A4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2.410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2.410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；A5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B1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2.548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2.548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；B2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4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（舍去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-2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）；B3 during the 7th year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C：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Extension：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2.710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2.710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学生做的时候不要讲；收卷后先看 Part C 有没有写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u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u = 2^x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和舍去的理由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6.5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R = 6.5\%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num>
                              <m:den>
                                <m:r>
                                  <a:rPr lang="en-US" sz="1600" i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(1 + (R)/(100))^11 = 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R</m:t>
                        </m:r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</m:fPr>
                          <m:num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1.065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 + (R)/(100) = 2^(1)/(11) = 1.065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评分：列出方程并用 11 次方根是 u，正确答案是 r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未知数在 base：开方，不是取 log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(ii) divide by 1000, take logs of both sides, bring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D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down, divide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num>
                              <m:den>
                                <m:r>
                                  <a:rPr lang="en-US" sz="1600" i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D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(1 + (R)/(100))^D = 2</a:t>
                </a:r>
              </mc:Fallback>
            </mc:AlternateContent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num>
                              <m:den>
                                <m:r>
                                  <a:rPr lang="en-US" sz="1600" i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D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(1 + (R)/(100))^D =  2</a:t>
                </a:r>
              </mc:Fallback>
            </mc:AlternateContent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R</m:t>
                            </m:r>
                          </m:num>
                          <m:den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D(1 + (R)/(100)) =  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评分：写出两边取 log 的一行（第 2 或第 3 行）是 u；完整推出给定式子是 r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Show that 题只写最后一行：没有分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这是 (iii) 的背景，先读题，下一页是问题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问学生：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R = 8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时 Rule of 72 给几年？（9 年）真实值？（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1.08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9.006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( 2)/( 1.08) = 9.006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年）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Say it: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approximate = uh-PROK-sih-mit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(iii) set the two expressions for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D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equal and rearrange with log laws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(iii)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R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num>
                              <m:den>
                                <m:r>
                                  <a:rPr lang="en-US" sz="1600" i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(72)/(R) = ( 2)/((1 + (R)/(100)))</a:t>
                </a:r>
              </mc:Fallback>
            </mc:AlternateContent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R</m:t>
                            </m:r>
                          </m:num>
                          <m:den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72(1 + (R)/(100)) = R 2</a:t>
                </a:r>
              </mc:Fallback>
            </mc:AlternateContent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num>
                              <m:den>
                                <m:r>
                                  <a:rPr lang="en-US" sz="1600" i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72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R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(1 + (R)/(100))^72 =  2^R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，所以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num>
                              <m:den>
                                <m:r>
                                  <a:rPr lang="en-US" sz="1600" i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72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R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(1 + (R)/(100))^72 = 2^R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评分：两式相等是 u；处理 power（第 3 行）是 r；推出给定式子且数学表述正确是 t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两边的 log 去掉之前要先写成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() = ()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的形式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(ii)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10.98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10.98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2022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2 =  2022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；评分：Correct solution (u)；写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0">
                        <a:latin typeface="Cambria Math" panose="02040503050406030204" pitchFamily="18" charset="0"/>
                      </a:rPr>
                      <m:t>2022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_2 2022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也接受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检查：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2048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2^11 = 2048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，所以略小于 11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(b)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a^312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(b)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type m:val="bar"/>
                      </m:fPr>
                      <m:num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 3a + a^236 = 3a^336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评分：分数没有化简是 u；正确的 single log 是 r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num>
                              <m:den>
                                <m:r>
                                  <a:rPr lang="en-US" sz="1600" i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((a)/(6))^2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分母是 36（L2）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(i) combine the logs, switch to power form, collect the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terms, factorise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_2(x-a)/(x+a) = c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，所以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a</m:t>
                        </m:r>
                      </m:den>
                    </m:f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c</m:t>
                        </m:r>
                      </m:sup>
                    </m:sSup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(x-a)/(x+a) = 2^c</a:t>
                </a:r>
              </mc:Fallback>
            </mc:AlternateContent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c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c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- a = 2^cx + 2^ca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c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US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c</m:t>
                            </m:r>
                          </m:sup>
                        </m:sSup>
                      </m:e>
                    </m:d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x(1 - 2^c) = a(1 + 2^c)</a:t>
                </a:r>
              </mc:Fallback>
            </mc:AlternateContent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评分：合并 log 是 u；写出 power form（第 3 行）是 r；完整正确的推理是 t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这是 Lesson 1 的“换主元”：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在两边，要提公因式（L10）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(ii)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c ≠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≠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, with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- a &gt;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+ a &gt;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; this happens exactly when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c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have opposite signs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Short solution: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(ii)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c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时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c</m:t>
                        </m:r>
                      </m:sup>
                    </m:sSup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1 - 2^c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没有定义</a:t>
            </a:r>
            <a:endParaRPr lang="zh-CN" sz="1600"/>
          </a:p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时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x =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，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_20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没有定义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两个 log 的括号都要为正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评分：一个条件加理由是 r；两个条件加理由是 t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Watch for: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只写条件不写理由：Explaining your reasoning clearly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进一步：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&gt;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需要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c &lt;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；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a &lt;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 需要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sz="1600" i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6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mc:Choice>
              <mc:Fallback>
                <a:r>
                  <a:rPr lang="zh-CN" altLang="en-US" sz="1600" dirty="0">
                    <a:latin typeface="Arial"/>
                    <a:ea typeface="Microsoft YaHei"/>
                  </a:rPr>
                  <a:t>c &gt; 0</a:t>
                </a:r>
              </mc:Fallback>
            </mc:AlternateContent>
            <a:r>
              <a:rPr lang="zh-CN" altLang="en-US" sz="1600" dirty="0">
                <a:latin typeface="Arial"/>
                <a:ea typeface="Microsoft YaHei"/>
              </a:rPr>
              <a:t>（评分表只要求前面的条件）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讲义上有 L11–L16 的完整说明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让学生对照 Classwork 和 Practice set 的错，说出是哪一个 L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让学生用自己的话说第一条：“log 问的是什么？”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>
            <a:noAutofit/>
          </a:bodyPr>
          <a:lstStyle/>
          <a:p>
            <a:r>
              <a:rPr lang="zh-CN" altLang="en-US" sz="1600" dirty="0">
                <a:latin typeface="Arial"/>
                <a:ea typeface="Microsoft YaHei"/>
              </a:rPr>
              <a:t>Teaching line, not a question slide.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答案在 hw2_answers.pdf；每题的 (e) 是 Excellence 题</a:t>
            </a:r>
            <a:endParaRPr lang="zh-CN" sz="1600"/>
          </a:p>
          <a:p>
            <a:r>
              <a:rPr lang="zh-CN" altLang="en-US" sz="1600" dirty="0">
                <a:latin typeface="Arial"/>
                <a:ea typeface="Microsoft YaHei"/>
              </a:rPr>
              <a:t>下节课开头 5 分钟对答案</a:t>
            </a:r>
            <a:endParaRPr lang="zh-CN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