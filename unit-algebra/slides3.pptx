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>
            <a:noAutofit/>
          </a:bodyPr>
          <a:lstStyle/>
          <a:p>
            <a:r>
              <a:rPr lang="zh-CN" altLang="en-US" sz="1600" dirty="0">
                <a:latin typeface="Arial"/>
                <a:ea typeface="Microsoft YaHei"/>
              </a:rPr>
              <a:t>Teaching line, not a question slide.</a:t>
            </a:r>
            <a:endParaRPr lang="zh-CN" sz="1600"/>
          </a:p>
          <a:p>
            <a:r>
              <a:rPr lang="zh-CN" altLang="en-US" sz="1600" dirty="0">
                <a:latin typeface="Arial"/>
                <a:ea typeface="Microsoft YaHei"/>
              </a:rPr>
              <a:t>100 分钟。时间：对作业 0:00–0:05；Do Now 0:05–0:10；核心思想 0:10–0:12；Block 1 解方程 0:12–0:30；Block 2 由根求方程 0:30–0:42；Block 3 判别式 0:42–1:00；Block 4 证明 1:00–1:05；Classwork 1:05–1:25；真题演练 1:25–1:35；收尾 1:35–1:40。</a:t>
            </a:r>
            <a:endParaRPr lang="zh-CN" sz="1600"/>
          </a:p>
          <a:p>
            <a:r>
              <a:rPr lang="zh-CN" altLang="en-US" sz="1600" dirty="0">
                <a:latin typeface="Arial"/>
                <a:ea typeface="Microsoft YaHei"/>
              </a:rPr>
              <a:t>发四份纸：Handout 3、Classwork 3、Practice set 3、Homework 3。</a:t>
            </a:r>
            <a:endParaRPr lang="zh-CN" sz="1600"/>
          </a:p>
          <a:p>
            <a:r>
              <a:rPr lang="zh-CN" altLang="en-US" sz="1600" dirty="0">
                <a:latin typeface="Arial"/>
                <a:ea typeface="Microsoft YaHei"/>
              </a:rPr>
              <a:t>真题只有 4 页，时间够就让学生在 Practice set 上完整写，按评分表批。</a:t>
            </a:r>
            <a:endParaRPr lang="zh-CN" sz="1600"/>
          </a:p>
          <a:p>
            <a:r>
              <a:rPr lang="zh-CN" altLang="en-US" sz="1600" dirty="0">
                <a:latin typeface="Arial"/>
                <a:ea typeface="Microsoft YaHei"/>
              </a:rPr>
              <a:t>Say it:</a:t>
            </a:r>
            <a:endParaRPr lang="zh-CN" sz="1600"/>
          </a:p>
          <a:p>
            <a:r>
              <a:rPr lang="zh-CN" altLang="en-US" sz="1600" dirty="0">
                <a:latin typeface="Arial"/>
                <a:ea typeface="Microsoft YaHei"/>
              </a:rPr>
              <a:t>quadratic = kwod-RAT-ik</a:t>
            </a:r>
            <a:endParaRPr lang="zh-CN" sz="1600"/>
          </a:p>
          <a:p>
            <a:r>
              <a:rPr lang="zh-CN" altLang="en-US" sz="1600" dirty="0">
                <a:latin typeface="Arial"/>
                <a:ea typeface="Microsoft YaHei"/>
              </a:rPr>
              <a:t>discriminant = dis-KRIM-ih-nunt</a:t>
            </a:r>
            <a:endParaRPr lang="zh-CN" sz="160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>
            <a:noAutofit/>
          </a:bodyPr>
          <a:lstStyle/>
          <a:p>
            <a:r>
              <a:rPr lang="zh-CN" altLang="en-US" sz="1600" dirty="0">
                <a:latin typeface="Arial"/>
                <a:ea typeface="Microsoft YaHei"/>
              </a:rPr>
              <a:t>Q1 6</a:t>
            </a:r>
            <a:endParaRPr lang="zh-CN" sz="1600"/>
          </a:p>
          <a:p>
            <a:r>
              <a:rPr lang="zh-CN" altLang="en-US" sz="1600" dirty="0">
                <a:latin typeface="Arial"/>
                <a:ea typeface="Microsoft YaHei"/>
              </a:rPr>
              <a:t>Q2 </a:t>
            </a:r>
            <mc:AlternateContent xmlns:mc="http://schemas.openxmlformats.org/markup-compatibility/2006">
              <mc:Choice xmlns:a14="http://schemas.microsoft.com/office/drawing/2010/main"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</a:rPr>
                      <m:t>log</m:t>
                    </m:r>
                    <m:r>
                      <a:rPr lang="en-US" sz="1600" i="0"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</mc:Choice>
              <mc:Fallback>
                <a:r>
                  <a:rPr lang="zh-CN" altLang="en-US" sz="1600" dirty="0">
                    <a:latin typeface="Arial"/>
                    <a:ea typeface="Microsoft YaHei"/>
                  </a:rPr>
                  <a:t> 4</a:t>
                </a:r>
              </mc:Fallback>
            </mc:AlternateContent>
            <a:endParaRPr lang="zh-CN" sz="1600"/>
          </a:p>
          <a:p>
            <a:r>
              <a:rPr lang="zh-CN" altLang="en-US" sz="1600" dirty="0">
                <a:latin typeface="Arial"/>
                <a:ea typeface="Microsoft YaHei"/>
              </a:rPr>
              <a:t>Q3 </a:t>
            </a:r>
            <mc:AlternateContent xmlns:mc="http://schemas.openxmlformats.org/markup-compatibility/2006">
              <mc:Choice xmlns:a14="http://schemas.microsoft.com/office/drawing/2010/main" Requires="a14">
                <a14:m>
                  <m:oMath xmlns:m="http://schemas.openxmlformats.org/officeDocument/2006/math">
                    <m:r>
                      <a:rPr lang="en-US" sz="1600" i="1">
                        <a:latin typeface="Cambria Math" panose="02040503050406030204" pitchFamily="18" charset="0"/>
                      </a:rPr>
                      <m:t>x</m:t>
                    </m:r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1600" i="0">
                        <a:latin typeface="Cambria Math" panose="02040503050406030204" pitchFamily="18" charset="0"/>
                      </a:rPr>
                      <m:t>2.727</m:t>
                    </m:r>
                  </m:oMath>
                </a14:m>
              </mc:Choice>
              <mc:Fallback>
                <a:r>
                  <a:rPr lang="zh-CN" altLang="en-US" sz="1600" dirty="0">
                    <a:latin typeface="Arial"/>
                    <a:ea typeface="Microsoft YaHei"/>
                  </a:rPr>
                  <a:t>x = 2.727</a:t>
                </a:r>
              </mc:Fallback>
            </mc:AlternateContent>
            <a:endParaRPr lang="zh-CN" sz="1600"/>
          </a:p>
          <a:p>
            <a:r>
              <a:rPr lang="zh-CN" altLang="en-US" sz="1600" dirty="0">
                <a:latin typeface="Arial"/>
                <a:ea typeface="Microsoft YaHei"/>
              </a:rPr>
              <a:t>Q4 </a:t>
            </a:r>
            <mc:AlternateContent xmlns:mc="http://schemas.openxmlformats.org/markup-compatibility/2006">
              <mc:Choice xmlns:a14="http://schemas.microsoft.com/office/drawing/2010/main" Requires="a14">
                <a14:m>
                  <m:oMath xmlns:m="http://schemas.openxmlformats.org/officeDocument/2006/math">
                    <m:d>
                      <m:dPr>
                        <m:begChr m:val="("/>
                        <m:endChr m:val=")"/>
                        <m:sepChr m:val=""/>
                        <m:grow/>
                      </m:dPr>
                      <m:e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x</m:t>
                        </m:r>
                        <m:r>
                          <m:rPr>
                            <m:sty m:val="p"/>
                          </m:rPr>
                          <a:rPr lang="en-US" sz="1600" i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sz="1600" i="0">
                            <a:latin typeface="Cambria Math" panose="02040503050406030204" pitchFamily="18" charset="0"/>
                          </a:rPr>
                          <m:t>5</m:t>
                        </m:r>
                      </m:e>
                    </m:d>
                    <m:d>
                      <m:dPr>
                        <m:begChr m:val="("/>
                        <m:endChr m:val=")"/>
                        <m:sepChr m:val=""/>
                        <m:grow/>
                      </m:dPr>
                      <m:e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x</m:t>
                        </m:r>
                        <m:r>
                          <m:rPr>
                            <m:sty m:val="p"/>
                          </m:rPr>
                          <a:rPr lang="en-US" sz="1600" i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sz="1600" i="0"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d>
                  </m:oMath>
                </a14:m>
              </mc:Choice>
              <mc:Fallback>
                <a:r>
                  <a:rPr lang="zh-CN" altLang="en-US" sz="1600" dirty="0">
                    <a:latin typeface="Arial"/>
                    <a:ea typeface="Microsoft YaHei"/>
                  </a:rPr>
                  <a:t>(x-5)(x+3)</a:t>
                </a:r>
              </mc:Fallback>
            </mc:AlternateContent>
            <a:endParaRPr lang="zh-CN" sz="1600"/>
          </a:p>
          <a:p>
            <a:r>
              <a:rPr lang="zh-CN" altLang="en-US" sz="1600" dirty="0">
                <a:latin typeface="Arial"/>
                <a:ea typeface="Microsoft YaHei"/>
              </a:rPr>
              <a:t>Q5 </a:t>
            </a:r>
            <mc:AlternateContent xmlns:mc="http://schemas.openxmlformats.org/markup-compatibility/2006">
              <mc:Choice xmlns:a14="http://schemas.microsoft.com/office/drawing/2010/main" Requires="a14">
                <a14:m>
                  <m:oMath xmlns:m="http://schemas.openxmlformats.org/officeDocument/2006/math">
                    <m:r>
                      <a:rPr lang="en-US" sz="1600" i="0">
                        <a:latin typeface="Cambria Math" panose="02040503050406030204" pitchFamily="18" charset="0"/>
                      </a:rPr>
                      <m:t>4</m:t>
                    </m:r>
                    <m:sSup>
                      <m:e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x</m:t>
                        </m:r>
                      </m:e>
                      <m:sup>
                        <m:r>
                          <a:rPr lang="en-US" sz="1600" i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sz="1600" i="0">
                        <a:latin typeface="Cambria Math" panose="02040503050406030204" pitchFamily="18" charset="0"/>
                      </a:rPr>
                      <m:t>12</m:t>
                    </m:r>
                    <m:r>
                      <a:rPr lang="en-US" sz="1600" i="1">
                        <a:latin typeface="Cambria Math" panose="02040503050406030204" pitchFamily="18" charset="0"/>
                      </a:rPr>
                      <m:t>x</m:t>
                    </m:r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1600" i="0">
                        <a:latin typeface="Cambria Math" panose="02040503050406030204" pitchFamily="18" charset="0"/>
                      </a:rPr>
                      <m:t>9</m:t>
                    </m:r>
                  </m:oMath>
                </a14:m>
              </mc:Choice>
              <mc:Fallback>
                <a:r>
                  <a:rPr lang="zh-CN" altLang="en-US" sz="1600" dirty="0">
                    <a:latin typeface="Arial"/>
                    <a:ea typeface="Microsoft YaHei"/>
                  </a:rPr>
                  <a:t>4x^2 - 12x + 9</a:t>
                </a:r>
              </mc:Fallback>
            </mc:AlternateContent>
            <a:endParaRPr lang="zh-CN" sz="1600"/>
          </a:p>
          <a:p>
            <a:r>
              <a:rPr lang="zh-CN" altLang="en-US" sz="1600" dirty="0">
                <a:latin typeface="Arial"/>
                <a:ea typeface="Microsoft YaHei"/>
              </a:rPr>
              <a:t>Short solution:</a:t>
            </a:r>
            <a:endParaRPr lang="zh-CN" sz="1600"/>
          </a:p>
          <a:p>
            <a:r>
              <a:rPr lang="zh-CN" altLang="en-US" sz="1600" dirty="0">
                <a:latin typeface="Arial"/>
                <a:ea typeface="Microsoft YaHei"/>
              </a:rPr>
              <a:t>Q3 </a:t>
            </a:r>
            <mc:AlternateContent xmlns:mc="http://schemas.openxmlformats.org/markup-compatibility/2006">
              <mc:Choice xmlns:a14="http://schemas.microsoft.com/office/drawing/2010/main" Requires="a14">
                <a14:m>
                  <m:oMath xmlns:m="http://schemas.openxmlformats.org/officeDocument/2006/math">
                    <m:r>
                      <a:rPr lang="en-US" sz="1600" i="1">
                        <a:latin typeface="Cambria Math" panose="02040503050406030204" pitchFamily="18" charset="0"/>
                      </a:rPr>
                      <m:t>x</m:t>
                    </m:r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</m:fPr>
                      <m:num>
                        <m:r>
                          <m:rPr>
                            <m:sty m:val="p"/>
                          </m:rPr>
                          <a:rPr lang="en-US" sz="1600" i="0">
                            <a:latin typeface="Cambria Math" panose="02040503050406030204" pitchFamily="18" charset="0"/>
                          </a:rPr>
                          <m:t>log</m:t>
                        </m:r>
                        <m:r>
                          <a:rPr lang="en-US" sz="1600" i="0">
                            <a:latin typeface="Cambria Math" panose="02040503050406030204" pitchFamily="18" charset="0"/>
                          </a:rPr>
                          <m:t>20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US" sz="1600" i="0">
                            <a:latin typeface="Cambria Math" panose="02040503050406030204" pitchFamily="18" charset="0"/>
                          </a:rPr>
                          <m:t>log</m:t>
                        </m:r>
                        <m:r>
                          <a:rPr lang="en-US" sz="1600" i="0"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</mc:Choice>
              <mc:Fallback>
                <a:r>
                  <a:rPr lang="zh-CN" altLang="en-US" sz="1600" dirty="0">
                    <a:latin typeface="Arial"/>
                    <a:ea typeface="Microsoft YaHei"/>
                  </a:rPr>
                  <a:t>x = ( 20)/( 3)</a:t>
                </a:r>
              </mc:Fallback>
            </mc:AlternateContent>
            <a:endParaRPr lang="zh-CN" sz="1600"/>
          </a:p>
          <a:p>
            <a:r>
              <a:rPr lang="zh-CN" altLang="en-US" sz="1600" dirty="0">
                <a:latin typeface="Arial"/>
                <a:ea typeface="Microsoft YaHei"/>
              </a:rPr>
              <a:t>Q5 </a:t>
            </a:r>
            <mc:AlternateContent xmlns:mc="http://schemas.openxmlformats.org/markup-compatibility/2006">
              <mc:Choice xmlns:a14="http://schemas.microsoft.com/office/drawing/2010/main" Requires="a14">
                <a14:m>
                  <m:oMath xmlns:m="http://schemas.openxmlformats.org/officeDocument/2006/math">
                    <m:sSup>
                      <m:e>
                        <m:d>
                          <m:dPr>
                            <m:begChr m:val="("/>
                            <m:endChr m:val=")"/>
                            <m:sepChr m:val=""/>
                            <m:grow/>
                          </m:dPr>
                          <m:e>
                            <m:r>
                              <a:rPr lang="en-US" sz="1600" i="0"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US" sz="1600" i="1">
                                <a:latin typeface="Cambria Math" panose="02040503050406030204" pitchFamily="18" charset="0"/>
                              </a:rPr>
                              <m:t>x</m:t>
                            </m:r>
                          </m:e>
                        </m:d>
                      </m:e>
                      <m:sup>
                        <m:r>
                          <a:rPr lang="en-US" sz="1600" i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1600" i="0">
                        <a:latin typeface="Cambria Math" panose="02040503050406030204" pitchFamily="18" charset="0"/>
                      </a:rPr>
                      <m:t>2</m:t>
                    </m:r>
                    <m:d>
                      <m:dPr>
                        <m:begChr m:val="("/>
                        <m:endChr m:val=")"/>
                        <m:sepChr m:val=""/>
                        <m:grow/>
                      </m:dPr>
                      <m:e>
                        <m:r>
                          <a:rPr lang="en-US" sz="1600" i="0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x</m:t>
                        </m:r>
                      </m:e>
                    </m:d>
                    <m:d>
                      <m:dPr>
                        <m:begChr m:val="("/>
                        <m:endChr m:val=")"/>
                        <m:sepChr m:val=""/>
                        <m:grow/>
                      </m:dPr>
                      <m:e>
                        <m:r>
                          <m:rPr>
                            <m:sty m:val="p"/>
                          </m:rPr>
                          <a:rPr lang="en-US" sz="1600" i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sz="1600" i="0"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d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1600" i="0">
                        <a:latin typeface="Cambria Math" panose="02040503050406030204" pitchFamily="18" charset="0"/>
                      </a:rPr>
                      <m:t>9</m:t>
                    </m:r>
                  </m:oMath>
                </a14:m>
              </mc:Choice>
              <mc:Fallback>
                <a:r>
                  <a:rPr lang="zh-CN" altLang="en-US" sz="1600" dirty="0">
                    <a:latin typeface="Arial"/>
                    <a:ea typeface="Microsoft YaHei"/>
                  </a:rPr>
                  <a:t>(2x)^2 + 2(2x)(-3) + 9</a:t>
                </a:r>
              </mc:Fallback>
            </mc:AlternateContent>
            <a:endParaRPr lang="zh-CN" sz="1600"/>
          </a:p>
          <a:p>
            <a:r>
              <a:rPr lang="zh-CN" altLang="en-US" sz="1600" dirty="0">
                <a:latin typeface="Arial"/>
                <a:ea typeface="Microsoft YaHei"/>
              </a:rPr>
              <a:t>Watch for:</a:t>
            </a:r>
            <a:endParaRPr lang="zh-CN" sz="1600"/>
          </a:p>
          <a:p>
            <a:r>
              <a:rPr lang="zh-CN" altLang="en-US" sz="1600" dirty="0">
                <a:latin typeface="Arial"/>
                <a:ea typeface="Microsoft YaHei"/>
              </a:rPr>
              <a:t>Q2 答 </a:t>
            </a:r>
            <mc:AlternateContent xmlns:mc="http://schemas.openxmlformats.org/markup-compatibility/2006">
              <mc:Choice xmlns:a14="http://schemas.microsoft.com/office/drawing/2010/main" Requires="a14">
                <a14:m>
                  <m:oMath xmlns:m="http://schemas.openxmlformats.org/officeDocument/2006/math">
                    <m:f>
                      <m:fPr>
                        <m:type m:val="bar"/>
                      </m:fPr>
                      <m:num>
                        <m:r>
                          <m:rPr>
                            <m:sty m:val="p"/>
                          </m:rPr>
                          <a:rPr lang="en-US" sz="1600" i="0">
                            <a:latin typeface="Cambria Math" panose="02040503050406030204" pitchFamily="18" charset="0"/>
                          </a:rPr>
                          <m:t>log</m:t>
                        </m:r>
                        <m:r>
                          <a:rPr lang="en-US" sz="1600" i="0">
                            <a:latin typeface="Cambria Math" panose="02040503050406030204" pitchFamily="18" charset="0"/>
                          </a:rPr>
                          <m:t>12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US" sz="1600" i="0">
                            <a:latin typeface="Cambria Math" panose="02040503050406030204" pitchFamily="18" charset="0"/>
                          </a:rPr>
                          <m:t>log</m:t>
                        </m:r>
                        <m:r>
                          <a:rPr lang="en-US" sz="1600" i="0"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</mc:Choice>
              <mc:Fallback>
                <a:r>
                  <a:rPr lang="zh-CN" altLang="en-US" sz="1600" dirty="0">
                    <a:latin typeface="Arial"/>
                    <a:ea typeface="Microsoft YaHei"/>
                  </a:rPr>
                  <a:t>( 12)/( 3)</a:t>
                </a:r>
              </mc:Fallback>
            </mc:AlternateContent>
            <a:r>
              <a:rPr lang="zh-CN" altLang="en-US" sz="1600" dirty="0">
                <a:latin typeface="Arial"/>
                <a:ea typeface="Microsoft YaHei"/>
              </a:rPr>
              <a:t>：减法对应分数在 log 里面（L12）</a:t>
            </a:r>
            <a:endParaRPr lang="zh-CN" sz="1600"/>
          </a:p>
          <a:p>
            <a:r>
              <a:rPr lang="zh-CN" altLang="en-US" sz="1600" dirty="0">
                <a:latin typeface="Arial"/>
                <a:ea typeface="Microsoft YaHei"/>
              </a:rPr>
              <a:t>Q5 漏掉中间项：</a:t>
            </a:r>
            <mc:AlternateContent xmlns:mc="http://schemas.openxmlformats.org/markup-compatibility/2006">
              <mc:Choice xmlns:a14="http://schemas.microsoft.com/office/drawing/2010/main" Requires="a14">
                <a14:m>
                  <m:oMath xmlns:m="http://schemas.openxmlformats.org/officeDocument/2006/math">
                    <m:r>
                      <a:rPr lang="en-US" sz="1600" i="0">
                        <a:latin typeface="Cambria Math" panose="02040503050406030204" pitchFamily="18" charset="0"/>
                      </a:rPr>
                      <m:t>4</m:t>
                    </m:r>
                    <m:sSup>
                      <m:e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x</m:t>
                        </m:r>
                      </m:e>
                      <m:sup>
                        <m:r>
                          <a:rPr lang="en-US" sz="1600" i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1600" i="0">
                        <a:latin typeface="Cambria Math" panose="02040503050406030204" pitchFamily="18" charset="0"/>
                      </a:rPr>
                      <m:t>9</m:t>
                    </m:r>
                  </m:oMath>
                </a14:m>
              </mc:Choice>
              <mc:Fallback>
                <a:r>
                  <a:rPr lang="zh-CN" altLang="en-US" sz="1600" dirty="0">
                    <a:latin typeface="Arial"/>
                    <a:ea typeface="Microsoft YaHei"/>
                  </a:rPr>
                  <a:t>4x^2 + 9</a:t>
                </a:r>
              </mc:Fallback>
            </mc:AlternateContent>
            <a:endParaRPr lang="zh-CN" sz="1600"/>
          </a:p>
          <a:p>
            <a:r>
              <a:rPr lang="zh-CN" altLang="en-US" sz="1600" dirty="0">
                <a:latin typeface="Arial"/>
                <a:ea typeface="Microsoft YaHei"/>
              </a:rPr>
              <a:t>Diagnostic:</a:t>
            </a:r>
            <a:endParaRPr lang="zh-CN" sz="1600"/>
          </a:p>
          <a:p>
            <a:r>
              <a:rPr lang="zh-CN" altLang="en-US" sz="1600" dirty="0">
                <a:latin typeface="Arial"/>
                <a:ea typeface="Microsoft YaHei"/>
              </a:rPr>
              <a:t>Q1–Q3 错：Lesson 2 没稳，作业 2 的错题下节课再看一次</a:t>
            </a:r>
            <a:endParaRPr lang="zh-CN" sz="1600"/>
          </a:p>
          <a:p>
            <a:r>
              <a:rPr lang="zh-CN" altLang="en-US" sz="1600" dirty="0">
                <a:latin typeface="Arial"/>
                <a:ea typeface="Microsoft YaHei"/>
              </a:rPr>
              <a:t>Q4、Q5 错：今天 Block 1 前的 Quick review 要做足</a:t>
            </a:r>
            <a:endParaRPr lang="zh-CN" sz="160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>
            <a:noAutofit/>
          </a:bodyPr>
          <a:lstStyle/>
          <a:p>
            <a:r>
              <a:rPr lang="zh-CN" altLang="en-US" sz="1600" dirty="0">
                <a:latin typeface="Arial"/>
                <a:ea typeface="Microsoft YaHei"/>
              </a:rPr>
              <a:t>Gap zero</a:t>
            </a:r>
            <a:endParaRPr lang="zh-CN" sz="1600"/>
          </a:p>
          <a:p>
            <a:r>
              <a:rPr lang="zh-CN" altLang="en-US" sz="1600" dirty="0">
                <a:latin typeface="Arial"/>
                <a:ea typeface="Microsoft YaHei"/>
              </a:rPr>
              <a:t>Q the first; in the second, </a:t>
            </a:r>
            <mc:AlternateContent xmlns:mc="http://schemas.openxmlformats.org/markup-compatibility/2006">
              <mc:Choice xmlns:a14="http://schemas.microsoft.com/office/drawing/2010/main" Requires="a14">
                <a14:m>
                  <m:oMath xmlns:m="http://schemas.openxmlformats.org/officeDocument/2006/math">
                    <m:r>
                      <a:rPr lang="en-US" sz="1600" i="1">
                        <a:latin typeface="Cambria Math" panose="02040503050406030204" pitchFamily="18" charset="0"/>
                      </a:rPr>
                      <m:t>x</m:t>
                    </m:r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sz="1600" i="0"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1600" i="0"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</mc:Choice>
              <mc:Fallback>
                <a:r>
                  <a:rPr lang="zh-CN" altLang="en-US" sz="1600" dirty="0">
                    <a:latin typeface="Arial"/>
                    <a:ea typeface="Microsoft YaHei"/>
                  </a:rPr>
                  <a:t>x - 3 = 6</a:t>
                </a:r>
              </mc:Fallback>
            </mc:AlternateContent>
            <a:r>
              <a:rPr lang="zh-CN" altLang="en-US" sz="1600" dirty="0">
                <a:latin typeface="Arial"/>
                <a:ea typeface="Microsoft YaHei"/>
              </a:rPr>
              <a:t> does not follow</a:t>
            </a:r>
            <a:endParaRPr lang="zh-CN" sz="1600"/>
          </a:p>
          <a:p>
            <a:r>
              <a:rPr lang="zh-CN" altLang="en-US" sz="1600" dirty="0">
                <a:latin typeface="Arial"/>
                <a:ea typeface="Microsoft YaHei"/>
              </a:rPr>
              <a:t>Short solution:</a:t>
            </a:r>
            <a:endParaRPr lang="zh-CN" sz="1600"/>
          </a:p>
          <a:p>
            <a:r>
              <a:rPr lang="zh-CN" altLang="en-US" sz="1600" dirty="0">
                <a:latin typeface="Arial"/>
                <a:ea typeface="Microsoft YaHei"/>
              </a:rPr>
              <a:t>Q 第二个先展开：</a:t>
            </a:r>
            <mc:AlternateContent xmlns:mc="http://schemas.openxmlformats.org/markup-compatibility/2006">
              <mc:Choice xmlns:a14="http://schemas.microsoft.com/office/drawing/2010/main" Requires="a14">
                <a14:m>
                  <m:oMath xmlns:m="http://schemas.openxmlformats.org/officeDocument/2006/math">
                    <m:sSup>
                      <m:e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x</m:t>
                        </m:r>
                      </m:e>
                      <m:sup>
                        <m:r>
                          <a:rPr lang="en-US" sz="1600" i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sz="1600" i="1">
                        <a:latin typeface="Cambria Math" panose="02040503050406030204" pitchFamily="18" charset="0"/>
                      </a:rPr>
                      <m:t>x</m:t>
                    </m:r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sz="1600" i="0">
                        <a:latin typeface="Cambria Math" panose="02040503050406030204" pitchFamily="18" charset="0"/>
                      </a:rPr>
                      <m:t>12</m:t>
                    </m:r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1600" i="0"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</mc:Choice>
              <mc:Fallback>
                <a:r>
                  <a:rPr lang="zh-CN" altLang="en-US" sz="1600" dirty="0">
                    <a:latin typeface="Arial"/>
                    <a:ea typeface="Microsoft YaHei"/>
                  </a:rPr>
                  <a:t>x^2 - x - 12 = 0</a:t>
                </a:r>
              </mc:Fallback>
            </mc:AlternateContent>
            <a:r>
              <a:rPr lang="zh-CN" altLang="en-US" sz="1600" dirty="0">
                <a:latin typeface="Arial"/>
                <a:ea typeface="Microsoft YaHei"/>
              </a:rPr>
              <a:t>，再分解：</a:t>
            </a:r>
            <mc:AlternateContent xmlns:mc="http://schemas.openxmlformats.org/markup-compatibility/2006">
              <mc:Choice xmlns:a14="http://schemas.microsoft.com/office/drawing/2010/main" Requires="a14">
                <a14:m>
                  <m:oMath xmlns:m="http://schemas.openxmlformats.org/officeDocument/2006/math">
                    <m:d>
                      <m:dPr>
                        <m:begChr m:val="("/>
                        <m:endChr m:val=")"/>
                        <m:sepChr m:val=""/>
                        <m:grow/>
                      </m:dPr>
                      <m:e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x</m:t>
                        </m:r>
                        <m:r>
                          <m:rPr>
                            <m:sty m:val="p"/>
                          </m:rPr>
                          <a:rPr lang="en-US" sz="1600" i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sz="1600" i="0">
                            <a:latin typeface="Cambria Math" panose="02040503050406030204" pitchFamily="18" charset="0"/>
                          </a:rPr>
                          <m:t>4</m:t>
                        </m:r>
                      </m:e>
                    </m:d>
                    <m:d>
                      <m:dPr>
                        <m:begChr m:val="("/>
                        <m:endChr m:val=")"/>
                        <m:sepChr m:val=""/>
                        <m:grow/>
                      </m:dPr>
                      <m:e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x</m:t>
                        </m:r>
                        <m:r>
                          <m:rPr>
                            <m:sty m:val="p"/>
                          </m:rPr>
                          <a:rPr lang="en-US" sz="1600" i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sz="1600" i="0"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d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1600" i="0"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</mc:Choice>
              <mc:Fallback>
                <a:r>
                  <a:rPr lang="zh-CN" altLang="en-US" sz="1600" dirty="0">
                    <a:latin typeface="Arial"/>
                    <a:ea typeface="Microsoft YaHei"/>
                  </a:rPr>
                  <a:t>(x-4)(x+3) = 0</a:t>
                </a:r>
              </mc:Fallback>
            </mc:AlternateContent>
            <a:endParaRPr lang="zh-CN" sz="1600"/>
          </a:p>
          <a:p>
            <a:r>
              <a:rPr lang="zh-CN" altLang="en-US" sz="1600" dirty="0">
                <a:latin typeface="Arial"/>
                <a:ea typeface="Microsoft YaHei"/>
              </a:rPr>
              <a:t>Watch for:</a:t>
            </a:r>
            <a:endParaRPr lang="zh-CN" sz="1600"/>
          </a:p>
          <a:p>
            <a:r>
              <a:rPr lang="zh-CN" altLang="en-US" sz="1600" dirty="0">
                <a:latin typeface="Arial"/>
                <a:ea typeface="Microsoft YaHei"/>
              </a:rPr>
              <a:t>学生写 </a:t>
            </a:r>
            <mc:AlternateContent xmlns:mc="http://schemas.openxmlformats.org/markup-compatibility/2006">
              <mc:Choice xmlns:a14="http://schemas.microsoft.com/office/drawing/2010/main" Requires="a14">
                <a14:m>
                  <m:oMath xmlns:m="http://schemas.openxmlformats.org/officeDocument/2006/math">
                    <m:r>
                      <a:rPr lang="en-US" sz="1600" i="1">
                        <a:latin typeface="Cambria Math" panose="02040503050406030204" pitchFamily="18" charset="0"/>
                      </a:rPr>
                      <m:t>x</m:t>
                    </m:r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sz="1600" i="0"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1600" i="0"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</mc:Choice>
              <mc:Fallback>
                <a:r>
                  <a:rPr lang="zh-CN" altLang="en-US" sz="1600" dirty="0">
                    <a:latin typeface="Arial"/>
                    <a:ea typeface="Microsoft YaHei"/>
                  </a:rPr>
                  <a:t>x - 3 = 6</a:t>
                </a:r>
              </mc:Fallback>
            </mc:AlternateContent>
            <a:r>
              <a:rPr lang="zh-CN" altLang="en-US" sz="1600" dirty="0">
                <a:latin typeface="Arial"/>
                <a:ea typeface="Microsoft YaHei"/>
              </a:rPr>
              <a:t>：乘积等于 6 时每个括号可以是任何数（L19）</a:t>
            </a:r>
            <a:endParaRPr lang="zh-CN" sz="1600"/>
          </a:p>
          <a:p>
            <a:r>
              <a:rPr lang="zh-CN" altLang="en-US" sz="1600" dirty="0">
                <a:latin typeface="Arial"/>
                <a:ea typeface="Microsoft YaHei"/>
              </a:rPr>
              <a:t>Ask:</a:t>
            </a:r>
            <a:endParaRPr lang="zh-CN" sz="1600"/>
          </a:p>
          <a:p>
            <mc:AlternateContent xmlns:mc="http://schemas.openxmlformats.org/markup-compatibility/2006">
              <mc:Choice xmlns:a14="http://schemas.microsoft.com/office/drawing/2010/main" Requires="a14">
                <a14:m>
                  <m:oMath xmlns:m="http://schemas.openxmlformats.org/officeDocument/2006/math">
                    <m:r>
                      <a:rPr lang="en-US" sz="1600" i="0"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</a:rPr>
                      <m:t>×</m:t>
                    </m:r>
                    <m:r>
                      <a:rPr lang="en-US" sz="1600" i="0"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1600" i="0"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</mc:Choice>
              <mc:Fallback>
                <a:r>
                  <a:rPr lang="zh-CN" altLang="en-US" sz="1600" dirty="0">
                    <a:latin typeface="Arial"/>
                    <a:ea typeface="Microsoft YaHei"/>
                  </a:rPr>
                  <a:t>2 × 3 = 6</a:t>
                </a:r>
              </mc:Fallback>
            </mc:AlternateContent>
            <a:r>
              <a:rPr lang="zh-CN" altLang="en-US" sz="1600" dirty="0">
                <a:latin typeface="Arial"/>
                <a:ea typeface="Microsoft YaHei"/>
              </a:rPr>
              <a:t>，</a:t>
            </a:r>
            <mc:AlternateContent xmlns:mc="http://schemas.openxmlformats.org/markup-compatibility/2006">
              <mc:Choice xmlns:a14="http://schemas.microsoft.com/office/drawing/2010/main" Requires="a14">
                <a14:m>
                  <m:oMath xmlns:m="http://schemas.openxmlformats.org/officeDocument/2006/math">
                    <m:r>
                      <a:rPr lang="en-US" sz="1600" i="0"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</a:rPr>
                      <m:t>×</m:t>
                    </m:r>
                    <m:r>
                      <a:rPr lang="en-US" sz="1600" i="0"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1600" i="0"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</mc:Choice>
              <mc:Fallback>
                <a:r>
                  <a:rPr lang="zh-CN" altLang="en-US" sz="1600" dirty="0">
                    <a:latin typeface="Arial"/>
                    <a:ea typeface="Microsoft YaHei"/>
                  </a:rPr>
                  <a:t>1 × 6 = 6</a:t>
                </a:r>
              </mc:Fallback>
            </mc:AlternateContent>
            <a:r>
              <a:rPr lang="zh-CN" altLang="en-US" sz="1600" dirty="0">
                <a:latin typeface="Arial"/>
                <a:ea typeface="Microsoft YaHei"/>
              </a:rPr>
              <a:t>：哪个括号等于 6？（不一定）</a:t>
            </a:r>
            <a:endParaRPr lang="zh-CN" sz="160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>
            <a:noAutofit/>
          </a:bodyPr>
          <a:lstStyle/>
          <a:p>
            <a:r>
              <a:rPr lang="zh-CN" altLang="en-US" sz="1600" dirty="0">
                <a:latin typeface="Arial"/>
                <a:ea typeface="Microsoft YaHei"/>
              </a:rPr>
              <a:t>Q1 </a:t>
            </a:r>
            <mc:AlternateContent xmlns:mc="http://schemas.openxmlformats.org/markup-compatibility/2006">
              <mc:Choice xmlns:a14="http://schemas.microsoft.com/office/drawing/2010/main" Requires="a14">
                <a14:m>
                  <m:oMath xmlns:m="http://schemas.openxmlformats.org/officeDocument/2006/math">
                    <m:d>
                      <m:dPr>
                        <m:begChr m:val="("/>
                        <m:endChr m:val=")"/>
                        <m:sepChr m:val=""/>
                        <m:grow/>
                      </m:dPr>
                      <m:e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x</m:t>
                        </m:r>
                        <m:r>
                          <m:rPr>
                            <m:sty m:val="p"/>
                          </m:rPr>
                          <a:rPr lang="en-US" sz="1600" i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sz="1600" i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d>
                    <m:d>
                      <m:dPr>
                        <m:begChr m:val="("/>
                        <m:endChr m:val=")"/>
                        <m:sepChr m:val=""/>
                        <m:grow/>
                      </m:dPr>
                      <m:e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x</m:t>
                        </m:r>
                        <m:r>
                          <m:rPr>
                            <m:sty m:val="p"/>
                          </m:rPr>
                          <a:rPr lang="en-US" sz="1600" i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sz="1600" i="0"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d>
                  </m:oMath>
                </a14:m>
              </mc:Choice>
              <mc:Fallback>
                <a:r>
                  <a:rPr lang="zh-CN" altLang="en-US" sz="1600" dirty="0">
                    <a:latin typeface="Arial"/>
                    <a:ea typeface="Microsoft YaHei"/>
                  </a:rPr>
                  <a:t>(x+2)(x+3)</a:t>
                </a:r>
              </mc:Fallback>
            </mc:AlternateContent>
            <a:endParaRPr lang="zh-CN" sz="1600"/>
          </a:p>
          <a:p>
            <a:r>
              <a:rPr lang="zh-CN" altLang="en-US" sz="1600" dirty="0">
                <a:latin typeface="Arial"/>
                <a:ea typeface="Microsoft YaHei"/>
              </a:rPr>
              <a:t>Q2 </a:t>
            </a:r>
            <mc:AlternateContent xmlns:mc="http://schemas.openxmlformats.org/markup-compatibility/2006">
              <mc:Choice xmlns:a14="http://schemas.microsoft.com/office/drawing/2010/main" Requires="a14">
                <a14:m>
                  <m:oMath xmlns:m="http://schemas.openxmlformats.org/officeDocument/2006/math">
                    <m:d>
                      <m:dPr>
                        <m:begChr m:val="("/>
                        <m:endChr m:val=")"/>
                        <m:sepChr m:val=""/>
                        <m:grow/>
                      </m:dPr>
                      <m:e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x</m:t>
                        </m:r>
                        <m:r>
                          <m:rPr>
                            <m:sty m:val="p"/>
                          </m:rPr>
                          <a:rPr lang="en-US" sz="1600" i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sz="1600" i="0"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d>
                    <m:d>
                      <m:dPr>
                        <m:begChr m:val="("/>
                        <m:endChr m:val=")"/>
                        <m:sepChr m:val=""/>
                        <m:grow/>
                      </m:dPr>
                      <m:e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x</m:t>
                        </m:r>
                        <m:r>
                          <m:rPr>
                            <m:sty m:val="p"/>
                          </m:rPr>
                          <a:rPr lang="en-US" sz="1600" i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sz="1600" i="0"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d>
                  </m:oMath>
                </a14:m>
              </mc:Choice>
              <mc:Fallback>
                <a:r>
                  <a:rPr lang="zh-CN" altLang="en-US" sz="1600" dirty="0">
                    <a:latin typeface="Arial"/>
                    <a:ea typeface="Microsoft YaHei"/>
                  </a:rPr>
                  <a:t>(x-3)(x+3)</a:t>
                </a:r>
              </mc:Fallback>
            </mc:AlternateContent>
            <a:endParaRPr lang="zh-CN" sz="1600"/>
          </a:p>
          <a:p>
            <a:r>
              <a:rPr lang="zh-CN" altLang="en-US" sz="1600" dirty="0">
                <a:latin typeface="Arial"/>
                <a:ea typeface="Microsoft YaHei"/>
              </a:rPr>
              <a:t>Q3 </a:t>
            </a:r>
            <mc:AlternateContent xmlns:mc="http://schemas.openxmlformats.org/markup-compatibility/2006">
              <mc:Choice xmlns:a14="http://schemas.microsoft.com/office/drawing/2010/main" Requires="a14">
                <a14:m>
                  <m:oMath xmlns:m="http://schemas.openxmlformats.org/officeDocument/2006/math">
                    <m:d>
                      <m:dPr>
                        <m:begChr m:val="("/>
                        <m:endChr m:val=")"/>
                        <m:sepChr m:val=""/>
                        <m:grow/>
                      </m:dPr>
                      <m:e>
                        <m:r>
                          <a:rPr lang="en-US" sz="1600" i="0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x</m:t>
                        </m:r>
                        <m:r>
                          <m:rPr>
                            <m:sty m:val="p"/>
                          </m:rPr>
                          <a:rPr lang="en-US" sz="1600" i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sz="1600" i="0"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  <m:d>
                      <m:dPr>
                        <m:begChr m:val="("/>
                        <m:endChr m:val=")"/>
                        <m:sepChr m:val=""/>
                        <m:grow/>
                      </m:dPr>
                      <m:e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x</m:t>
                        </m:r>
                        <m:r>
                          <m:rPr>
                            <m:sty m:val="p"/>
                          </m:rPr>
                          <a:rPr lang="en-US" sz="1600" i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sz="1600" i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d>
                  </m:oMath>
                </a14:m>
              </mc:Choice>
              <mc:Fallback>
                <a:r>
                  <a:rPr lang="zh-CN" altLang="en-US" sz="1600" dirty="0">
                    <a:latin typeface="Arial"/>
                    <a:ea typeface="Microsoft YaHei"/>
                  </a:rPr>
                  <a:t>(2x+1)(x+2)</a:t>
                </a:r>
              </mc:Fallback>
            </mc:AlternateContent>
            <a:endParaRPr lang="zh-CN" sz="1600"/>
          </a:p>
          <a:p>
            <a:r>
              <a:rPr lang="zh-CN" altLang="en-US" sz="1600" dirty="0">
                <a:latin typeface="Arial"/>
                <a:ea typeface="Microsoft YaHei"/>
              </a:rPr>
              <a:t>Q4 </a:t>
            </a:r>
            <mc:AlternateContent xmlns:mc="http://schemas.openxmlformats.org/markup-compatibility/2006">
              <mc:Choice xmlns:a14="http://schemas.microsoft.com/office/drawing/2010/main" Requires="a14">
                <a14:m>
                  <m:oMath xmlns:m="http://schemas.openxmlformats.org/officeDocument/2006/math">
                    <m:r>
                      <a:rPr lang="en-US" sz="1600" i="0">
                        <a:latin typeface="Cambria Math" panose="02040503050406030204" pitchFamily="18" charset="0"/>
                      </a:rPr>
                      <m:t>3</m:t>
                    </m:r>
                    <m:r>
                      <a:rPr lang="en-US" sz="1600" i="1">
                        <a:latin typeface="Cambria Math" panose="02040503050406030204" pitchFamily="18" charset="0"/>
                      </a:rPr>
                      <m:t>x</m:t>
                    </m:r>
                    <m:d>
                      <m:dPr>
                        <m:begChr m:val="("/>
                        <m:endChr m:val=")"/>
                        <m:sepChr m:val=""/>
                        <m:grow/>
                      </m:dPr>
                      <m:e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x</m:t>
                        </m:r>
                        <m:r>
                          <m:rPr>
                            <m:sty m:val="p"/>
                          </m:rPr>
                          <a:rPr lang="en-US" sz="1600" i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sz="1600" i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d>
                  </m:oMath>
                </a14:m>
              </mc:Choice>
              <mc:Fallback>
                <a:r>
                  <a:rPr lang="zh-CN" altLang="en-US" sz="1600" dirty="0">
                    <a:latin typeface="Arial"/>
                    <a:ea typeface="Microsoft YaHei"/>
                  </a:rPr>
                  <a:t>3x(x-2)</a:t>
                </a:r>
              </mc:Fallback>
            </mc:AlternateContent>
            <a:endParaRPr lang="zh-CN" sz="1600"/>
          </a:p>
          <a:p>
            <a:r>
              <a:rPr lang="zh-CN" altLang="en-US" sz="1600" dirty="0">
                <a:latin typeface="Arial"/>
                <a:ea typeface="Microsoft YaHei"/>
              </a:rPr>
              <a:t>Short solution:</a:t>
            </a:r>
            <a:endParaRPr lang="zh-CN" sz="1600"/>
          </a:p>
          <a:p>
            <a:r>
              <a:rPr lang="zh-CN" altLang="en-US" sz="1600" dirty="0">
                <a:latin typeface="Arial"/>
                <a:ea typeface="Microsoft YaHei"/>
              </a:rPr>
              <a:t>Q3 </a:t>
            </a:r>
            <mc:AlternateContent xmlns:mc="http://schemas.openxmlformats.org/markup-compatibility/2006">
              <mc:Choice xmlns:a14="http://schemas.microsoft.com/office/drawing/2010/main" Requires="a14">
                <a14:m>
                  <m:oMath xmlns:m="http://schemas.openxmlformats.org/officeDocument/2006/math">
                    <m:r>
                      <a:rPr lang="en-US" sz="1600" i="1">
                        <a:latin typeface="Cambria Math" panose="02040503050406030204" pitchFamily="18" charset="0"/>
                      </a:rPr>
                      <m:t>a</m:t>
                    </m:r>
                    <m:r>
                      <a:rPr lang="en-US" sz="1600" i="1">
                        <a:latin typeface="Cambria Math" panose="02040503050406030204" pitchFamily="18" charset="0"/>
                      </a:rPr>
                      <m:t>c</m:t>
                    </m:r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1600" i="0"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</mc:Choice>
              <mc:Fallback>
                <a:r>
                  <a:rPr lang="zh-CN" altLang="en-US" sz="1600" dirty="0">
                    <a:latin typeface="Arial"/>
                    <a:ea typeface="Microsoft YaHei"/>
                  </a:rPr>
                  <a:t>ac = 4</a:t>
                </a:r>
              </mc:Fallback>
            </mc:AlternateContent>
            <a:r>
              <a:rPr lang="zh-CN" altLang="en-US" sz="1600" dirty="0">
                <a:latin typeface="Arial"/>
                <a:ea typeface="Microsoft YaHei"/>
              </a:rPr>
              <a:t>：4 和 1</a:t>
            </a:r>
            <a:endParaRPr lang="zh-CN" sz="1600"/>
          </a:p>
          <a:p>
            <a:r>
              <a:rPr lang="zh-CN" altLang="en-US" sz="1600" dirty="0">
                <a:latin typeface="Arial"/>
                <a:ea typeface="Microsoft YaHei"/>
              </a:rPr>
              <a:t>Watch for:</a:t>
            </a:r>
            <a:endParaRPr lang="zh-CN" sz="1600"/>
          </a:p>
          <a:p>
            <a:r>
              <a:rPr lang="zh-CN" altLang="en-US" sz="1600" dirty="0">
                <a:latin typeface="Arial"/>
                <a:ea typeface="Microsoft YaHei"/>
              </a:rPr>
              <a:t>Q4 写 </a:t>
            </a:r>
            <mc:AlternateContent xmlns:mc="http://schemas.openxmlformats.org/markup-compatibility/2006">
              <mc:Choice xmlns:a14="http://schemas.microsoft.com/office/drawing/2010/main" Requires="a14">
                <a14:m>
                  <m:oMath xmlns:m="http://schemas.openxmlformats.org/officeDocument/2006/math">
                    <m:r>
                      <a:rPr lang="en-US" sz="1600" i="0">
                        <a:latin typeface="Cambria Math" panose="02040503050406030204" pitchFamily="18" charset="0"/>
                      </a:rPr>
                      <m:t>3</m:t>
                    </m:r>
                    <m:d>
                      <m:dPr>
                        <m:begChr m:val="("/>
                        <m:endChr m:val=")"/>
                        <m:sepChr m:val=""/>
                        <m:grow/>
                      </m:dPr>
                      <m:e>
                        <m:sSup>
                          <m:e>
                            <m:r>
                              <a:rPr lang="en-US" sz="1600" i="1">
                                <a:latin typeface="Cambria Math" panose="02040503050406030204" pitchFamily="18" charset="0"/>
                              </a:rPr>
                              <m:t>x</m:t>
                            </m:r>
                          </m:e>
                          <m:sup>
                            <m:r>
                              <a:rPr lang="en-US" sz="1600" i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US" sz="1600" i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sz="1600" i="0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x</m:t>
                        </m:r>
                      </m:e>
                    </m:d>
                  </m:oMath>
                </a14:m>
              </mc:Choice>
              <mc:Fallback>
                <a:r>
                  <a:rPr lang="zh-CN" altLang="en-US" sz="1600" dirty="0">
                    <a:latin typeface="Arial"/>
                    <a:ea typeface="Microsoft YaHei"/>
                  </a:rPr>
                  <a:t>3(x^2 - 2x)</a:t>
                </a:r>
              </mc:Fallback>
            </mc:AlternateContent>
            <a:r>
              <a:rPr lang="zh-CN" altLang="en-US" sz="1600" dirty="0">
                <a:latin typeface="Arial"/>
                <a:ea typeface="Microsoft YaHei"/>
              </a:rPr>
              <a:t>：没有提完公因式（L4）</a:t>
            </a:r>
            <a:endParaRPr lang="zh-CN" sz="160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>
            <a:noAutofit/>
          </a:bodyPr>
          <a:lstStyle/>
          <a:p>
            <a:r>
              <a:rPr lang="zh-CN" altLang="en-US" sz="1600" dirty="0">
                <a:latin typeface="Arial"/>
                <a:ea typeface="Microsoft YaHei"/>
              </a:rPr>
              <a:t>Gap 3; </a:t>
            </a:r>
            <mc:AlternateContent xmlns:mc="http://schemas.openxmlformats.org/markup-compatibility/2006">
              <mc:Choice xmlns:a14="http://schemas.microsoft.com/office/drawing/2010/main"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</m:fPr>
                      <m:num>
                        <m:r>
                          <a:rPr lang="en-US" sz="1600" i="0">
                            <a:latin typeface="Cambria Math" panose="02040503050406030204" pitchFamily="18" charset="0"/>
                          </a:rPr>
                          <m:t>5</m:t>
                        </m:r>
                      </m:num>
                      <m:den>
                        <m:r>
                          <a:rPr lang="en-US" sz="1600" i="0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</mc:Choice>
              <mc:Fallback>
                <a:r>
                  <a:rPr lang="zh-CN" altLang="en-US" sz="1600" dirty="0">
                    <a:latin typeface="Arial"/>
                    <a:ea typeface="Microsoft YaHei"/>
                  </a:rPr>
                  <a:t>-(5)/(2)</a:t>
                </a:r>
              </mc:Fallback>
            </mc:AlternateContent>
            <a:endParaRPr lang="zh-CN" sz="1600"/>
          </a:p>
          <a:p>
            <a:r>
              <a:rPr lang="zh-CN" altLang="en-US" sz="1600" dirty="0">
                <a:latin typeface="Arial"/>
                <a:ea typeface="Microsoft YaHei"/>
              </a:rPr>
              <a:t>Q </a:t>
            </a:r>
            <mc:AlternateContent xmlns:mc="http://schemas.openxmlformats.org/markup-compatibility/2006">
              <mc:Choice xmlns:a14="http://schemas.microsoft.com/office/drawing/2010/main" Requires="a14">
                <a14:m>
                  <m:oMath xmlns:m="http://schemas.openxmlformats.org/officeDocument/2006/math">
                    <m:r>
                      <a:rPr lang="en-US" sz="1600" i="0">
                        <a:latin typeface="Cambria Math" panose="02040503050406030204" pitchFamily="18" charset="0"/>
                      </a:rPr>
                      <m:t>2</m:t>
                    </m:r>
                    <m:r>
                      <a:rPr lang="en-US" sz="1600" i="1">
                        <a:latin typeface="Cambria Math" panose="02040503050406030204" pitchFamily="18" charset="0"/>
                      </a:rPr>
                      <m:t>x</m:t>
                    </m:r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1600" i="0"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1600" i="0"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</mc:Choice>
              <mc:Fallback>
                <a:r>
                  <a:rPr lang="zh-CN" altLang="en-US" sz="1600" dirty="0">
                    <a:latin typeface="Arial"/>
                    <a:ea typeface="Microsoft YaHei"/>
                  </a:rPr>
                  <a:t>2x + 5 = 0</a:t>
                </a:r>
              </mc:Fallback>
            </mc:AlternateContent>
            <a:r>
              <a:rPr lang="zh-CN" altLang="en-US" sz="1600" dirty="0">
                <a:latin typeface="Arial"/>
                <a:ea typeface="Microsoft YaHei"/>
              </a:rPr>
              <a:t> gives </a:t>
            </a:r>
            <mc:AlternateContent xmlns:mc="http://schemas.openxmlformats.org/markup-compatibility/2006">
              <mc:Choice xmlns:a14="http://schemas.microsoft.com/office/drawing/2010/main" Requires="a14">
                <a14:m>
                  <m:oMath xmlns:m="http://schemas.openxmlformats.org/officeDocument/2006/math">
                    <m:r>
                      <a:rPr lang="en-US" sz="1600" i="0">
                        <a:latin typeface="Cambria Math" panose="02040503050406030204" pitchFamily="18" charset="0"/>
                      </a:rPr>
                      <m:t>2</m:t>
                    </m:r>
                    <m:r>
                      <a:rPr lang="en-US" sz="1600" i="1">
                        <a:latin typeface="Cambria Math" panose="02040503050406030204" pitchFamily="18" charset="0"/>
                      </a:rPr>
                      <m:t>x</m:t>
                    </m:r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sz="1600" i="0"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</mc:Choice>
              <mc:Fallback>
                <a:r>
                  <a:rPr lang="zh-CN" altLang="en-US" sz="1600" dirty="0">
                    <a:latin typeface="Arial"/>
                    <a:ea typeface="Microsoft YaHei"/>
                  </a:rPr>
                  <a:t>2x = -5</a:t>
                </a:r>
              </mc:Fallback>
            </mc:AlternateContent>
            <a:endParaRPr lang="zh-CN" sz="1600"/>
          </a:p>
          <a:p>
            <a:r>
              <a:rPr lang="zh-CN" altLang="en-US" sz="1600" dirty="0">
                <a:latin typeface="Arial"/>
                <a:ea typeface="Microsoft YaHei"/>
              </a:rPr>
              <a:t>Short solution:</a:t>
            </a:r>
            <a:endParaRPr lang="zh-CN" sz="1600"/>
          </a:p>
          <a:p>
            <a:r>
              <a:rPr lang="zh-CN" altLang="en-US" sz="1600" dirty="0">
                <a:latin typeface="Arial"/>
                <a:ea typeface="Microsoft YaHei"/>
              </a:rPr>
              <a:t>Q 每个括号单独解：移项再除以系数</a:t>
            </a:r>
            <a:endParaRPr lang="zh-CN" sz="1600"/>
          </a:p>
          <a:p>
            <a:r>
              <a:rPr lang="zh-CN" altLang="en-US" sz="1600" dirty="0">
                <a:latin typeface="Arial"/>
                <a:ea typeface="Microsoft YaHei"/>
              </a:rPr>
              <a:t>Watch for:</a:t>
            </a:r>
            <a:endParaRPr lang="zh-CN" sz="1600"/>
          </a:p>
          <a:p>
            <a:r>
              <a:rPr lang="zh-CN" altLang="en-US" sz="1600" dirty="0">
                <a:latin typeface="Arial"/>
                <a:ea typeface="Microsoft YaHei"/>
              </a:rPr>
              <a:t>答 </a:t>
            </a:r>
            <mc:AlternateContent xmlns:mc="http://schemas.openxmlformats.org/markup-compatibility/2006">
              <mc:Choice xmlns:a14="http://schemas.microsoft.com/office/drawing/2010/main" Requires="a14">
                <a14:m>
                  <m:oMath xmlns:m="http://schemas.openxmlformats.org/officeDocument/2006/math">
                    <m:r>
                      <a:rPr lang="en-US" sz="1600" i="1">
                        <a:latin typeface="Cambria Math" panose="02040503050406030204" pitchFamily="18" charset="0"/>
                      </a:rPr>
                      <m:t>x</m:t>
                    </m:r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sz="1600" i="0"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</mc:Choice>
              <mc:Fallback>
                <a:r>
                  <a:rPr lang="zh-CN" altLang="en-US" sz="1600" dirty="0">
                    <a:latin typeface="Arial"/>
                    <a:ea typeface="Microsoft YaHei"/>
                  </a:rPr>
                  <a:t>x = -5</a:t>
                </a:r>
              </mc:Fallback>
            </mc:AlternateContent>
            <a:r>
              <a:rPr lang="zh-CN" altLang="en-US" sz="1600" dirty="0">
                <a:latin typeface="Arial"/>
                <a:ea typeface="Microsoft YaHei"/>
              </a:rPr>
              <a:t>：忘了除以 2</a:t>
            </a:r>
            <a:endParaRPr lang="zh-CN" sz="160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>
            <a:noAutofit/>
          </a:bodyPr>
          <a:lstStyle/>
          <a:p>
            <a:r>
              <a:rPr lang="zh-CN" altLang="en-US" sz="1600" dirty="0">
                <a:latin typeface="Arial"/>
                <a:ea typeface="Microsoft YaHei"/>
              </a:rPr>
              <a:t>Gap </a:t>
            </a:r>
            <mc:AlternateContent xmlns:mc="http://schemas.openxmlformats.org/markup-compatibility/2006">
              <mc:Choice xmlns:a14="http://schemas.microsoft.com/office/drawing/2010/main"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sz="1600" i="0"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</mc:Choice>
              <mc:Fallback>
                <a:r>
                  <a:rPr lang="zh-CN" altLang="en-US" sz="1600" dirty="0">
                    <a:latin typeface="Arial"/>
                    <a:ea typeface="Microsoft YaHei"/>
                  </a:rPr>
                  <a:t>-5</a:t>
                </a:r>
              </mc:Fallback>
            </mc:AlternateContent>
            <a:r>
              <a:rPr lang="zh-CN" altLang="en-US" sz="1600" dirty="0">
                <a:latin typeface="Arial"/>
                <a:ea typeface="Microsoft YaHei"/>
              </a:rPr>
              <a:t>; 3</a:t>
            </a:r>
            <a:endParaRPr lang="zh-CN" sz="1600"/>
          </a:p>
          <a:p>
            <a:r>
              <a:rPr lang="zh-CN" altLang="en-US" sz="1600" dirty="0">
                <a:latin typeface="Arial"/>
                <a:ea typeface="Microsoft YaHei"/>
              </a:rPr>
              <a:t>Q rearranging to </a:t>
            </a:r>
            <mc:AlternateContent xmlns:mc="http://schemas.openxmlformats.org/markup-compatibility/2006">
              <mc:Choice xmlns:a14="http://schemas.microsoft.com/office/drawing/2010/main"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1600" i="0"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</mc:Choice>
              <mc:Fallback>
                <a:r>
                  <a:rPr lang="zh-CN" altLang="en-US" sz="1600" dirty="0">
                    <a:latin typeface="Arial"/>
                    <a:ea typeface="Microsoft YaHei"/>
                  </a:rPr>
                  <a:t>= 0</a:t>
                </a:r>
              </mc:Fallback>
            </mc:AlternateContent>
            <a:r>
              <a:rPr lang="zh-CN" altLang="en-US" sz="1600" dirty="0">
                <a:latin typeface="Arial"/>
                <a:ea typeface="Microsoft YaHei"/>
              </a:rPr>
              <a:t> before setting brackets to zero</a:t>
            </a:r>
            <a:endParaRPr lang="zh-CN" sz="1600"/>
          </a:p>
          <a:p>
            <a:r>
              <a:rPr lang="zh-CN" altLang="en-US" sz="1600" dirty="0">
                <a:latin typeface="Arial"/>
                <a:ea typeface="Microsoft YaHei"/>
              </a:rPr>
              <a:t>Short solution:</a:t>
            </a:r>
            <a:endParaRPr lang="zh-CN" sz="1600"/>
          </a:p>
          <a:p>
            <a:r>
              <a:rPr lang="zh-CN" altLang="en-US" sz="1600" dirty="0">
                <a:latin typeface="Arial"/>
                <a:ea typeface="Microsoft YaHei"/>
              </a:rPr>
              <a:t>Q 展开，移项成 </a:t>
            </a:r>
            <mc:AlternateContent xmlns:mc="http://schemas.openxmlformats.org/markup-compatibility/2006">
              <mc:Choice xmlns:a14="http://schemas.microsoft.com/office/drawing/2010/main"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1600" i="0"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</mc:Choice>
              <mc:Fallback>
                <a:r>
                  <a:rPr lang="zh-CN" altLang="en-US" sz="1600" dirty="0">
                    <a:latin typeface="Arial"/>
                    <a:ea typeface="Microsoft YaHei"/>
                  </a:rPr>
                  <a:t>= 0</a:t>
                </a:r>
              </mc:Fallback>
            </mc:AlternateContent>
            <a:r>
              <a:rPr lang="zh-CN" altLang="en-US" sz="1600" dirty="0">
                <a:latin typeface="Arial"/>
                <a:ea typeface="Microsoft YaHei"/>
              </a:rPr>
              <a:t>，再分解；检查 </a:t>
            </a:r>
            <mc:AlternateContent xmlns:mc="http://schemas.openxmlformats.org/markup-compatibility/2006">
              <mc:Choice xmlns:a14="http://schemas.microsoft.com/office/drawing/2010/main" Requires="a14">
                <a14:m>
                  <m:oMath xmlns:m="http://schemas.openxmlformats.org/officeDocument/2006/math">
                    <m:r>
                      <a:rPr lang="en-US" sz="1600" i="0"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</a:rPr>
                      <m:t>×</m:t>
                    </m:r>
                    <m:r>
                      <a:rPr lang="en-US" sz="1600" i="0"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1600" i="0">
                        <a:latin typeface="Cambria Math" panose="02040503050406030204" pitchFamily="18" charset="0"/>
                      </a:rPr>
                      <m:t>15</m:t>
                    </m:r>
                  </m:oMath>
                </a14:m>
              </mc:Choice>
              <mc:Fallback>
                <a:r>
                  <a:rPr lang="zh-CN" altLang="en-US" sz="1600" dirty="0">
                    <a:latin typeface="Arial"/>
                    <a:ea typeface="Microsoft YaHei"/>
                  </a:rPr>
                  <a:t>3 × 5 = 15</a:t>
                </a:r>
              </mc:Fallback>
            </mc:AlternateContent>
            <a:endParaRPr lang="zh-CN" sz="1600"/>
          </a:p>
          <a:p>
            <a:r>
              <a:rPr lang="zh-CN" altLang="en-US" sz="1600" dirty="0">
                <a:latin typeface="Arial"/>
                <a:ea typeface="Microsoft YaHei"/>
              </a:rPr>
              <a:t>Watch for:</a:t>
            </a:r>
            <a:endParaRPr lang="zh-CN" sz="1600"/>
          </a:p>
          <a:p>
            <a:r>
              <a:rPr lang="zh-CN" altLang="en-US" sz="1600" dirty="0">
                <a:latin typeface="Arial"/>
                <a:ea typeface="Microsoft YaHei"/>
              </a:rPr>
              <a:t>L19</a:t>
            </a:r>
            <a:endParaRPr lang="zh-CN" sz="1600"/>
          </a:p>
          <a:p>
            <a:r>
              <a:rPr lang="zh-CN" altLang="en-US" sz="1600" dirty="0">
                <a:latin typeface="Arial"/>
                <a:ea typeface="Microsoft YaHei"/>
              </a:rPr>
              <a:t>Say it:</a:t>
            </a:r>
            <a:endParaRPr lang="zh-CN" sz="1600"/>
          </a:p>
          <a:p>
            <a:r>
              <a:rPr lang="zh-CN" altLang="en-US" sz="1600" dirty="0">
                <a:latin typeface="Arial"/>
                <a:ea typeface="Microsoft YaHei"/>
              </a:rPr>
              <a:t>rearrange = ree-uh-RAYNJ</a:t>
            </a:r>
            <a:endParaRPr lang="zh-CN" sz="160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>
            <a:noAutofit/>
          </a:bodyPr>
          <a:lstStyle/>
          <a:p>
            <a:r>
              <a:rPr lang="zh-CN" altLang="en-US" sz="1600" dirty="0">
                <a:latin typeface="Arial"/>
                <a:ea typeface="Microsoft YaHei"/>
              </a:rPr>
              <a:t>Gap </a:t>
            </a:r>
            <mc:AlternateContent xmlns:mc="http://schemas.openxmlformats.org/markup-compatibility/2006">
              <mc:Choice xmlns:a14="http://schemas.microsoft.com/office/drawing/2010/main"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sz="1600" i="0"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</mc:Choice>
              <mc:Fallback>
                <a:r>
                  <a:rPr lang="zh-CN" altLang="en-US" sz="1600" dirty="0">
                    <a:latin typeface="Arial"/>
                    <a:ea typeface="Microsoft YaHei"/>
                  </a:rPr>
                  <a:t>-5</a:t>
                </a:r>
              </mc:Fallback>
            </mc:AlternateContent>
            <a:endParaRPr lang="zh-CN" sz="1600"/>
          </a:p>
          <a:p>
            <a:r>
              <a:rPr lang="zh-CN" altLang="en-US" sz="1600" dirty="0">
                <a:latin typeface="Arial"/>
                <a:ea typeface="Microsoft YaHei"/>
              </a:rPr>
              <a:t>Q </a:t>
            </a:r>
            <mc:AlternateContent xmlns:mc="http://schemas.openxmlformats.org/markup-compatibility/2006">
              <mc:Choice xmlns:a14="http://schemas.microsoft.com/office/drawing/2010/main"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1600" i="0"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</mc:Choice>
              <mc:Fallback>
                <a:r>
                  <a:rPr lang="zh-CN" altLang="en-US" sz="1600" dirty="0">
                    <a:latin typeface="Arial"/>
                    <a:ea typeface="Microsoft YaHei"/>
                  </a:rPr>
                  <a:t>+5</a:t>
                </a:r>
              </mc:Fallback>
            </mc:AlternateContent>
            <a:r>
              <a:rPr lang="zh-CN" altLang="en-US" sz="1600" dirty="0">
                <a:latin typeface="Arial"/>
                <a:ea typeface="Microsoft YaHei"/>
              </a:rPr>
              <a:t>; </a:t>
            </a:r>
            <mc:AlternateContent xmlns:mc="http://schemas.openxmlformats.org/markup-compatibility/2006">
              <mc:Choice xmlns:a14="http://schemas.microsoft.com/office/drawing/2010/main" Requires="a14">
                <a14:m>
                  <m:oMath xmlns:m="http://schemas.openxmlformats.org/officeDocument/2006/math">
                    <m:r>
                      <a:rPr lang="en-US" sz="1600" i="1">
                        <a:latin typeface="Cambria Math" panose="02040503050406030204" pitchFamily="18" charset="0"/>
                      </a:rPr>
                      <m:t>x</m:t>
                    </m:r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1600" i="0">
                        <a:latin typeface="Cambria Math" panose="02040503050406030204" pitchFamily="18" charset="0"/>
                      </a:rPr>
                      <m:t>2.686</m:t>
                    </m:r>
                  </m:oMath>
                </a14:m>
              </mc:Choice>
              <mc:Fallback>
                <a:r>
                  <a:rPr lang="zh-CN" altLang="en-US" sz="1600" dirty="0">
                    <a:latin typeface="Arial"/>
                    <a:ea typeface="Microsoft YaHei"/>
                  </a:rPr>
                  <a:t>x = 2.686</a:t>
                </a:r>
              </mc:Fallback>
            </mc:AlternateContent>
            <a:r>
              <a:rPr lang="zh-CN" altLang="en-US" sz="1600" dirty="0">
                <a:latin typeface="Arial"/>
                <a:ea typeface="Microsoft YaHei"/>
              </a:rPr>
              <a:t> or </a:t>
            </a:r>
            <mc:AlternateContent xmlns:mc="http://schemas.openxmlformats.org/markup-compatibility/2006">
              <mc:Choice xmlns:a14="http://schemas.microsoft.com/office/drawing/2010/main" Requires="a14">
                <a14:m>
                  <m:oMath xmlns:m="http://schemas.openxmlformats.org/officeDocument/2006/math">
                    <m:r>
                      <a:rPr lang="en-US" sz="1600" i="1">
                        <a:latin typeface="Cambria Math" panose="02040503050406030204" pitchFamily="18" charset="0"/>
                      </a:rPr>
                      <m:t>x</m:t>
                    </m:r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sz="1600" i="0">
                        <a:latin typeface="Cambria Math" panose="02040503050406030204" pitchFamily="18" charset="0"/>
                      </a:rPr>
                      <m:t>0.186</m:t>
                    </m:r>
                  </m:oMath>
                </a14:m>
              </mc:Choice>
              <mc:Fallback>
                <a:r>
                  <a:rPr lang="zh-CN" altLang="en-US" sz="1600" dirty="0">
                    <a:latin typeface="Arial"/>
                    <a:ea typeface="Microsoft YaHei"/>
                  </a:rPr>
                  <a:t>x = -0.186</a:t>
                </a:r>
              </mc:Fallback>
            </mc:AlternateContent>
            <a:endParaRPr lang="zh-CN" sz="1600"/>
          </a:p>
          <a:p>
            <a:r>
              <a:rPr lang="zh-CN" altLang="en-US" sz="1600" dirty="0">
                <a:latin typeface="Arial"/>
                <a:ea typeface="Microsoft YaHei"/>
              </a:rPr>
              <a:t>Short solution:</a:t>
            </a:r>
            <a:endParaRPr lang="zh-CN" sz="1600"/>
          </a:p>
          <a:p>
            <a:r>
              <a:rPr lang="zh-CN" altLang="en-US" sz="1600" dirty="0">
                <a:latin typeface="Arial"/>
                <a:ea typeface="Microsoft YaHei"/>
              </a:rPr>
              <a:t>Q 把 </a:t>
            </a:r>
            <mc:AlternateContent xmlns:mc="http://schemas.openxmlformats.org/markup-compatibility/2006">
              <mc:Choice xmlns:a14="http://schemas.microsoft.com/office/drawing/2010/main" Requires="a14">
                <a14:m>
                  <m:oMath xmlns:m="http://schemas.openxmlformats.org/officeDocument/2006/math">
                    <m:r>
                      <a:rPr lang="en-US" sz="1600" i="1">
                        <a:latin typeface="Cambria Math" panose="02040503050406030204" pitchFamily="18" charset="0"/>
                      </a:rPr>
                      <m:t>a</m:t>
                    </m:r>
                  </m:oMath>
                </a14:m>
              </mc:Choice>
              <mc:Fallback>
                <a:r>
                  <a:rPr lang="zh-CN" altLang="en-US" sz="1600" dirty="0">
                    <a:latin typeface="Arial"/>
                    <a:ea typeface="Microsoft YaHei"/>
                  </a:rPr>
                  <a:t>a</a:t>
                </a:r>
              </mc:Fallback>
            </mc:AlternateContent>
            <a:r>
              <a:rPr lang="zh-CN" altLang="en-US" sz="1600" dirty="0">
                <a:latin typeface="Arial"/>
                <a:ea typeface="Microsoft YaHei"/>
              </a:rPr>
              <a:t>、</a:t>
            </a:r>
            <mc:AlternateContent xmlns:mc="http://schemas.openxmlformats.org/markup-compatibility/2006">
              <mc:Choice xmlns:a14="http://schemas.microsoft.com/office/drawing/2010/main" Requires="a14">
                <a14:m>
                  <m:oMath xmlns:m="http://schemas.openxmlformats.org/officeDocument/2006/math">
                    <m:r>
                      <a:rPr lang="en-US" sz="1600" i="1">
                        <a:latin typeface="Cambria Math" panose="02040503050406030204" pitchFamily="18" charset="0"/>
                      </a:rPr>
                      <m:t>b</m:t>
                    </m:r>
                  </m:oMath>
                </a14:m>
              </mc:Choice>
              <mc:Fallback>
                <a:r>
                  <a:rPr lang="zh-CN" altLang="en-US" sz="1600" dirty="0">
                    <a:latin typeface="Arial"/>
                    <a:ea typeface="Microsoft YaHei"/>
                  </a:rPr>
                  <a:t>b</a:t>
                </a:r>
              </mc:Fallback>
            </mc:AlternateContent>
            <a:r>
              <a:rPr lang="zh-CN" altLang="en-US" sz="1600" dirty="0">
                <a:latin typeface="Arial"/>
                <a:ea typeface="Microsoft YaHei"/>
              </a:rPr>
              <a:t>、</a:t>
            </a:r>
            <mc:AlternateContent xmlns:mc="http://schemas.openxmlformats.org/markup-compatibility/2006">
              <mc:Choice xmlns:a14="http://schemas.microsoft.com/office/drawing/2010/main" Requires="a14">
                <a14:m>
                  <m:oMath xmlns:m="http://schemas.openxmlformats.org/officeDocument/2006/math">
                    <m:r>
                      <a:rPr lang="en-US" sz="1600" i="1">
                        <a:latin typeface="Cambria Math" panose="02040503050406030204" pitchFamily="18" charset="0"/>
                      </a:rPr>
                      <m:t>c</m:t>
                    </m:r>
                  </m:oMath>
                </a14:m>
              </mc:Choice>
              <mc:Fallback>
                <a:r>
                  <a:rPr lang="zh-CN" altLang="en-US" sz="1600" dirty="0">
                    <a:latin typeface="Arial"/>
                    <a:ea typeface="Microsoft YaHei"/>
                  </a:rPr>
                  <a:t>c</a:t>
                </a:r>
              </mc:Fallback>
            </mc:AlternateContent>
            <a:r>
              <a:rPr lang="zh-CN" altLang="en-US" sz="1600" dirty="0">
                <a:latin typeface="Arial"/>
                <a:ea typeface="Microsoft YaHei"/>
              </a:rPr>
              <a:t> 连同符号放进括号再代入；公式在 formula sheet 上</a:t>
            </a:r>
            <a:endParaRPr lang="zh-CN" sz="1600"/>
          </a:p>
          <a:p>
            <a:r>
              <a:rPr lang="zh-CN" altLang="en-US" sz="1600" dirty="0">
                <a:latin typeface="Arial"/>
                <a:ea typeface="Microsoft YaHei"/>
              </a:rPr>
              <a:t>Watch for:</a:t>
            </a:r>
            <a:endParaRPr lang="zh-CN" sz="1600"/>
          </a:p>
          <a:p>
            <a:r>
              <a:rPr lang="zh-CN" altLang="en-US" sz="1600" dirty="0">
                <a:latin typeface="Arial"/>
                <a:ea typeface="Microsoft YaHei"/>
              </a:rPr>
              <a:t>写 </a:t>
            </a:r>
            <mc:AlternateContent xmlns:mc="http://schemas.openxmlformats.org/markup-compatibility/2006">
              <mc:Choice xmlns:a14="http://schemas.microsoft.com/office/drawing/2010/main"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sz="1600" i="0"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</mc:Choice>
              <mc:Fallback>
                <a:r>
                  <a:rPr lang="zh-CN" altLang="en-US" sz="1600" dirty="0">
                    <a:latin typeface="Arial"/>
                    <a:ea typeface="Microsoft YaHei"/>
                  </a:rPr>
                  <a:t>-5</a:t>
                </a:r>
              </mc:Fallback>
            </mc:AlternateContent>
            <a:r>
              <a:rPr lang="zh-CN" altLang="en-US" sz="1600" dirty="0">
                <a:latin typeface="Arial"/>
                <a:ea typeface="Microsoft YaHei"/>
              </a:rPr>
              <a:t> 或 </a:t>
            </a:r>
            <mc:AlternateContent xmlns:mc="http://schemas.openxmlformats.org/markup-compatibility/2006">
              <mc:Choice xmlns:a14="http://schemas.microsoft.com/office/drawing/2010/main"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US" sz="1600" i="0">
                            <a:latin typeface="Cambria Math" panose="02040503050406030204" pitchFamily="18" charset="0"/>
                          </a:rPr>
                          <m:t>5</m:t>
                        </m:r>
                      </m:e>
                      <m:sup>
                        <m:r>
                          <a:rPr lang="en-US" sz="1600" i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sz="1600" i="0">
                        <a:latin typeface="Cambria Math" panose="02040503050406030204" pitchFamily="18" charset="0"/>
                      </a:rPr>
                      <m:t>25</m:t>
                    </m:r>
                  </m:oMath>
                </a14:m>
              </mc:Choice>
              <mc:Fallback>
                <a:r>
                  <a:rPr lang="zh-CN" altLang="en-US" sz="1600" dirty="0">
                    <a:latin typeface="Arial"/>
                    <a:ea typeface="Microsoft YaHei"/>
                  </a:rPr>
                  <a:t>-5^2 = -25</a:t>
                </a:r>
              </mc:Fallback>
            </mc:AlternateContent>
            <a:r>
              <a:rPr lang="zh-CN" altLang="en-US" sz="1600" dirty="0">
                <a:latin typeface="Arial"/>
                <a:ea typeface="Microsoft YaHei"/>
              </a:rPr>
              <a:t>：没有括号（L21）</a:t>
            </a:r>
            <a:endParaRPr lang="zh-CN" sz="1600"/>
          </a:p>
          <a:p>
            <a:r>
              <a:rPr lang="zh-CN" altLang="en-US" sz="1600" dirty="0">
                <a:latin typeface="Arial"/>
                <a:ea typeface="Microsoft YaHei"/>
              </a:rPr>
              <a:t>只把 </a:t>
            </a:r>
            <mc:AlternateContent xmlns:mc="http://schemas.openxmlformats.org/markup-compatibility/2006">
              <mc:Choice xmlns:a14="http://schemas.microsoft.com/office/drawing/2010/main" Requires="a14">
                <a14:m>
                  <m:oMath xmlns:m="http://schemas.openxmlformats.org/officeDocument/2006/math">
                    <m:rad>
                      <m:radPr>
                        <m:degHide m:val="on"/>
                      </m:radPr>
                      <m:deg/>
                      <m:e>
                        <m:r>
                          <a:rPr lang="en-US" sz="1600" i="0">
                            <a:latin typeface="Cambria Math" panose="02040503050406030204" pitchFamily="18" charset="0"/>
                          </a:rPr>
                          <m:t>33</m:t>
                        </m:r>
                      </m:e>
                    </m:rad>
                  </m:oMath>
                </a14:m>
              </mc:Choice>
              <mc:Fallback>
                <a:r>
                  <a:rPr lang="zh-CN" altLang="en-US" sz="1600" dirty="0">
                    <a:latin typeface="Arial"/>
                    <a:ea typeface="Microsoft YaHei"/>
                  </a:rPr>
                  <a:t>√(33)</a:t>
                </a:r>
              </mc:Fallback>
            </mc:AlternateContent>
            <a:r>
              <a:rPr lang="zh-CN" altLang="en-US" sz="1600" dirty="0">
                <a:latin typeface="Arial"/>
                <a:ea typeface="Microsoft YaHei"/>
              </a:rPr>
              <a:t> 除以 4：整个分子都除以 </a:t>
            </a:r>
            <mc:AlternateContent xmlns:mc="http://schemas.openxmlformats.org/markup-compatibility/2006">
              <mc:Choice xmlns:a14="http://schemas.microsoft.com/office/drawing/2010/main" Requires="a14">
                <a14:m>
                  <m:oMath xmlns:m="http://schemas.openxmlformats.org/officeDocument/2006/math">
                    <m:r>
                      <a:rPr lang="en-US" sz="1600" i="0">
                        <a:latin typeface="Cambria Math" panose="02040503050406030204" pitchFamily="18" charset="0"/>
                      </a:rPr>
                      <m:t>2</m:t>
                    </m:r>
                    <m:r>
                      <a:rPr lang="en-US" sz="1600" i="1">
                        <a:latin typeface="Cambria Math" panose="02040503050406030204" pitchFamily="18" charset="0"/>
                      </a:rPr>
                      <m:t>a</m:t>
                    </m:r>
                  </m:oMath>
                </a14:m>
              </mc:Choice>
              <mc:Fallback>
                <a:r>
                  <a:rPr lang="zh-CN" altLang="en-US" sz="1600" dirty="0">
                    <a:latin typeface="Arial"/>
                    <a:ea typeface="Microsoft YaHei"/>
                  </a:rPr>
                  <a:t>2a</a:t>
                </a:r>
              </mc:Fallback>
            </mc:AlternateContent>
            <a:endParaRPr lang="zh-CN" sz="160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>
            <a:noAutofit/>
          </a:bodyPr>
          <a:lstStyle/>
          <a:p>
            <a:r>
              <a:rPr lang="zh-CN" altLang="en-US" sz="1600" dirty="0">
                <a:latin typeface="Arial"/>
                <a:ea typeface="Microsoft YaHei"/>
              </a:rPr>
              <a:t>Gap 9; </a:t>
            </a:r>
            <mc:AlternateContent xmlns:mc="http://schemas.openxmlformats.org/markup-compatibility/2006">
              <mc:Choice xmlns:a14="http://schemas.microsoft.com/office/drawing/2010/main" Requires="a14">
                <a14:m>
                  <m:oMath xmlns:m="http://schemas.openxmlformats.org/officeDocument/2006/math">
                    <m:r>
                      <a:rPr lang="en-US" sz="1600" i="0"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</a:rPr>
                      <m:t>±</m:t>
                    </m:r>
                    <m:rad>
                      <m:radPr>
                        <m:degHide m:val="on"/>
                      </m:radPr>
                      <m:deg/>
                      <m:e>
                        <m:r>
                          <a:rPr lang="en-US" sz="1600" i="0">
                            <a:latin typeface="Cambria Math" panose="02040503050406030204" pitchFamily="18" charset="0"/>
                          </a:rPr>
                          <m:t>7</m:t>
                        </m:r>
                      </m:e>
                    </m:rad>
                  </m:oMath>
                </a14:m>
              </mc:Choice>
              <mc:Fallback>
                <a:r>
                  <a:rPr lang="zh-CN" altLang="en-US" sz="1600" dirty="0">
                    <a:latin typeface="Arial"/>
                    <a:ea typeface="Microsoft YaHei"/>
                  </a:rPr>
                  <a:t>3 ± √(7)</a:t>
                </a:r>
              </mc:Fallback>
            </mc:AlternateContent>
            <a:endParaRPr lang="zh-CN" sz="1600"/>
          </a:p>
          <a:p>
            <a:r>
              <a:rPr lang="zh-CN" altLang="en-US" sz="1600" dirty="0">
                <a:latin typeface="Arial"/>
                <a:ea typeface="Microsoft YaHei"/>
              </a:rPr>
              <a:t>Q half of the </a:t>
            </a:r>
            <mc:AlternateContent xmlns:mc="http://schemas.openxmlformats.org/markup-compatibility/2006">
              <mc:Choice xmlns:a14="http://schemas.microsoft.com/office/drawing/2010/main" Requires="a14">
                <a14:m>
                  <m:oMath xmlns:m="http://schemas.openxmlformats.org/officeDocument/2006/math">
                    <m:r>
                      <a:rPr lang="en-US" sz="1600" i="1">
                        <a:latin typeface="Cambria Math" panose="02040503050406030204" pitchFamily="18" charset="0"/>
                      </a:rPr>
                      <m:t>x</m:t>
                    </m:r>
                  </m:oMath>
                </a14:m>
              </mc:Choice>
              <mc:Fallback>
                <a:r>
                  <a:rPr lang="zh-CN" altLang="en-US" sz="1600" dirty="0">
                    <a:latin typeface="Arial"/>
                    <a:ea typeface="Microsoft YaHei"/>
                  </a:rPr>
                  <a:t>x</a:t>
                </a:r>
              </mc:Fallback>
            </mc:AlternateContent>
            <a:r>
              <a:rPr lang="zh-CN" altLang="en-US" sz="1600" dirty="0">
                <a:latin typeface="Arial"/>
                <a:ea typeface="Microsoft YaHei"/>
              </a:rPr>
              <a:t> coefficient, </a:t>
            </a:r>
            <mc:AlternateContent xmlns:mc="http://schemas.openxmlformats.org/markup-compatibility/2006">
              <mc:Choice xmlns:a14="http://schemas.microsoft.com/office/drawing/2010/main"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sz="1600" i="0"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</mc:Choice>
              <mc:Fallback>
                <a:r>
                  <a:rPr lang="zh-CN" altLang="en-US" sz="1600" dirty="0">
                    <a:latin typeface="Arial"/>
                    <a:ea typeface="Microsoft YaHei"/>
                  </a:rPr>
                  <a:t>-6</a:t>
                </a:r>
              </mc:Fallback>
            </mc:AlternateContent>
            <a:endParaRPr lang="zh-CN" sz="1600"/>
          </a:p>
          <a:p>
            <a:r>
              <a:rPr lang="zh-CN" altLang="en-US" sz="1600" dirty="0">
                <a:latin typeface="Arial"/>
                <a:ea typeface="Microsoft YaHei"/>
              </a:rPr>
              <a:t>Short solution:</a:t>
            </a:r>
            <a:endParaRPr lang="zh-CN" sz="1600"/>
          </a:p>
          <a:p>
            <a:r>
              <a:rPr lang="zh-CN" altLang="en-US" sz="1600" dirty="0">
                <a:latin typeface="Arial"/>
                <a:ea typeface="Microsoft YaHei"/>
              </a:rPr>
              <a:t>Q </a:t>
            </a:r>
            <mc:AlternateContent xmlns:mc="http://schemas.openxmlformats.org/markup-compatibility/2006">
              <mc:Choice xmlns:a14="http://schemas.microsoft.com/office/drawing/2010/main" Requires="a14">
                <a14:m>
                  <m:oMath xmlns:m="http://schemas.openxmlformats.org/officeDocument/2006/math">
                    <m:sSup>
                      <m:e>
                        <m:d>
                          <m:dPr>
                            <m:begChr m:val="("/>
                            <m:endChr m:val=")"/>
                            <m:sepChr m:val=""/>
                            <m:grow/>
                          </m:dPr>
                          <m:e>
                            <m:r>
                              <a:rPr lang="en-US" sz="1600" i="1">
                                <a:latin typeface="Cambria Math" panose="02040503050406030204" pitchFamily="18" charset="0"/>
                              </a:rPr>
                              <m:t>x</m:t>
                            </m:r>
                            <m:r>
                              <m:rPr>
                                <m:sty m:val="p"/>
                              </m:rPr>
                              <a:rPr lang="en-US" sz="1600" i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sz="1600" i="0"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d>
                      </m:e>
                      <m:sup>
                        <m:r>
                          <a:rPr lang="en-US" sz="1600" i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x</m:t>
                        </m:r>
                      </m:e>
                      <m:sup>
                        <m:r>
                          <a:rPr lang="en-US" sz="1600" i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sz="1600" i="0">
                        <a:latin typeface="Cambria Math" panose="02040503050406030204" pitchFamily="18" charset="0"/>
                      </a:rPr>
                      <m:t>6</m:t>
                    </m:r>
                    <m:r>
                      <a:rPr lang="en-US" sz="1600" i="1">
                        <a:latin typeface="Cambria Math" panose="02040503050406030204" pitchFamily="18" charset="0"/>
                      </a:rPr>
                      <m:t>x</m:t>
                    </m:r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1600" i="0">
                        <a:latin typeface="Cambria Math" panose="02040503050406030204" pitchFamily="18" charset="0"/>
                      </a:rPr>
                      <m:t>9</m:t>
                    </m:r>
                  </m:oMath>
                </a14:m>
              </mc:Choice>
              <mc:Fallback>
                <a:r>
                  <a:rPr lang="zh-CN" altLang="en-US" sz="1600" dirty="0">
                    <a:latin typeface="Arial"/>
                    <a:ea typeface="Microsoft YaHei"/>
                  </a:rPr>
                  <a:t>(x-3)^2 = x^2 - 6x + 9</a:t>
                </a:r>
              </mc:Fallback>
            </mc:AlternateContent>
            <a:r>
              <a:rPr lang="zh-CN" altLang="en-US" sz="1600" dirty="0">
                <a:latin typeface="Arial"/>
                <a:ea typeface="Microsoft YaHei"/>
              </a:rPr>
              <a:t>，所以多出来的 9 要减掉</a:t>
            </a:r>
            <a:endParaRPr lang="zh-CN" sz="1600"/>
          </a:p>
          <a:p>
            <a:r>
              <a:rPr lang="zh-CN" altLang="en-US" sz="1600" dirty="0">
                <a:latin typeface="Arial"/>
                <a:ea typeface="Microsoft YaHei"/>
              </a:rPr>
              <a:t>开方时要 </a:t>
            </a:r>
            <mc:AlternateContent xmlns:mc="http://schemas.openxmlformats.org/markup-compatibility/2006">
              <mc:Choice xmlns:a14="http://schemas.microsoft.com/office/drawing/2010/main"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</a:rPr>
                      <m:t>±</m:t>
                    </m:r>
                  </m:oMath>
                </a14:m>
              </mc:Choice>
              <mc:Fallback>
                <a:r>
                  <a:rPr lang="zh-CN" altLang="en-US" sz="1600" dirty="0">
                    <a:latin typeface="Arial"/>
                    <a:ea typeface="Microsoft YaHei"/>
                  </a:rPr>
                  <a:t>±</a:t>
                </a:r>
              </mc:Fallback>
            </mc:AlternateContent>
            <a:endParaRPr lang="zh-CN" sz="1600"/>
          </a:p>
          <a:p>
            <a:r>
              <a:rPr lang="zh-CN" altLang="en-US" sz="1600" dirty="0">
                <a:latin typeface="Arial"/>
                <a:ea typeface="Microsoft YaHei"/>
              </a:rPr>
              <a:t>Watch for:</a:t>
            </a:r>
            <a:endParaRPr lang="zh-CN" sz="1600"/>
          </a:p>
          <a:p>
            <a:r>
              <a:rPr lang="zh-CN" altLang="en-US" sz="1600" dirty="0">
                <a:latin typeface="Arial"/>
                <a:ea typeface="Microsoft YaHei"/>
              </a:rPr>
              <a:t>只写 </a:t>
            </a:r>
            <mc:AlternateContent xmlns:mc="http://schemas.openxmlformats.org/markup-compatibility/2006">
              <mc:Choice xmlns:a14="http://schemas.microsoft.com/office/drawing/2010/main" Requires="a14">
                <a14:m>
                  <m:oMath xmlns:m="http://schemas.openxmlformats.org/officeDocument/2006/math">
                    <m:r>
                      <a:rPr lang="en-US" sz="1600" i="0"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</a:rPr>
                      <m:t>+</m:t>
                    </m:r>
                    <m:rad>
                      <m:radPr>
                        <m:degHide m:val="on"/>
                      </m:radPr>
                      <m:deg/>
                      <m:e>
                        <m:r>
                          <a:rPr lang="en-US" sz="1600" i="0">
                            <a:latin typeface="Cambria Math" panose="02040503050406030204" pitchFamily="18" charset="0"/>
                          </a:rPr>
                          <m:t>7</m:t>
                        </m:r>
                      </m:e>
                    </m:rad>
                  </m:oMath>
                </a14:m>
              </mc:Choice>
              <mc:Fallback>
                <a:r>
                  <a:rPr lang="zh-CN" altLang="en-US" sz="1600" dirty="0">
                    <a:latin typeface="Arial"/>
                    <a:ea typeface="Microsoft YaHei"/>
                  </a:rPr>
                  <a:t>3 + √(7)</a:t>
                </a:r>
              </mc:Fallback>
            </mc:AlternateContent>
            <a:r>
              <a:rPr lang="zh-CN" altLang="en-US" sz="1600" dirty="0">
                <a:latin typeface="Arial"/>
                <a:ea typeface="Microsoft YaHei"/>
              </a:rPr>
              <a:t>：漏掉负的那个</a:t>
            </a:r>
            <a:endParaRPr lang="zh-CN" sz="1600"/>
          </a:p>
          <a:p>
            <a:r>
              <a:rPr lang="zh-CN" altLang="en-US" sz="1600" dirty="0">
                <a:latin typeface="Arial"/>
                <a:ea typeface="Microsoft YaHei"/>
              </a:rPr>
              <a:t>Exactly 表示留 surd，不要小数</a:t>
            </a:r>
            <a:endParaRPr lang="zh-CN" sz="160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>
            <a:noAutofit/>
          </a:bodyPr>
          <a:lstStyle/>
          <a:p>
            <a:r>
              <a:rPr lang="zh-CN" altLang="en-US" sz="1600" dirty="0">
                <a:latin typeface="Arial"/>
                <a:ea typeface="Microsoft YaHei"/>
              </a:rPr>
              <a:t>Q four: </a:t>
            </a:r>
            <mc:AlternateContent xmlns:mc="http://schemas.openxmlformats.org/markup-compatibility/2006">
              <mc:Choice xmlns:a14="http://schemas.microsoft.com/office/drawing/2010/main" Requires="a14">
                <a14:m>
                  <m:oMath xmlns:m="http://schemas.openxmlformats.org/officeDocument/2006/math">
                    <m:r>
                      <a:rPr lang="en-US" sz="1600" i="1">
                        <a:latin typeface="Cambria Math" panose="02040503050406030204" pitchFamily="18" charset="0"/>
                      </a:rPr>
                      <m:t>x</m:t>
                    </m:r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</a:rPr>
                      <m:t>±</m:t>
                    </m:r>
                    <m:r>
                      <a:rPr lang="en-US" sz="1600" i="0"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</mc:Choice>
              <mc:Fallback>
                <a:r>
                  <a:rPr lang="zh-CN" altLang="en-US" sz="1600" dirty="0">
                    <a:latin typeface="Arial"/>
                    <a:ea typeface="Microsoft YaHei"/>
                  </a:rPr>
                  <a:t>x = ± 2</a:t>
                </a:r>
              </mc:Fallback>
            </mc:AlternateContent>
            <a:r>
              <a:rPr lang="zh-CN" altLang="en-US" sz="1600" dirty="0">
                <a:latin typeface="Arial"/>
                <a:ea typeface="Microsoft YaHei"/>
              </a:rPr>
              <a:t> or </a:t>
            </a:r>
            <mc:AlternateContent xmlns:mc="http://schemas.openxmlformats.org/markup-compatibility/2006">
              <mc:Choice xmlns:a14="http://schemas.microsoft.com/office/drawing/2010/main" Requires="a14">
                <a14:m>
                  <m:oMath xmlns:m="http://schemas.openxmlformats.org/officeDocument/2006/math">
                    <m:r>
                      <a:rPr lang="en-US" sz="1600" i="1">
                        <a:latin typeface="Cambria Math" panose="02040503050406030204" pitchFamily="18" charset="0"/>
                      </a:rPr>
                      <m:t>x</m:t>
                    </m:r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</a:rPr>
                      <m:t>±</m:t>
                    </m:r>
                    <m:r>
                      <a:rPr lang="en-US" sz="1600" i="0"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</mc:Choice>
              <mc:Fallback>
                <a:r>
                  <a:rPr lang="zh-CN" altLang="en-US" sz="1600" dirty="0">
                    <a:latin typeface="Arial"/>
                    <a:ea typeface="Microsoft YaHei"/>
                  </a:rPr>
                  <a:t>x = ± 3</a:t>
                </a:r>
              </mc:Fallback>
            </mc:AlternateContent>
            <a:endParaRPr lang="zh-CN" sz="1600"/>
          </a:p>
          <a:p>
            <a:r>
              <a:rPr lang="zh-CN" altLang="en-US" sz="1600" dirty="0">
                <a:latin typeface="Arial"/>
                <a:ea typeface="Microsoft YaHei"/>
              </a:rPr>
              <a:t>Short solution:</a:t>
            </a:r>
            <a:endParaRPr lang="zh-CN" sz="1600"/>
          </a:p>
          <a:p>
            <a:r>
              <a:rPr lang="zh-CN" altLang="en-US" sz="1600" dirty="0">
                <a:latin typeface="Arial"/>
                <a:ea typeface="Microsoft YaHei"/>
              </a:rPr>
              <a:t>Q 和 Lesson 2 的 </a:t>
            </a:r>
            <mc:AlternateContent xmlns:mc="http://schemas.openxmlformats.org/markup-compatibility/2006">
              <mc:Choice xmlns:a14="http://schemas.microsoft.com/office/drawing/2010/main" Requires="a14">
                <a14:m>
                  <m:oMath xmlns:m="http://schemas.openxmlformats.org/officeDocument/2006/math">
                    <m:sSup>
                      <m:e>
                        <m:r>
                          <a:rPr lang="en-US" sz="1600" i="0">
                            <a:latin typeface="Cambria Math" panose="02040503050406030204" pitchFamily="18" charset="0"/>
                          </a:rPr>
                          <m:t>3</m:t>
                        </m:r>
                      </m:e>
                      <m:sup>
                        <m:r>
                          <a:rPr lang="en-US" sz="1600" i="0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x</m:t>
                        </m:r>
                      </m:sup>
                    </m:sSup>
                  </m:oMath>
                </a14:m>
              </mc:Choice>
              <mc:Fallback>
                <a:r>
                  <a:rPr lang="zh-CN" altLang="en-US" sz="1600" dirty="0">
                    <a:latin typeface="Arial"/>
                    <a:ea typeface="Microsoft YaHei"/>
                  </a:rPr>
                  <a:t>3^2x</a:t>
                </a:r>
              </mc:Fallback>
            </mc:AlternateContent>
            <a:r>
              <a:rPr lang="zh-CN" altLang="en-US" sz="1600" dirty="0">
                <a:latin typeface="Arial"/>
                <a:ea typeface="Microsoft YaHei"/>
              </a:rPr>
              <a:t> 一样：认出“平方的平方”</a:t>
            </a:r>
            <a:endParaRPr lang="zh-CN" sz="1600"/>
          </a:p>
          <a:p>
            <a:r>
              <a:rPr lang="zh-CN" altLang="en-US" sz="1600" dirty="0">
                <a:latin typeface="Arial"/>
                <a:ea typeface="Microsoft YaHei"/>
              </a:rPr>
              <a:t>Watch for:</a:t>
            </a:r>
            <a:endParaRPr lang="zh-CN" sz="1600"/>
          </a:p>
          <a:p>
            <a:r>
              <a:rPr lang="zh-CN" altLang="en-US" sz="1600" dirty="0">
                <a:latin typeface="Arial"/>
                <a:ea typeface="Microsoft YaHei"/>
              </a:rPr>
              <a:t>只写 </a:t>
            </a:r>
            <mc:AlternateContent xmlns:mc="http://schemas.openxmlformats.org/markup-compatibility/2006">
              <mc:Choice xmlns:a14="http://schemas.microsoft.com/office/drawing/2010/main" Requires="a14">
                <a14:m>
                  <m:oMath xmlns:m="http://schemas.openxmlformats.org/officeDocument/2006/math">
                    <m:r>
                      <a:rPr lang="en-US" sz="1600" i="1">
                        <a:latin typeface="Cambria Math" panose="02040503050406030204" pitchFamily="18" charset="0"/>
                      </a:rPr>
                      <m:t>u</m:t>
                    </m:r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1600" i="0"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</mc:Choice>
              <mc:Fallback>
                <a:r>
                  <a:rPr lang="zh-CN" altLang="en-US" sz="1600" dirty="0">
                    <a:latin typeface="Arial"/>
                    <a:ea typeface="Microsoft YaHei"/>
                  </a:rPr>
                  <a:t>u = 4</a:t>
                </a:r>
              </mc:Fallback>
            </mc:AlternateContent>
            <a:r>
              <a:rPr lang="zh-CN" altLang="en-US" sz="1600" dirty="0">
                <a:latin typeface="Arial"/>
                <a:ea typeface="Microsoft YaHei"/>
              </a:rPr>
              <a:t>，</a:t>
            </a:r>
            <mc:AlternateContent xmlns:mc="http://schemas.openxmlformats.org/markup-compatibility/2006">
              <mc:Choice xmlns:a14="http://schemas.microsoft.com/office/drawing/2010/main" Requires="a14">
                <a14:m>
                  <m:oMath xmlns:m="http://schemas.openxmlformats.org/officeDocument/2006/math">
                    <m:r>
                      <a:rPr lang="en-US" sz="1600" i="1">
                        <a:latin typeface="Cambria Math" panose="02040503050406030204" pitchFamily="18" charset="0"/>
                      </a:rPr>
                      <m:t>u</m:t>
                    </m:r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1600" i="0">
                        <a:latin typeface="Cambria Math" panose="02040503050406030204" pitchFamily="18" charset="0"/>
                      </a:rPr>
                      <m:t>9</m:t>
                    </m:r>
                  </m:oMath>
                </a14:m>
              </mc:Choice>
              <mc:Fallback>
                <a:r>
                  <a:rPr lang="zh-CN" altLang="en-US" sz="1600" dirty="0">
                    <a:latin typeface="Arial"/>
                    <a:ea typeface="Microsoft YaHei"/>
                  </a:rPr>
                  <a:t>u = 9</a:t>
                </a:r>
              </mc:Fallback>
            </mc:AlternateContent>
            <a:r>
              <a:rPr lang="zh-CN" altLang="en-US" sz="1600" dirty="0">
                <a:latin typeface="Arial"/>
                <a:ea typeface="Microsoft YaHei"/>
              </a:rPr>
              <a:t> 就停：要换回 </a:t>
            </a:r>
            <mc:AlternateContent xmlns:mc="http://schemas.openxmlformats.org/markup-compatibility/2006">
              <mc:Choice xmlns:a14="http://schemas.microsoft.com/office/drawing/2010/main" Requires="a14">
                <a14:m>
                  <m:oMath xmlns:m="http://schemas.openxmlformats.org/officeDocument/2006/math">
                    <m:r>
                      <a:rPr lang="en-US" sz="1600" i="1">
                        <a:latin typeface="Cambria Math" panose="02040503050406030204" pitchFamily="18" charset="0"/>
                      </a:rPr>
                      <m:t>x</m:t>
                    </m:r>
                  </m:oMath>
                </a14:m>
              </mc:Choice>
              <mc:Fallback>
                <a:r>
                  <a:rPr lang="zh-CN" altLang="en-US" sz="1600" dirty="0">
                    <a:latin typeface="Arial"/>
                    <a:ea typeface="Microsoft YaHei"/>
                  </a:rPr>
                  <a:t>x</a:t>
                </a:r>
              </mc:Fallback>
            </mc:AlternateContent>
            <a:endParaRPr lang="zh-CN" sz="1600"/>
          </a:p>
          <a:p>
            <a:r>
              <a:rPr lang="zh-CN" altLang="en-US" sz="1600" dirty="0">
                <a:latin typeface="Arial"/>
                <a:ea typeface="Microsoft YaHei"/>
              </a:rPr>
              <a:t>只写正根</a:t>
            </a:r>
            <a:endParaRPr lang="zh-CN" sz="160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>
            <a:noAutofit/>
          </a:bodyPr>
          <a:lstStyle/>
          <a:p>
            <a:r>
              <a:rPr lang="zh-CN" altLang="en-US" sz="1600" dirty="0">
                <a:latin typeface="Arial"/>
                <a:ea typeface="Microsoft YaHei"/>
              </a:rPr>
              <a:t>1. (a) set to zero first: </a:t>
            </a:r>
            <mc:AlternateContent xmlns:mc="http://schemas.openxmlformats.org/markup-compatibility/2006">
              <mc:Choice xmlns:a14="http://schemas.microsoft.com/office/drawing/2010/main" Requires="a14">
                <a14:m>
                  <m:oMath xmlns:m="http://schemas.openxmlformats.org/officeDocument/2006/math">
                    <m:sSup>
                      <m:e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x</m:t>
                        </m:r>
                      </m:e>
                      <m:sup>
                        <m:r>
                          <a:rPr lang="en-US" sz="1600" i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1600" i="0">
                        <a:latin typeface="Cambria Math" panose="02040503050406030204" pitchFamily="18" charset="0"/>
                      </a:rPr>
                      <m:t>3</m:t>
                    </m:r>
                    <m:r>
                      <a:rPr lang="en-US" sz="1600" i="1">
                        <a:latin typeface="Cambria Math" panose="02040503050406030204" pitchFamily="18" charset="0"/>
                      </a:rPr>
                      <m:t>x</m:t>
                    </m:r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sz="1600" i="0">
                        <a:latin typeface="Cambria Math" panose="02040503050406030204" pitchFamily="18" charset="0"/>
                      </a:rPr>
                      <m:t>10</m:t>
                    </m:r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1600" i="0"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</mc:Choice>
              <mc:Fallback>
                <a:r>
                  <a:rPr lang="zh-CN" altLang="en-US" sz="1600" dirty="0">
                    <a:latin typeface="Arial"/>
                    <a:ea typeface="Microsoft YaHei"/>
                  </a:rPr>
                  <a:t>x^2 + 3x - 10 = 0</a:t>
                </a:r>
              </mc:Fallback>
            </mc:AlternateContent>
            <a:r>
              <a:rPr lang="zh-CN" altLang="en-US" sz="1600" dirty="0">
                <a:latin typeface="Arial"/>
                <a:ea typeface="Microsoft YaHei"/>
              </a:rPr>
              <a:t>, </a:t>
            </a:r>
            <mc:AlternateContent xmlns:mc="http://schemas.openxmlformats.org/markup-compatibility/2006">
              <mc:Choice xmlns:a14="http://schemas.microsoft.com/office/drawing/2010/main" Requires="a14">
                <a14:m>
                  <m:oMath xmlns:m="http://schemas.openxmlformats.org/officeDocument/2006/math">
                    <m:d>
                      <m:dPr>
                        <m:begChr m:val="("/>
                        <m:endChr m:val=")"/>
                        <m:sepChr m:val=""/>
                        <m:grow/>
                      </m:dPr>
                      <m:e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x</m:t>
                        </m:r>
                        <m:r>
                          <m:rPr>
                            <m:sty m:val="p"/>
                          </m:rPr>
                          <a:rPr lang="en-US" sz="1600" i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sz="1600" i="0">
                            <a:latin typeface="Cambria Math" panose="02040503050406030204" pitchFamily="18" charset="0"/>
                          </a:rPr>
                          <m:t>5</m:t>
                        </m:r>
                      </m:e>
                    </m:d>
                    <m:d>
                      <m:dPr>
                        <m:begChr m:val="("/>
                        <m:endChr m:val=")"/>
                        <m:sepChr m:val=""/>
                        <m:grow/>
                      </m:dPr>
                      <m:e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x</m:t>
                        </m:r>
                        <m:r>
                          <m:rPr>
                            <m:sty m:val="p"/>
                          </m:rPr>
                          <a:rPr lang="en-US" sz="1600" i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sz="1600" i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d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1600" i="0"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</mc:Choice>
              <mc:Fallback>
                <a:r>
                  <a:rPr lang="zh-CN" altLang="en-US" sz="1600" dirty="0">
                    <a:latin typeface="Arial"/>
                    <a:ea typeface="Microsoft YaHei"/>
                  </a:rPr>
                  <a:t>(x+5)(x-2) = 0</a:t>
                </a:r>
              </mc:Fallback>
            </mc:AlternateContent>
            <a:r>
              <a:rPr lang="zh-CN" altLang="en-US" sz="1600" dirty="0">
                <a:latin typeface="Arial"/>
                <a:ea typeface="Microsoft YaHei"/>
              </a:rPr>
              <a:t>, so </a:t>
            </a:r>
            <mc:AlternateContent xmlns:mc="http://schemas.openxmlformats.org/markup-compatibility/2006">
              <mc:Choice xmlns:a14="http://schemas.microsoft.com/office/drawing/2010/main" Requires="a14">
                <a14:m>
                  <m:oMath xmlns:m="http://schemas.openxmlformats.org/officeDocument/2006/math">
                    <m:r>
                      <a:rPr lang="en-US" sz="1600" i="1">
                        <a:latin typeface="Cambria Math" panose="02040503050406030204" pitchFamily="18" charset="0"/>
                      </a:rPr>
                      <m:t>x</m:t>
                    </m:r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sz="1600" i="0"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</mc:Choice>
              <mc:Fallback>
                <a:r>
                  <a:rPr lang="zh-CN" altLang="en-US" sz="1600" dirty="0">
                    <a:latin typeface="Arial"/>
                    <a:ea typeface="Microsoft YaHei"/>
                  </a:rPr>
                  <a:t>x = -5</a:t>
                </a:r>
              </mc:Fallback>
            </mc:AlternateContent>
            <a:r>
              <a:rPr lang="zh-CN" altLang="en-US" sz="1600" dirty="0">
                <a:latin typeface="Arial"/>
                <a:ea typeface="Microsoft YaHei"/>
              </a:rPr>
              <a:t> or </a:t>
            </a:r>
            <mc:AlternateContent xmlns:mc="http://schemas.openxmlformats.org/markup-compatibility/2006">
              <mc:Choice xmlns:a14="http://schemas.microsoft.com/office/drawing/2010/main" Requires="a14">
                <a14:m>
                  <m:oMath xmlns:m="http://schemas.openxmlformats.org/officeDocument/2006/math">
                    <m:r>
                      <a:rPr lang="en-US" sz="1600" i="1">
                        <a:latin typeface="Cambria Math" panose="02040503050406030204" pitchFamily="18" charset="0"/>
                      </a:rPr>
                      <m:t>x</m:t>
                    </m:r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1600" i="0"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</mc:Choice>
              <mc:Fallback>
                <a:r>
                  <a:rPr lang="zh-CN" altLang="en-US" sz="1600" dirty="0">
                    <a:latin typeface="Arial"/>
                    <a:ea typeface="Microsoft YaHei"/>
                  </a:rPr>
                  <a:t>x = 2</a:t>
                </a:r>
              </mc:Fallback>
            </mc:AlternateContent>
            <a:r>
              <a:rPr lang="zh-CN" altLang="en-US" sz="1600" dirty="0">
                <a:latin typeface="Arial"/>
                <a:ea typeface="Microsoft YaHei"/>
              </a:rPr>
              <a:t> (L19)</a:t>
            </a:r>
            <a:endParaRPr lang="zh-CN" sz="1600"/>
          </a:p>
          <a:p>
            <a:r>
              <a:rPr lang="zh-CN" altLang="en-US" sz="1600" dirty="0">
                <a:latin typeface="Arial"/>
                <a:ea typeface="Microsoft YaHei"/>
              </a:rPr>
              <a:t>2. (b) </a:t>
            </a:r>
            <mc:AlternateContent xmlns:mc="http://schemas.openxmlformats.org/markup-compatibility/2006">
              <mc:Choice xmlns:a14="http://schemas.microsoft.com/office/drawing/2010/main" Requires="a14">
                <a14:m>
                  <m:oMath xmlns:m="http://schemas.openxmlformats.org/officeDocument/2006/math">
                    <m:r>
                      <a:rPr lang="en-US" sz="1600" i="1">
                        <a:latin typeface="Cambria Math" panose="02040503050406030204" pitchFamily="18" charset="0"/>
                      </a:rPr>
                      <m:t>b</m:t>
                    </m:r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sz="1600" i="0"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</mc:Choice>
              <mc:Fallback>
                <a:r>
                  <a:rPr lang="zh-CN" altLang="en-US" sz="1600" dirty="0">
                    <a:latin typeface="Arial"/>
                    <a:ea typeface="Microsoft YaHei"/>
                  </a:rPr>
                  <a:t>b = -4</a:t>
                </a:r>
              </mc:Fallback>
            </mc:AlternateContent>
            <a:r>
              <a:rPr lang="zh-CN" altLang="en-US" sz="1600" dirty="0">
                <a:latin typeface="Arial"/>
                <a:ea typeface="Microsoft YaHei"/>
              </a:rPr>
              <a:t>, so </a:t>
            </a:r>
            <mc:AlternateContent xmlns:mc="http://schemas.openxmlformats.org/markup-compatibility/2006">
              <mc:Choice xmlns:a14="http://schemas.microsoft.com/office/drawing/2010/main"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sz="1600" i="1">
                        <a:latin typeface="Cambria Math" panose="02040503050406030204" pitchFamily="18" charset="0"/>
                      </a:rPr>
                      <m:t>b</m:t>
                    </m:r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1600" i="0"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</mc:Choice>
              <mc:Fallback>
                <a:r>
                  <a:rPr lang="zh-CN" altLang="en-US" sz="1600" dirty="0">
                    <a:latin typeface="Arial"/>
                    <a:ea typeface="Microsoft YaHei"/>
                  </a:rPr>
                  <a:t>-b = +4</a:t>
                </a:r>
              </mc:Fallback>
            </mc:AlternateContent>
            <a:r>
              <a:rPr lang="zh-CN" altLang="en-US" sz="1600" dirty="0">
                <a:latin typeface="Arial"/>
                <a:ea typeface="Microsoft YaHei"/>
              </a:rPr>
              <a:t>: </a:t>
            </a:r>
            <mc:AlternateContent xmlns:mc="http://schemas.openxmlformats.org/markup-compatibility/2006">
              <mc:Choice xmlns:a14="http://schemas.microsoft.com/office/drawing/2010/main" Requires="a14">
                <a14:m>
                  <m:oMath xmlns:m="http://schemas.openxmlformats.org/officeDocument/2006/math">
                    <m:r>
                      <a:rPr lang="en-US" sz="1600" i="1">
                        <a:latin typeface="Cambria Math" panose="02040503050406030204" pitchFamily="18" charset="0"/>
                      </a:rPr>
                      <m:t>x</m:t>
                    </m:r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1600" i="0"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</a:rPr>
                      <m:t>±</m:t>
                    </m:r>
                    <m:rad>
                      <m:radPr>
                        <m:degHide m:val="on"/>
                      </m:radPr>
                      <m:deg/>
                      <m:e>
                        <m:r>
                          <a:rPr lang="en-US" sz="1600" i="0">
                            <a:latin typeface="Cambria Math" panose="02040503050406030204" pitchFamily="18" charset="0"/>
                          </a:rPr>
                          <m:t>6</m:t>
                        </m:r>
                      </m:e>
                    </m:rad>
                  </m:oMath>
                </a14:m>
              </mc:Choice>
              <mc:Fallback>
                <a:r>
                  <a:rPr lang="zh-CN" altLang="en-US" sz="1600" dirty="0">
                    <a:latin typeface="Arial"/>
                    <a:ea typeface="Microsoft YaHei"/>
                  </a:rPr>
                  <a:t>x = 2 ± √(6)</a:t>
                </a:r>
              </mc:Fallback>
            </mc:AlternateContent>
            <a:r>
              <a:rPr lang="zh-CN" altLang="en-US" sz="1600" dirty="0">
                <a:latin typeface="Arial"/>
                <a:ea typeface="Microsoft YaHei"/>
              </a:rPr>
              <a:t> (L21)</a:t>
            </a:r>
            <a:endParaRPr lang="zh-CN" sz="1600"/>
          </a:p>
          <a:p>
            <a:r>
              <a:rPr lang="zh-CN" altLang="en-US" sz="1600" dirty="0">
                <a:latin typeface="Arial"/>
                <a:ea typeface="Microsoft YaHei"/>
              </a:rPr>
              <a:t>Short solution:</a:t>
            </a:r>
            <a:endParaRPr lang="zh-CN" sz="1600"/>
          </a:p>
          <a:p>
            <a:r>
              <a:rPr lang="zh-CN" altLang="en-US" sz="1600" dirty="0">
                <a:latin typeface="Arial"/>
                <a:ea typeface="Microsoft YaHei"/>
              </a:rPr>
              <a:t>(a) </a:t>
            </a:r>
            <mc:AlternateContent xmlns:mc="http://schemas.openxmlformats.org/markup-compatibility/2006">
              <mc:Choice xmlns:a14="http://schemas.microsoft.com/office/drawing/2010/main" Requires="a14">
                <a14:m>
                  <m:oMath xmlns:m="http://schemas.openxmlformats.org/officeDocument/2006/math">
                    <m:r>
                      <a:rPr lang="en-US" sz="1600" i="1">
                        <a:latin typeface="Cambria Math" panose="02040503050406030204" pitchFamily="18" charset="0"/>
                      </a:rPr>
                      <m:t>x</m:t>
                    </m:r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sz="1600" i="0"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</mc:Choice>
              <mc:Fallback>
                <a:r>
                  <a:rPr lang="zh-CN" altLang="en-US" sz="1600" dirty="0">
                    <a:latin typeface="Arial"/>
                    <a:ea typeface="Microsoft YaHei"/>
                  </a:rPr>
                  <a:t>x = -5</a:t>
                </a:r>
              </mc:Fallback>
            </mc:AlternateContent>
            <a:r>
              <a:rPr lang="zh-CN" altLang="en-US" sz="1600" dirty="0">
                <a:latin typeface="Arial"/>
                <a:ea typeface="Microsoft YaHei"/>
              </a:rPr>
              <a:t> or </a:t>
            </a:r>
            <mc:AlternateContent xmlns:mc="http://schemas.openxmlformats.org/markup-compatibility/2006">
              <mc:Choice xmlns:a14="http://schemas.microsoft.com/office/drawing/2010/main" Requires="a14">
                <a14:m>
                  <m:oMath xmlns:m="http://schemas.openxmlformats.org/officeDocument/2006/math">
                    <m:r>
                      <a:rPr lang="en-US" sz="1600" i="1">
                        <a:latin typeface="Cambria Math" panose="02040503050406030204" pitchFamily="18" charset="0"/>
                      </a:rPr>
                      <m:t>x</m:t>
                    </m:r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1600" i="0"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</mc:Choice>
              <mc:Fallback>
                <a:r>
                  <a:rPr lang="zh-CN" altLang="en-US" sz="1600" dirty="0">
                    <a:latin typeface="Arial"/>
                    <a:ea typeface="Microsoft YaHei"/>
                  </a:rPr>
                  <a:t>x = 2</a:t>
                </a:r>
              </mc:Fallback>
            </mc:AlternateContent>
            <a:endParaRPr lang="zh-CN" sz="1600"/>
          </a:p>
          <a:p>
            <a:r>
              <a:rPr lang="zh-CN" altLang="en-US" sz="1600" dirty="0">
                <a:latin typeface="Arial"/>
                <a:ea typeface="Microsoft YaHei"/>
              </a:rPr>
              <a:t>(b) </a:t>
            </a:r>
            <mc:AlternateContent xmlns:mc="http://schemas.openxmlformats.org/markup-compatibility/2006">
              <mc:Choice xmlns:a14="http://schemas.microsoft.com/office/drawing/2010/main" Requires="a14">
                <a14:m>
                  <m:oMath xmlns:m="http://schemas.openxmlformats.org/officeDocument/2006/math">
                    <m:r>
                      <a:rPr lang="en-US" sz="1600" i="1">
                        <a:latin typeface="Cambria Math" panose="02040503050406030204" pitchFamily="18" charset="0"/>
                      </a:rPr>
                      <m:t>x</m:t>
                    </m:r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1600" i="0">
                        <a:latin typeface="Cambria Math" panose="02040503050406030204" pitchFamily="18" charset="0"/>
                      </a:rPr>
                      <m:t>4.449</m:t>
                    </m:r>
                  </m:oMath>
                </a14:m>
              </mc:Choice>
              <mc:Fallback>
                <a:r>
                  <a:rPr lang="zh-CN" altLang="en-US" sz="1600" dirty="0">
                    <a:latin typeface="Arial"/>
                    <a:ea typeface="Microsoft YaHei"/>
                  </a:rPr>
                  <a:t>x = 4.449</a:t>
                </a:r>
              </mc:Fallback>
            </mc:AlternateContent>
            <a:r>
              <a:rPr lang="zh-CN" altLang="en-US" sz="1600" dirty="0">
                <a:latin typeface="Arial"/>
                <a:ea typeface="Microsoft YaHei"/>
              </a:rPr>
              <a:t> or </a:t>
            </a:r>
            <mc:AlternateContent xmlns:mc="http://schemas.openxmlformats.org/markup-compatibility/2006">
              <mc:Choice xmlns:a14="http://schemas.microsoft.com/office/drawing/2010/main" Requires="a14">
                <a14:m>
                  <m:oMath xmlns:m="http://schemas.openxmlformats.org/officeDocument/2006/math">
                    <m:r>
                      <a:rPr lang="en-US" sz="1600" i="1">
                        <a:latin typeface="Cambria Math" panose="02040503050406030204" pitchFamily="18" charset="0"/>
                      </a:rPr>
                      <m:t>x</m:t>
                    </m:r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sz="1600" i="0">
                        <a:latin typeface="Cambria Math" panose="02040503050406030204" pitchFamily="18" charset="0"/>
                      </a:rPr>
                      <m:t>0.449</m:t>
                    </m:r>
                  </m:oMath>
                </a14:m>
              </mc:Choice>
              <mc:Fallback>
                <a:r>
                  <a:rPr lang="zh-CN" altLang="en-US" sz="1600" dirty="0">
                    <a:latin typeface="Arial"/>
                    <a:ea typeface="Microsoft YaHei"/>
                  </a:rPr>
                  <a:t>x = -0.449</a:t>
                </a:r>
              </mc:Fallback>
            </mc:AlternateContent>
            <a:endParaRPr lang="zh-CN" sz="1600"/>
          </a:p>
          <a:p>
            <a:r>
              <a:rPr lang="zh-CN" altLang="en-US" sz="1600" dirty="0">
                <a:latin typeface="Arial"/>
                <a:ea typeface="Microsoft YaHei"/>
              </a:rPr>
              <a:t>Watch for:</a:t>
            </a:r>
            <a:endParaRPr lang="zh-CN" sz="1600"/>
          </a:p>
          <a:p>
            <a:r>
              <a:rPr lang="zh-CN" altLang="en-US" sz="1600" dirty="0">
                <a:latin typeface="Arial"/>
                <a:ea typeface="Microsoft YaHei"/>
              </a:rPr>
              <a:t>(a) Sam 的第二个答案是 </a:t>
            </a:r>
            <mc:AlternateContent xmlns:mc="http://schemas.openxmlformats.org/markup-compatibility/2006">
              <mc:Choice xmlns:a14="http://schemas.microsoft.com/office/drawing/2010/main" Requires="a14">
                <a14:m>
                  <m:oMath xmlns:m="http://schemas.openxmlformats.org/officeDocument/2006/math">
                    <m:r>
                      <a:rPr lang="en-US" sz="1600" i="1">
                        <a:latin typeface="Cambria Math" panose="02040503050406030204" pitchFamily="18" charset="0"/>
                      </a:rPr>
                      <m:t>x</m:t>
                    </m:r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1600" i="0"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1600" i="0">
                        <a:latin typeface="Cambria Math" panose="02040503050406030204" pitchFamily="18" charset="0"/>
                      </a:rPr>
                      <m:t>10</m:t>
                    </m:r>
                  </m:oMath>
                </a14:m>
              </mc:Choice>
              <mc:Fallback>
                <a:r>
                  <a:rPr lang="zh-CN" altLang="en-US" sz="1600" dirty="0">
                    <a:latin typeface="Arial"/>
                    <a:ea typeface="Microsoft YaHei"/>
                  </a:rPr>
                  <a:t>x + 3 = 10</a:t>
                </a:r>
              </mc:Fallback>
            </mc:AlternateContent>
            <a:r>
              <a:rPr lang="zh-CN" altLang="en-US" sz="1600" dirty="0">
                <a:latin typeface="Arial"/>
                <a:ea typeface="Microsoft YaHei"/>
              </a:rPr>
              <a:t> 解出来的 7：两个错误都来自没等于 0</a:t>
            </a:r>
            <a:endParaRPr lang="zh-CN" sz="1600"/>
          </a:p>
          <a:p>
            <a:r>
              <a:rPr lang="zh-CN" altLang="en-US" sz="1600" dirty="0">
                <a:latin typeface="Arial"/>
                <a:ea typeface="Microsoft YaHei"/>
              </a:rPr>
              <a:t>(b) 检查：</a:t>
            </a:r>
            <mc:AlternateContent xmlns:mc="http://schemas.openxmlformats.org/markup-compatibility/2006">
              <mc:Choice xmlns:a14="http://schemas.microsoft.com/office/drawing/2010/main" Requires="a14">
                <a14:m>
                  <m:oMath xmlns:m="http://schemas.openxmlformats.org/officeDocument/2006/math">
                    <m:r>
                      <a:rPr lang="en-US" sz="1600" i="1">
                        <a:latin typeface="Cambria Math" panose="02040503050406030204" pitchFamily="18" charset="0"/>
                      </a:rPr>
                      <m:t>x</m:t>
                    </m:r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1600" i="0"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</a:rPr>
                      <m:t>+</m:t>
                    </m:r>
                    <m:rad>
                      <m:radPr>
                        <m:degHide m:val="on"/>
                      </m:radPr>
                      <m:deg/>
                      <m:e>
                        <m:r>
                          <a:rPr lang="en-US" sz="1600" i="0">
                            <a:latin typeface="Cambria Math" panose="02040503050406030204" pitchFamily="18" charset="0"/>
                          </a:rPr>
                          <m:t>6</m:t>
                        </m:r>
                      </m:e>
                    </m:rad>
                  </m:oMath>
                </a14:m>
              </mc:Choice>
              <mc:Fallback>
                <a:r>
                  <a:rPr lang="zh-CN" altLang="en-US" sz="1600" dirty="0">
                    <a:latin typeface="Arial"/>
                    <a:ea typeface="Microsoft YaHei"/>
                  </a:rPr>
                  <a:t>x = 2 + √(6)</a:t>
                </a:r>
              </mc:Fallback>
            </mc:AlternateContent>
            <a:r>
              <a:rPr lang="zh-CN" altLang="en-US" sz="1600" dirty="0">
                <a:latin typeface="Arial"/>
                <a:ea typeface="Microsoft YaHei"/>
              </a:rPr>
              <a:t> 代回去等于 0</a:t>
            </a:r>
            <a:endParaRPr lang="zh-CN" sz="160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>
            <a:noAutofit/>
          </a:bodyPr>
          <a:lstStyle/>
          <a:p>
            <a:r>
              <a:rPr lang="zh-CN" altLang="en-US" sz="1600" dirty="0">
                <a:latin typeface="Arial"/>
                <a:ea typeface="Microsoft YaHei"/>
              </a:rPr>
              <a:t>Q1 </a:t>
            </a:r>
            <mc:AlternateContent xmlns:mc="http://schemas.openxmlformats.org/markup-compatibility/2006">
              <mc:Choice xmlns:a14="http://schemas.microsoft.com/office/drawing/2010/main" Requires="a14">
                <a14:m>
                  <m:oMath xmlns:m="http://schemas.openxmlformats.org/officeDocument/2006/math">
                    <m:r>
                      <a:rPr lang="en-US" sz="1600" i="1">
                        <a:latin typeface="Cambria Math" panose="02040503050406030204" pitchFamily="18" charset="0"/>
                      </a:rPr>
                      <m:t>x</m:t>
                    </m:r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1600" i="0"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</mc:Choice>
              <mc:Fallback>
                <a:r>
                  <a:rPr lang="zh-CN" altLang="en-US" sz="1600" dirty="0">
                    <a:latin typeface="Arial"/>
                    <a:ea typeface="Microsoft YaHei"/>
                  </a:rPr>
                  <a:t>x = 3</a:t>
                </a:r>
              </mc:Fallback>
            </mc:AlternateContent>
            <a:r>
              <a:rPr lang="zh-CN" altLang="en-US" sz="1600" dirty="0">
                <a:latin typeface="Arial"/>
                <a:ea typeface="Microsoft YaHei"/>
              </a:rPr>
              <a:t> or </a:t>
            </a:r>
            <mc:AlternateContent xmlns:mc="http://schemas.openxmlformats.org/markup-compatibility/2006">
              <mc:Choice xmlns:a14="http://schemas.microsoft.com/office/drawing/2010/main" Requires="a14">
                <a14:m>
                  <m:oMath xmlns:m="http://schemas.openxmlformats.org/officeDocument/2006/math">
                    <m:r>
                      <a:rPr lang="en-US" sz="1600" i="1">
                        <a:latin typeface="Cambria Math" panose="02040503050406030204" pitchFamily="18" charset="0"/>
                      </a:rPr>
                      <m:t>x</m:t>
                    </m:r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</m:fPr>
                      <m:num>
                        <m:r>
                          <a:rPr lang="en-US" sz="1600" i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sz="1600" i="0"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</mc:Choice>
              <mc:Fallback>
                <a:r>
                  <a:rPr lang="zh-CN" altLang="en-US" sz="1600" dirty="0">
                    <a:latin typeface="Arial"/>
                    <a:ea typeface="Microsoft YaHei"/>
                  </a:rPr>
                  <a:t>x = -(1)/(4)</a:t>
                </a:r>
              </mc:Fallback>
            </mc:AlternateContent>
            <a:endParaRPr lang="zh-CN" sz="1600"/>
          </a:p>
          <a:p>
            <a:r>
              <a:rPr lang="zh-CN" altLang="en-US" sz="1600" dirty="0">
                <a:latin typeface="Arial"/>
                <a:ea typeface="Microsoft YaHei"/>
              </a:rPr>
              <a:t>Q2 </a:t>
            </a:r>
            <mc:AlternateContent xmlns:mc="http://schemas.openxmlformats.org/markup-compatibility/2006">
              <mc:Choice xmlns:a14="http://schemas.microsoft.com/office/drawing/2010/main" Requires="a14">
                <a14:m>
                  <m:oMath xmlns:m="http://schemas.openxmlformats.org/officeDocument/2006/math">
                    <m:r>
                      <a:rPr lang="en-US" sz="1600" i="1">
                        <a:latin typeface="Cambria Math" panose="02040503050406030204" pitchFamily="18" charset="0"/>
                      </a:rPr>
                      <m:t>x</m:t>
                    </m:r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1600" i="0">
                        <a:latin typeface="Cambria Math" panose="02040503050406030204" pitchFamily="18" charset="0"/>
                      </a:rPr>
                      <m:t>1.317</m:t>
                    </m:r>
                  </m:oMath>
                </a14:m>
              </mc:Choice>
              <mc:Fallback>
                <a:r>
                  <a:rPr lang="zh-CN" altLang="en-US" sz="1600" dirty="0">
                    <a:latin typeface="Arial"/>
                    <a:ea typeface="Microsoft YaHei"/>
                  </a:rPr>
                  <a:t>x = 1.317</a:t>
                </a:r>
              </mc:Fallback>
            </mc:AlternateContent>
            <a:r>
              <a:rPr lang="zh-CN" altLang="en-US" sz="1600" dirty="0">
                <a:latin typeface="Arial"/>
                <a:ea typeface="Microsoft YaHei"/>
              </a:rPr>
              <a:t> or </a:t>
            </a:r>
            <mc:AlternateContent xmlns:mc="http://schemas.openxmlformats.org/markup-compatibility/2006">
              <mc:Choice xmlns:a14="http://schemas.microsoft.com/office/drawing/2010/main" Requires="a14">
                <a14:m>
                  <m:oMath xmlns:m="http://schemas.openxmlformats.org/officeDocument/2006/math">
                    <m:r>
                      <a:rPr lang="en-US" sz="1600" i="1">
                        <a:latin typeface="Cambria Math" panose="02040503050406030204" pitchFamily="18" charset="0"/>
                      </a:rPr>
                      <m:t>x</m:t>
                    </m:r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sz="1600" i="0">
                        <a:latin typeface="Cambria Math" panose="02040503050406030204" pitchFamily="18" charset="0"/>
                      </a:rPr>
                      <m:t>5.317</m:t>
                    </m:r>
                  </m:oMath>
                </a14:m>
              </mc:Choice>
              <mc:Fallback>
                <a:r>
                  <a:rPr lang="zh-CN" altLang="en-US" sz="1600" dirty="0">
                    <a:latin typeface="Arial"/>
                    <a:ea typeface="Microsoft YaHei"/>
                  </a:rPr>
                  <a:t>x = -5.317</a:t>
                </a:r>
              </mc:Fallback>
            </mc:AlternateContent>
            <a:endParaRPr lang="zh-CN" sz="1600"/>
          </a:p>
          <a:p>
            <a:r>
              <a:rPr lang="zh-CN" altLang="en-US" sz="1600" dirty="0">
                <a:latin typeface="Arial"/>
                <a:ea typeface="Microsoft YaHei"/>
              </a:rPr>
              <a:t>Q3 </a:t>
            </a:r>
            <mc:AlternateContent xmlns:mc="http://schemas.openxmlformats.org/markup-compatibility/2006">
              <mc:Choice xmlns:a14="http://schemas.microsoft.com/office/drawing/2010/main" Requires="a14">
                <a14:m>
                  <m:oMath xmlns:m="http://schemas.openxmlformats.org/officeDocument/2006/math">
                    <m:r>
                      <a:rPr lang="en-US" sz="1600" i="1">
                        <a:latin typeface="Cambria Math" panose="02040503050406030204" pitchFamily="18" charset="0"/>
                      </a:rPr>
                      <m:t>x</m:t>
                    </m:r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</a:rPr>
                      <m:t>±</m:t>
                    </m:r>
                    <m:r>
                      <a:rPr lang="en-US" sz="1600" i="0"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</mc:Choice>
              <mc:Fallback>
                <a:r>
                  <a:rPr lang="zh-CN" altLang="en-US" sz="1600" dirty="0">
                    <a:latin typeface="Arial"/>
                    <a:ea typeface="Microsoft YaHei"/>
                  </a:rPr>
                  <a:t>x = ± 1</a:t>
                </a:r>
              </mc:Fallback>
            </mc:AlternateContent>
            <a:r>
              <a:rPr lang="zh-CN" altLang="en-US" sz="1600" dirty="0">
                <a:latin typeface="Arial"/>
                <a:ea typeface="Microsoft YaHei"/>
              </a:rPr>
              <a:t> or </a:t>
            </a:r>
            <mc:AlternateContent xmlns:mc="http://schemas.openxmlformats.org/markup-compatibility/2006">
              <mc:Choice xmlns:a14="http://schemas.microsoft.com/office/drawing/2010/main" Requires="a14">
                <a14:m>
                  <m:oMath xmlns:m="http://schemas.openxmlformats.org/officeDocument/2006/math">
                    <m:r>
                      <a:rPr lang="en-US" sz="1600" i="1">
                        <a:latin typeface="Cambria Math" panose="02040503050406030204" pitchFamily="18" charset="0"/>
                      </a:rPr>
                      <m:t>x</m:t>
                    </m:r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</a:rPr>
                      <m:t>±</m:t>
                    </m:r>
                    <m:r>
                      <a:rPr lang="en-US" sz="1600" i="0"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</mc:Choice>
              <mc:Fallback>
                <a:r>
                  <a:rPr lang="zh-CN" altLang="en-US" sz="1600" dirty="0">
                    <a:latin typeface="Arial"/>
                    <a:ea typeface="Microsoft YaHei"/>
                  </a:rPr>
                  <a:t>x = ± 3</a:t>
                </a:r>
              </mc:Fallback>
            </mc:AlternateContent>
            <a:endParaRPr lang="zh-CN" sz="1600"/>
          </a:p>
          <a:p>
            <a:r>
              <a:rPr lang="zh-CN" altLang="en-US" sz="1600" dirty="0">
                <a:latin typeface="Arial"/>
                <a:ea typeface="Microsoft YaHei"/>
              </a:rPr>
              <a:t>Short solution:</a:t>
            </a:r>
            <a:endParaRPr lang="zh-CN" sz="1600"/>
          </a:p>
          <a:p>
            <a:r>
              <a:rPr lang="zh-CN" altLang="en-US" sz="1600" dirty="0">
                <a:latin typeface="Arial"/>
                <a:ea typeface="Microsoft YaHei"/>
              </a:rPr>
              <a:t>Q1 </a:t>
            </a:r>
            <mc:AlternateContent xmlns:mc="http://schemas.openxmlformats.org/markup-compatibility/2006">
              <mc:Choice xmlns:a14="http://schemas.microsoft.com/office/drawing/2010/main" Requires="a14">
                <a14:m>
                  <m:oMath xmlns:m="http://schemas.openxmlformats.org/officeDocument/2006/math">
                    <m:r>
                      <a:rPr lang="en-US" sz="1600" i="0">
                        <a:latin typeface="Cambria Math" panose="02040503050406030204" pitchFamily="18" charset="0"/>
                      </a:rPr>
                      <m:t>4</m:t>
                    </m:r>
                    <m:sSup>
                      <m:e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x</m:t>
                        </m:r>
                      </m:e>
                      <m:sup>
                        <m:r>
                          <a:rPr lang="en-US" sz="1600" i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sz="1600" i="0">
                        <a:latin typeface="Cambria Math" panose="02040503050406030204" pitchFamily="18" charset="0"/>
                      </a:rPr>
                      <m:t>11</m:t>
                    </m:r>
                    <m:r>
                      <a:rPr lang="en-US" sz="1600" i="1">
                        <a:latin typeface="Cambria Math" panose="02040503050406030204" pitchFamily="18" charset="0"/>
                      </a:rPr>
                      <m:t>x</m:t>
                    </m:r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sz="1600" i="0"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("/>
                        <m:endChr m:val=")"/>
                        <m:sepChr m:val=""/>
                        <m:grow/>
                      </m:dPr>
                      <m:e>
                        <m:r>
                          <a:rPr lang="en-US" sz="1600" i="0"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x</m:t>
                        </m:r>
                        <m:r>
                          <m:rPr>
                            <m:sty m:val="p"/>
                          </m:rPr>
                          <a:rPr lang="en-US" sz="1600" i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sz="1600" i="0"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  <m:d>
                      <m:dPr>
                        <m:begChr m:val="("/>
                        <m:endChr m:val=")"/>
                        <m:sepChr m:val=""/>
                        <m:grow/>
                      </m:dPr>
                      <m:e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x</m:t>
                        </m:r>
                        <m:r>
                          <m:rPr>
                            <m:sty m:val="p"/>
                          </m:rPr>
                          <a:rPr lang="en-US" sz="1600" i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sz="1600" i="0"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d>
                  </m:oMath>
                </a14:m>
              </mc:Choice>
              <mc:Fallback>
                <a:r>
                  <a:rPr lang="zh-CN" altLang="en-US" sz="1600" dirty="0">
                    <a:latin typeface="Arial"/>
                    <a:ea typeface="Microsoft YaHei"/>
                  </a:rPr>
                  <a:t>4x^2 - 11x - 3 = (4x + 1)(x - 3)</a:t>
                </a:r>
              </mc:Fallback>
            </mc:AlternateContent>
            <a:r>
              <a:rPr lang="zh-CN" altLang="en-US" sz="1600" dirty="0">
                <a:latin typeface="Arial"/>
                <a:ea typeface="Microsoft YaHei"/>
              </a:rPr>
              <a:t> (u)</a:t>
            </a:r>
            <a:endParaRPr lang="zh-CN" sz="1600"/>
          </a:p>
          <a:p>
            <a:r>
              <a:rPr lang="zh-CN" altLang="en-US" sz="1600" dirty="0">
                <a:latin typeface="Arial"/>
                <a:ea typeface="Microsoft YaHei"/>
              </a:rPr>
              <a:t>Q2 </a:t>
            </a:r>
            <mc:AlternateContent xmlns:mc="http://schemas.openxmlformats.org/markup-compatibility/2006">
              <mc:Choice xmlns:a14="http://schemas.microsoft.com/office/drawing/2010/main" Requires="a14">
                <a14:m>
                  <m:oMath xmlns:m="http://schemas.openxmlformats.org/officeDocument/2006/math">
                    <m:r>
                      <a:rPr lang="en-US" sz="1600" i="1">
                        <a:latin typeface="Cambria Math" panose="02040503050406030204" pitchFamily="18" charset="0"/>
                      </a:rPr>
                      <m:t>x</m:t>
                    </m:r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sz="1600" i="0"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</a:rPr>
                      <m:t>±</m:t>
                    </m:r>
                    <m:rad>
                      <m:radPr>
                        <m:degHide m:val="on"/>
                      </m:radPr>
                      <m:deg/>
                      <m:e>
                        <m:r>
                          <a:rPr lang="en-US" sz="1600" i="0">
                            <a:latin typeface="Cambria Math" panose="02040503050406030204" pitchFamily="18" charset="0"/>
                          </a:rPr>
                          <m:t>11</m:t>
                        </m:r>
                      </m:e>
                    </m:rad>
                  </m:oMath>
                </a14:m>
              </mc:Choice>
              <mc:Fallback>
                <a:r>
                  <a:rPr lang="zh-CN" altLang="en-US" sz="1600" dirty="0">
                    <a:latin typeface="Arial"/>
                    <a:ea typeface="Microsoft YaHei"/>
                  </a:rPr>
                  <a:t>x = -2 ± √(11)</a:t>
                </a:r>
              </mc:Fallback>
            </mc:AlternateContent>
            <a:r>
              <a:rPr lang="zh-CN" altLang="en-US" sz="1600" dirty="0">
                <a:latin typeface="Arial"/>
                <a:ea typeface="Microsoft YaHei"/>
              </a:rPr>
              <a:t> (u)</a:t>
            </a:r>
            <a:endParaRPr lang="zh-CN" sz="1600"/>
          </a:p>
          <a:p>
            <a:r>
              <a:rPr lang="zh-CN" altLang="en-US" sz="1600" dirty="0">
                <a:latin typeface="Arial"/>
                <a:ea typeface="Microsoft YaHei"/>
              </a:rPr>
              <a:t>Q3 </a:t>
            </a:r>
            <mc:AlternateContent xmlns:mc="http://schemas.openxmlformats.org/markup-compatibility/2006">
              <mc:Choice xmlns:a14="http://schemas.microsoft.com/office/drawing/2010/main" Requires="a14">
                <a14:m>
                  <m:oMath xmlns:m="http://schemas.openxmlformats.org/officeDocument/2006/math">
                    <m:d>
                      <m:dPr>
                        <m:begChr m:val="("/>
                        <m:endChr m:val=")"/>
                        <m:sepChr m:val=""/>
                        <m:grow/>
                      </m:dPr>
                      <m:e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u</m:t>
                        </m:r>
                        <m:r>
                          <m:rPr>
                            <m:sty m:val="p"/>
                          </m:rPr>
                          <a:rPr lang="en-US" sz="1600" i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sz="1600" i="0"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  <m:d>
                      <m:dPr>
                        <m:begChr m:val="("/>
                        <m:endChr m:val=")"/>
                        <m:sepChr m:val=""/>
                        <m:grow/>
                      </m:dPr>
                      <m:e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u</m:t>
                        </m:r>
                        <m:r>
                          <m:rPr>
                            <m:sty m:val="p"/>
                          </m:rPr>
                          <a:rPr lang="en-US" sz="1600" i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sz="1600" i="0">
                            <a:latin typeface="Cambria Math" panose="02040503050406030204" pitchFamily="18" charset="0"/>
                          </a:rPr>
                          <m:t>9</m:t>
                        </m:r>
                      </m:e>
                    </m:d>
                  </m:oMath>
                </a14:m>
              </mc:Choice>
              <mc:Fallback>
                <a:r>
                  <a:rPr lang="zh-CN" altLang="en-US" sz="1600" dirty="0">
                    <a:latin typeface="Arial"/>
                    <a:ea typeface="Microsoft YaHei"/>
                  </a:rPr>
                  <a:t>(u - 1)(u - 9)</a:t>
                </a:r>
              </mc:Fallback>
            </mc:AlternateContent>
            <a:r>
              <a:rPr lang="zh-CN" altLang="en-US" sz="1600" dirty="0">
                <a:latin typeface="Arial"/>
                <a:ea typeface="Microsoft YaHei"/>
              </a:rPr>
              <a:t> (r)</a:t>
            </a:r>
            <a:endParaRPr lang="zh-CN" sz="1600"/>
          </a:p>
          <a:p>
            <a:r>
              <a:rPr lang="zh-CN" altLang="en-US" sz="1600" dirty="0">
                <a:latin typeface="Arial"/>
                <a:ea typeface="Microsoft YaHei"/>
              </a:rPr>
              <a:t>Watch for:</a:t>
            </a:r>
            <a:endParaRPr lang="zh-CN" sz="1600"/>
          </a:p>
          <a:p>
            <a:r>
              <a:rPr lang="zh-CN" altLang="en-US" sz="1600" dirty="0">
                <a:latin typeface="Arial"/>
                <a:ea typeface="Microsoft YaHei"/>
              </a:rPr>
              <a:t>Q1 先移项（L19）</a:t>
            </a:r>
            <a:endParaRPr lang="zh-CN" sz="1600"/>
          </a:p>
          <a:p>
            <a:r>
              <a:rPr lang="zh-CN" altLang="en-US" sz="1600" dirty="0">
                <a:latin typeface="Arial"/>
                <a:ea typeface="Microsoft YaHei"/>
              </a:rPr>
              <a:t>Q2 完全平方：</a:t>
            </a:r>
            <mc:AlternateContent xmlns:mc="http://schemas.openxmlformats.org/markup-compatibility/2006">
              <mc:Choice xmlns:a14="http://schemas.microsoft.com/office/drawing/2010/main" Requires="a14">
                <a14:m>
                  <m:oMath xmlns:m="http://schemas.openxmlformats.org/officeDocument/2006/math">
                    <m:sSup>
                      <m:e>
                        <m:d>
                          <m:dPr>
                            <m:begChr m:val="("/>
                            <m:endChr m:val=")"/>
                            <m:sepChr m:val=""/>
                            <m:grow/>
                          </m:dPr>
                          <m:e>
                            <m:r>
                              <a:rPr lang="en-US" sz="1600" i="1">
                                <a:latin typeface="Cambria Math" panose="02040503050406030204" pitchFamily="18" charset="0"/>
                              </a:rPr>
                              <m:t>x</m:t>
                            </m:r>
                            <m:r>
                              <m:rPr>
                                <m:sty m:val="p"/>
                              </m:rPr>
                              <a:rPr lang="en-US" sz="1600" i="0"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US" sz="1600" i="0"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d>
                      </m:e>
                      <m:sup>
                        <m:r>
                          <a:rPr lang="en-US" sz="1600" i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1600" i="0">
                        <a:latin typeface="Cambria Math" panose="02040503050406030204" pitchFamily="18" charset="0"/>
                      </a:rPr>
                      <m:t>11</m:t>
                    </m:r>
                  </m:oMath>
                </a14:m>
              </mc:Choice>
              <mc:Fallback>
                <a:r>
                  <a:rPr lang="zh-CN" altLang="en-US" sz="1600" dirty="0">
                    <a:latin typeface="Arial"/>
                    <a:ea typeface="Microsoft YaHei"/>
                  </a:rPr>
                  <a:t>(x + 2)^2 = 11</a:t>
                </a:r>
              </mc:Fallback>
            </mc:AlternateContent>
            <a:r>
              <a:rPr lang="zh-CN" altLang="en-US" sz="1600" dirty="0">
                <a:latin typeface="Arial"/>
                <a:ea typeface="Microsoft YaHei"/>
              </a:rPr>
              <a:t> 也可以</a:t>
            </a:r>
            <a:endParaRPr lang="zh-CN" sz="160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>
            <a:noAutofit/>
          </a:bodyPr>
          <a:lstStyle/>
          <a:p>
            <a:r>
              <a:rPr lang="zh-CN" altLang="en-US" sz="1600" dirty="0">
                <a:latin typeface="Arial"/>
                <a:ea typeface="Microsoft YaHei"/>
              </a:rPr>
              <a:t>Gap 4; 3</a:t>
            </a:r>
            <a:endParaRPr lang="zh-CN" sz="1600"/>
          </a:p>
          <a:p>
            <a:r>
              <a:rPr lang="zh-CN" altLang="en-US" sz="1600" dirty="0">
                <a:latin typeface="Arial"/>
                <a:ea typeface="Microsoft YaHei"/>
              </a:rPr>
              <a:t>Q </a:t>
            </a:r>
            <mc:AlternateContent xmlns:mc="http://schemas.openxmlformats.org/markup-compatibility/2006">
              <mc:Choice xmlns:a14="http://schemas.microsoft.com/office/drawing/2010/main" Requires="a14">
                <a14:m>
                  <m:oMath xmlns:m="http://schemas.openxmlformats.org/officeDocument/2006/math">
                    <m:r>
                      <a:rPr lang="en-US" sz="1600" i="1">
                        <a:latin typeface="Cambria Math" panose="02040503050406030204" pitchFamily="18" charset="0"/>
                      </a:rPr>
                      <m:t>x</m:t>
                    </m:r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1600" i="0"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</mc:Choice>
              <mc:Fallback>
                <a:r>
                  <a:rPr lang="zh-CN" altLang="en-US" sz="1600" dirty="0">
                    <a:latin typeface="Arial"/>
                    <a:ea typeface="Microsoft YaHei"/>
                  </a:rPr>
                  <a:t>x = 4</a:t>
                </a:r>
              </mc:Fallback>
            </mc:AlternateContent>
            <a:r>
              <a:rPr lang="zh-CN" altLang="en-US" sz="1600" dirty="0">
                <a:latin typeface="Arial"/>
                <a:ea typeface="Microsoft YaHei"/>
              </a:rPr>
              <a:t> must make the bracket zero: </a:t>
            </a:r>
            <mc:AlternateContent xmlns:mc="http://schemas.openxmlformats.org/markup-compatibility/2006">
              <mc:Choice xmlns:a14="http://schemas.microsoft.com/office/drawing/2010/main" Requires="a14">
                <a14:m>
                  <m:oMath xmlns:m="http://schemas.openxmlformats.org/officeDocument/2006/math">
                    <m:r>
                      <a:rPr lang="en-US" sz="1600" i="0"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sz="1600" i="0"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1600" i="0"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</mc:Choice>
              <mc:Fallback>
                <a:r>
                  <a:rPr lang="zh-CN" altLang="en-US" sz="1600" dirty="0">
                    <a:latin typeface="Arial"/>
                    <a:ea typeface="Microsoft YaHei"/>
                  </a:rPr>
                  <a:t>4 - 4 = 0</a:t>
                </a:r>
              </mc:Fallback>
            </mc:AlternateContent>
            <a:endParaRPr lang="zh-CN" sz="1600"/>
          </a:p>
          <a:p>
            <a:r>
              <a:rPr lang="zh-CN" altLang="en-US" sz="1600" dirty="0">
                <a:latin typeface="Arial"/>
                <a:ea typeface="Microsoft YaHei"/>
              </a:rPr>
              <a:t>Short solution:</a:t>
            </a:r>
            <a:endParaRPr lang="zh-CN" sz="1600"/>
          </a:p>
          <a:p>
            <a:r>
              <a:rPr lang="zh-CN" altLang="en-US" sz="1600" dirty="0">
                <a:latin typeface="Arial"/>
                <a:ea typeface="Microsoft YaHei"/>
              </a:rPr>
              <a:t>Q 根是让括号等于 0 的数；倒推回去符号相反</a:t>
            </a:r>
            <a:endParaRPr lang="zh-CN" sz="1600"/>
          </a:p>
          <a:p>
            <a:r>
              <a:rPr lang="zh-CN" altLang="en-US" sz="1600" dirty="0">
                <a:latin typeface="Arial"/>
                <a:ea typeface="Microsoft YaHei"/>
              </a:rPr>
              <a:t>Watch for:</a:t>
            </a:r>
            <a:endParaRPr lang="zh-CN" sz="1600"/>
          </a:p>
          <a:p>
            <mc:AlternateContent xmlns:mc="http://schemas.openxmlformats.org/markup-compatibility/2006">
              <mc:Choice xmlns:a14="http://schemas.microsoft.com/office/drawing/2010/main" Requires="a14">
                <a14:m>
                  <m:oMath xmlns:m="http://schemas.openxmlformats.org/officeDocument/2006/math">
                    <m:d>
                      <m:dPr>
                        <m:begChr m:val="("/>
                        <m:endChr m:val=")"/>
                        <m:sepChr m:val=""/>
                        <m:grow/>
                      </m:dPr>
                      <m:e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x</m:t>
                        </m:r>
                        <m:r>
                          <m:rPr>
                            <m:sty m:val="p"/>
                          </m:rPr>
                          <a:rPr lang="en-US" sz="1600" i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sz="1600" i="0">
                            <a:latin typeface="Cambria Math" panose="02040503050406030204" pitchFamily="18" charset="0"/>
                          </a:rPr>
                          <m:t>4</m:t>
                        </m:r>
                      </m:e>
                    </m:d>
                    <m:d>
                      <m:dPr>
                        <m:begChr m:val="("/>
                        <m:endChr m:val=")"/>
                        <m:sepChr m:val=""/>
                        <m:grow/>
                      </m:dPr>
                      <m:e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x</m:t>
                        </m:r>
                        <m:r>
                          <m:rPr>
                            <m:sty m:val="p"/>
                          </m:rPr>
                          <a:rPr lang="en-US" sz="1600" i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sz="1600" i="0"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d>
                  </m:oMath>
                </a14:m>
              </mc:Choice>
              <mc:Fallback>
                <a:r>
                  <a:rPr lang="zh-CN" altLang="en-US" sz="1600" dirty="0">
                    <a:latin typeface="Arial"/>
                    <a:ea typeface="Microsoft YaHei"/>
                  </a:rPr>
                  <a:t>(x + 4)(x - 3)</a:t>
                </a:r>
              </mc:Fallback>
            </mc:AlternateContent>
            <a:r>
              <a:rPr lang="zh-CN" altLang="en-US" sz="1600" dirty="0">
                <a:latin typeface="Arial"/>
                <a:ea typeface="Microsoft YaHei"/>
              </a:rPr>
              <a:t>：符号反了（L17）</a:t>
            </a:r>
            <a:endParaRPr lang="zh-CN" sz="160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>
            <a:noAutofit/>
          </a:bodyPr>
          <a:lstStyle/>
          <a:p>
            <a:r>
              <a:rPr lang="zh-CN" altLang="en-US" sz="1600" dirty="0">
                <a:latin typeface="Arial"/>
                <a:ea typeface="Microsoft YaHei"/>
              </a:rPr>
              <a:t>Gap </a:t>
            </a:r>
            <mc:AlternateContent xmlns:mc="http://schemas.openxmlformats.org/markup-compatibility/2006">
              <mc:Choice xmlns:a14="http://schemas.microsoft.com/office/drawing/2010/main" Requires="a14">
                <a14:m>
                  <m:oMath xmlns:m="http://schemas.openxmlformats.org/officeDocument/2006/math">
                    <m:r>
                      <a:rPr lang="en-US" sz="1600" i="0">
                        <a:latin typeface="Cambria Math" panose="02040503050406030204" pitchFamily="18" charset="0"/>
                      </a:rPr>
                      <m:t>5</m:t>
                    </m:r>
                    <m:r>
                      <a:rPr lang="en-US" sz="1600" i="1">
                        <a:latin typeface="Cambria Math" panose="02040503050406030204" pitchFamily="18" charset="0"/>
                      </a:rPr>
                      <m:t>x</m:t>
                    </m:r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sz="1600" i="0"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</mc:Choice>
              <mc:Fallback>
                <a:r>
                  <a:rPr lang="zh-CN" altLang="en-US" sz="1600" dirty="0">
                    <a:latin typeface="Arial"/>
                    <a:ea typeface="Microsoft YaHei"/>
                  </a:rPr>
                  <a:t>5x - 3</a:t>
                </a:r>
              </mc:Fallback>
            </mc:AlternateContent>
            <a:endParaRPr lang="zh-CN" sz="1600"/>
          </a:p>
          <a:p>
            <a:r>
              <a:rPr lang="zh-CN" altLang="en-US" sz="1600" dirty="0">
                <a:latin typeface="Arial"/>
                <a:ea typeface="Microsoft YaHei"/>
              </a:rPr>
              <a:t>Q it gives whole-number coefficients straight away</a:t>
            </a:r>
            <a:endParaRPr lang="zh-CN" sz="1600"/>
          </a:p>
          <a:p>
            <a:r>
              <a:rPr lang="zh-CN" altLang="en-US" sz="1600" dirty="0">
                <a:latin typeface="Arial"/>
                <a:ea typeface="Microsoft YaHei"/>
              </a:rPr>
              <a:t>Short solution:</a:t>
            </a:r>
            <a:endParaRPr lang="zh-CN" sz="1600"/>
          </a:p>
          <a:p>
            <a:r>
              <a:rPr lang="zh-CN" altLang="en-US" sz="1600" dirty="0">
                <a:latin typeface="Arial"/>
                <a:ea typeface="Microsoft YaHei"/>
              </a:rPr>
              <a:t>Q 用 </a:t>
            </a:r>
            <mc:AlternateContent xmlns:mc="http://schemas.openxmlformats.org/markup-compatibility/2006">
              <mc:Choice xmlns:a14="http://schemas.microsoft.com/office/drawing/2010/main" Requires="a14">
                <a14:m>
                  <m:oMath xmlns:m="http://schemas.openxmlformats.org/officeDocument/2006/math">
                    <m:d>
                      <m:dPr>
                        <m:begChr m:val="("/>
                        <m:endChr m:val=")"/>
                        <m:sepChr m:val=""/>
                        <m:grow/>
                      </m:dPr>
                      <m:e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x</m:t>
                        </m:r>
                        <m:r>
                          <m:rPr>
                            <m:sty m:val="p"/>
                          </m:rPr>
                          <a:rPr lang="en-US" sz="1600" i="0"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</m:fPr>
                          <m:num>
                            <m:r>
                              <a:rPr lang="en-US" sz="1600" i="0">
                                <a:latin typeface="Cambria Math" panose="02040503050406030204" pitchFamily="18" charset="0"/>
                              </a:rPr>
                              <m:t>3</m:t>
                            </m:r>
                          </m:num>
                          <m:den>
                            <m:r>
                              <a:rPr lang="en-US" sz="1600" i="0">
                                <a:latin typeface="Cambria Math" panose="02040503050406030204" pitchFamily="18" charset="0"/>
                              </a:rPr>
                              <m:t>5</m:t>
                            </m:r>
                          </m:den>
                        </m:f>
                      </m:e>
                    </m:d>
                  </m:oMath>
                </a14:m>
              </mc:Choice>
              <mc:Fallback>
                <a:r>
                  <a:rPr lang="zh-CN" altLang="en-US" sz="1600" dirty="0">
                    <a:latin typeface="Arial"/>
                    <a:ea typeface="Microsoft YaHei"/>
                  </a:rPr>
                  <a:t>(x - (3)/(5))</a:t>
                </a:r>
              </mc:Fallback>
            </mc:AlternateContent>
            <a:r>
              <a:rPr lang="zh-CN" altLang="en-US" sz="1600" dirty="0">
                <a:latin typeface="Arial"/>
                <a:ea typeface="Microsoft YaHei"/>
              </a:rPr>
              <a:t> 也可以，但最后整个方程要乘 5</a:t>
            </a:r>
            <a:endParaRPr lang="zh-CN" sz="1600"/>
          </a:p>
          <a:p>
            <a:r>
              <a:rPr lang="zh-CN" altLang="en-US" sz="1600" dirty="0">
                <a:latin typeface="Arial"/>
                <a:ea typeface="Microsoft YaHei"/>
              </a:rPr>
              <a:t>Watch for:</a:t>
            </a:r>
            <a:endParaRPr lang="zh-CN" sz="1600"/>
          </a:p>
          <a:p>
            <a:r>
              <a:rPr lang="zh-CN" altLang="en-US" sz="1600" dirty="0">
                <a:latin typeface="Arial"/>
                <a:ea typeface="Microsoft YaHei"/>
              </a:rPr>
              <a:t>题目要 whole numbers 时留分数：只算 u（L18）</a:t>
            </a:r>
            <a:endParaRPr lang="zh-CN" sz="160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>
            <a:noAutofit/>
          </a:bodyPr>
          <a:lstStyle/>
          <a:p>
            <a:r>
              <a:rPr lang="zh-CN" altLang="en-US" sz="1600" dirty="0">
                <a:latin typeface="Arial"/>
                <a:ea typeface="Microsoft YaHei"/>
              </a:rPr>
              <a:t>Gap 1; </a:t>
            </a:r>
            <mc:AlternateContent xmlns:mc="http://schemas.openxmlformats.org/markup-compatibility/2006">
              <mc:Choice xmlns:a14="http://schemas.microsoft.com/office/drawing/2010/main"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sz="1600" i="0"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</mc:Choice>
              <mc:Fallback>
                <a:r>
                  <a:rPr lang="zh-CN" altLang="en-US" sz="1600" dirty="0">
                    <a:latin typeface="Arial"/>
                    <a:ea typeface="Microsoft YaHei"/>
                  </a:rPr>
                  <a:t>-5</a:t>
                </a:r>
              </mc:Fallback>
            </mc:AlternateContent>
            <a:endParaRPr lang="zh-CN" sz="1600"/>
          </a:p>
          <a:p>
            <a:r>
              <a:rPr lang="zh-CN" altLang="en-US" sz="1600" dirty="0">
                <a:latin typeface="Arial"/>
                <a:ea typeface="Microsoft YaHei"/>
              </a:rPr>
              <a:t>Q the value of </a:t>
            </a:r>
            <mc:AlternateContent xmlns:mc="http://schemas.openxmlformats.org/markup-compatibility/2006">
              <mc:Choice xmlns:a14="http://schemas.microsoft.com/office/drawing/2010/main" Requires="a14">
                <a14:m>
                  <m:oMath xmlns:m="http://schemas.openxmlformats.org/officeDocument/2006/math">
                    <m:r>
                      <a:rPr lang="en-US" sz="1600" i="1">
                        <a:latin typeface="Cambria Math" panose="02040503050406030204" pitchFamily="18" charset="0"/>
                      </a:rPr>
                      <m:t>a</m:t>
                    </m:r>
                  </m:oMath>
                </a14:m>
              </mc:Choice>
              <mc:Fallback>
                <a:r>
                  <a:rPr lang="zh-CN" altLang="en-US" sz="1600" dirty="0">
                    <a:latin typeface="Arial"/>
                    <a:ea typeface="Microsoft YaHei"/>
                  </a:rPr>
                  <a:t>a</a:t>
                </a:r>
              </mc:Fallback>
            </mc:AlternateContent>
            <a:r>
              <a:rPr lang="zh-CN" altLang="en-US" sz="1600" dirty="0">
                <a:latin typeface="Arial"/>
                <a:ea typeface="Microsoft YaHei"/>
              </a:rPr>
              <a:t>: </a:t>
            </a:r>
            <mc:AlternateContent xmlns:mc="http://schemas.openxmlformats.org/markup-compatibility/2006">
              <mc:Choice xmlns:a14="http://schemas.microsoft.com/office/drawing/2010/main" Requires="a14">
                <a14:m>
                  <m:oMath xmlns:m="http://schemas.openxmlformats.org/officeDocument/2006/math">
                    <m:r>
                      <a:rPr lang="en-US" sz="1600" i="1">
                        <a:latin typeface="Cambria Math" panose="02040503050406030204" pitchFamily="18" charset="0"/>
                      </a:rPr>
                      <m:t>a</m:t>
                    </m:r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1600" i="0"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</mc:Choice>
              <mc:Fallback>
                <a:r>
                  <a:rPr lang="zh-CN" altLang="en-US" sz="1600" dirty="0">
                    <a:latin typeface="Arial"/>
                    <a:ea typeface="Microsoft YaHei"/>
                  </a:rPr>
                  <a:t>a = 2</a:t>
                </a:r>
              </mc:Fallback>
            </mc:AlternateContent>
            <a:r>
              <a:rPr lang="zh-CN" altLang="en-US" sz="1600" dirty="0">
                <a:latin typeface="Arial"/>
                <a:ea typeface="Microsoft YaHei"/>
              </a:rPr>
              <a:t>, so </a:t>
            </a:r>
            <mc:AlternateContent xmlns:mc="http://schemas.openxmlformats.org/markup-compatibility/2006">
              <mc:Choice xmlns:a14="http://schemas.microsoft.com/office/drawing/2010/main" Requires="a14">
                <a14:m>
                  <m:oMath xmlns:m="http://schemas.openxmlformats.org/officeDocument/2006/math">
                    <m:r>
                      <a:rPr lang="en-US" sz="1600" i="1">
                        <a:latin typeface="Cambria Math" panose="02040503050406030204" pitchFamily="18" charset="0"/>
                      </a:rPr>
                      <m:t>y</m:t>
                    </m:r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1600" i="0"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x</m:t>
                        </m:r>
                      </m:e>
                      <m:sup>
                        <m:r>
                          <a:rPr lang="en-US" sz="1600" i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sz="1600" i="0">
                        <a:latin typeface="Cambria Math" panose="02040503050406030204" pitchFamily="18" charset="0"/>
                      </a:rPr>
                      <m:t>8</m:t>
                    </m:r>
                    <m:r>
                      <a:rPr lang="en-US" sz="1600" i="1">
                        <a:latin typeface="Cambria Math" panose="02040503050406030204" pitchFamily="18" charset="0"/>
                      </a:rPr>
                      <m:t>x</m:t>
                    </m:r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sz="1600" i="0">
                        <a:latin typeface="Cambria Math" panose="02040503050406030204" pitchFamily="18" charset="0"/>
                      </a:rPr>
                      <m:t>10</m:t>
                    </m:r>
                  </m:oMath>
                </a14:m>
              </mc:Choice>
              <mc:Fallback>
                <a:r>
                  <a:rPr lang="zh-CN" altLang="en-US" sz="1600" dirty="0">
                    <a:latin typeface="Arial"/>
                    <a:ea typeface="Microsoft YaHei"/>
                  </a:rPr>
                  <a:t>y = 2x^2 - 8x - 10</a:t>
                </a:r>
              </mc:Fallback>
            </mc:AlternateContent>
            <a:endParaRPr lang="zh-CN" sz="1600"/>
          </a:p>
          <a:p>
            <a:r>
              <a:rPr lang="zh-CN" altLang="en-US" sz="1600" dirty="0">
                <a:latin typeface="Arial"/>
                <a:ea typeface="Microsoft YaHei"/>
              </a:rPr>
              <a:t>Short solution:</a:t>
            </a:r>
            <a:endParaRPr lang="zh-CN" sz="1600"/>
          </a:p>
          <a:p>
            <a:r>
              <a:rPr lang="zh-CN" altLang="en-US" sz="1600" dirty="0">
                <a:latin typeface="Arial"/>
                <a:ea typeface="Microsoft YaHei"/>
              </a:rPr>
              <a:t>Q 截距给出两个括号，第三个点求 </a:t>
            </a:r>
            <mc:AlternateContent xmlns:mc="http://schemas.openxmlformats.org/markup-compatibility/2006">
              <mc:Choice xmlns:a14="http://schemas.microsoft.com/office/drawing/2010/main" Requires="a14">
                <a14:m>
                  <m:oMath xmlns:m="http://schemas.openxmlformats.org/officeDocument/2006/math">
                    <m:r>
                      <a:rPr lang="en-US" sz="1600" i="1">
                        <a:latin typeface="Cambria Math" panose="02040503050406030204" pitchFamily="18" charset="0"/>
                      </a:rPr>
                      <m:t>a</m:t>
                    </m:r>
                  </m:oMath>
                </a14:m>
              </mc:Choice>
              <mc:Fallback>
                <a:r>
                  <a:rPr lang="zh-CN" altLang="en-US" sz="1600" dirty="0">
                    <a:latin typeface="Arial"/>
                    <a:ea typeface="Microsoft YaHei"/>
                  </a:rPr>
                  <a:t>a</a:t>
                </a:r>
              </mc:Fallback>
            </mc:AlternateContent>
            <a:r>
              <a:rPr lang="zh-CN" altLang="en-US" sz="1600" dirty="0">
                <a:latin typeface="Arial"/>
                <a:ea typeface="Microsoft YaHei"/>
              </a:rPr>
              <a:t>；代 </a:t>
            </a:r>
            <mc:AlternateContent xmlns:mc="http://schemas.openxmlformats.org/markup-compatibility/2006">
              <mc:Choice xmlns:a14="http://schemas.microsoft.com/office/drawing/2010/main" Requires="a14">
                <a14:m>
                  <m:oMath xmlns:m="http://schemas.openxmlformats.org/officeDocument/2006/math">
                    <m:r>
                      <a:rPr lang="en-US" sz="1600" i="1">
                        <a:latin typeface="Cambria Math" panose="02040503050406030204" pitchFamily="18" charset="0"/>
                      </a:rPr>
                      <m:t>x</m:t>
                    </m:r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1600" i="0"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</mc:Choice>
              <mc:Fallback>
                <a:r>
                  <a:rPr lang="zh-CN" altLang="en-US" sz="1600" dirty="0">
                    <a:latin typeface="Arial"/>
                    <a:ea typeface="Microsoft YaHei"/>
                  </a:rPr>
                  <a:t>x = 0</a:t>
                </a:r>
              </mc:Fallback>
            </mc:AlternateContent>
            <a:r>
              <a:rPr lang="zh-CN" altLang="en-US" sz="1600" dirty="0">
                <a:latin typeface="Arial"/>
                <a:ea typeface="Microsoft YaHei"/>
              </a:rPr>
              <a:t>，</a:t>
            </a:r>
            <mc:AlternateContent xmlns:mc="http://schemas.openxmlformats.org/markup-compatibility/2006">
              <mc:Choice xmlns:a14="http://schemas.microsoft.com/office/drawing/2010/main" Requires="a14">
                <a14:m>
                  <m:oMath xmlns:m="http://schemas.openxmlformats.org/officeDocument/2006/math">
                    <m:r>
                      <a:rPr lang="en-US" sz="1600" i="1">
                        <a:latin typeface="Cambria Math" panose="02040503050406030204" pitchFamily="18" charset="0"/>
                      </a:rPr>
                      <m:t>y</m:t>
                    </m:r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sz="1600" i="0">
                        <a:latin typeface="Cambria Math" panose="02040503050406030204" pitchFamily="18" charset="0"/>
                      </a:rPr>
                      <m:t>10</m:t>
                    </m:r>
                  </m:oMath>
                </a14:m>
              </mc:Choice>
              <mc:Fallback>
                <a:r>
                  <a:rPr lang="zh-CN" altLang="en-US" sz="1600" dirty="0">
                    <a:latin typeface="Arial"/>
                    <a:ea typeface="Microsoft YaHei"/>
                  </a:rPr>
                  <a:t>y = -10</a:t>
                </a:r>
              </mc:Fallback>
            </mc:AlternateContent>
            <a:endParaRPr lang="zh-CN" sz="1600"/>
          </a:p>
          <a:p>
            <a:r>
              <a:rPr lang="zh-CN" altLang="en-US" sz="1600" dirty="0">
                <a:latin typeface="Arial"/>
                <a:ea typeface="Microsoft YaHei"/>
              </a:rPr>
              <a:t>Watch for:</a:t>
            </a:r>
            <a:endParaRPr lang="zh-CN" sz="1600"/>
          </a:p>
          <a:p>
            <a:r>
              <a:rPr lang="zh-CN" altLang="en-US" sz="1600" dirty="0">
                <a:latin typeface="Arial"/>
                <a:ea typeface="Microsoft YaHei"/>
              </a:rPr>
              <a:t>忘了 </a:t>
            </a:r>
            <mc:AlternateContent xmlns:mc="http://schemas.openxmlformats.org/markup-compatibility/2006">
              <mc:Choice xmlns:a14="http://schemas.microsoft.com/office/drawing/2010/main" Requires="a14">
                <a14:m>
                  <m:oMath xmlns:m="http://schemas.openxmlformats.org/officeDocument/2006/math">
                    <m:r>
                      <a:rPr lang="en-US" sz="1600" i="1">
                        <a:latin typeface="Cambria Math" panose="02040503050406030204" pitchFamily="18" charset="0"/>
                      </a:rPr>
                      <m:t>a</m:t>
                    </m:r>
                  </m:oMath>
                </a14:m>
              </mc:Choice>
              <mc:Fallback>
                <a:r>
                  <a:rPr lang="zh-CN" altLang="en-US" sz="1600" dirty="0">
                    <a:latin typeface="Arial"/>
                    <a:ea typeface="Microsoft YaHei"/>
                  </a:rPr>
                  <a:t>a</a:t>
                </a:r>
              </mc:Fallback>
            </mc:AlternateContent>
            <a:r>
              <a:rPr lang="zh-CN" altLang="en-US" sz="1600" dirty="0">
                <a:latin typeface="Arial"/>
                <a:ea typeface="Microsoft YaHei"/>
              </a:rPr>
              <a:t>，写 </a:t>
            </a:r>
            <mc:AlternateContent xmlns:mc="http://schemas.openxmlformats.org/markup-compatibility/2006">
              <mc:Choice xmlns:a14="http://schemas.microsoft.com/office/drawing/2010/main" Requires="a14">
                <a14:m>
                  <m:oMath xmlns:m="http://schemas.openxmlformats.org/officeDocument/2006/math">
                    <m:r>
                      <a:rPr lang="en-US" sz="1600" i="1">
                        <a:latin typeface="Cambria Math" panose="02040503050406030204" pitchFamily="18" charset="0"/>
                      </a:rPr>
                      <m:t>y</m:t>
                    </m:r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("/>
                        <m:endChr m:val=")"/>
                        <m:sepChr m:val=""/>
                        <m:grow/>
                      </m:dPr>
                      <m:e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x</m:t>
                        </m:r>
                        <m:r>
                          <m:rPr>
                            <m:sty m:val="p"/>
                          </m:rPr>
                          <a:rPr lang="en-US" sz="1600" i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sz="1600" i="0"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  <m:d>
                      <m:dPr>
                        <m:begChr m:val="("/>
                        <m:endChr m:val=")"/>
                        <m:sepChr m:val=""/>
                        <m:grow/>
                      </m:dPr>
                      <m:e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x</m:t>
                        </m:r>
                        <m:r>
                          <m:rPr>
                            <m:sty m:val="p"/>
                          </m:rPr>
                          <a:rPr lang="en-US" sz="1600" i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sz="1600" i="0">
                            <a:latin typeface="Cambria Math" panose="02040503050406030204" pitchFamily="18" charset="0"/>
                          </a:rPr>
                          <m:t>5</m:t>
                        </m:r>
                      </m:e>
                    </m:d>
                  </m:oMath>
                </a14:m>
              </mc:Choice>
              <mc:Fallback>
                <a:r>
                  <a:rPr lang="zh-CN" altLang="en-US" sz="1600" dirty="0">
                    <a:latin typeface="Arial"/>
                    <a:ea typeface="Microsoft YaHei"/>
                  </a:rPr>
                  <a:t>y = (x + 1)(x - 5)</a:t>
                </a:r>
              </mc:Fallback>
            </mc:AlternateContent>
            <a:r>
              <a:rPr lang="zh-CN" altLang="en-US" sz="1600" dirty="0">
                <a:latin typeface="Arial"/>
                <a:ea typeface="Microsoft YaHei"/>
              </a:rPr>
              <a:t>：这条抛物线过 </a:t>
            </a:r>
            <mc:AlternateContent xmlns:mc="http://schemas.openxmlformats.org/markup-compatibility/2006">
              <mc:Choice xmlns:a14="http://schemas.microsoft.com/office/drawing/2010/main" Requires="a14">
                <a14:m>
                  <m:oMath xmlns:m="http://schemas.openxmlformats.org/officeDocument/2006/math">
                    <m:d>
                      <m:dPr>
                        <m:begChr m:val="("/>
                        <m:endChr m:val=")"/>
                        <m:sepChr m:val=""/>
                        <m:grow/>
                      </m:dPr>
                      <m:e>
                        <m:r>
                          <a:rPr lang="en-US" sz="1600" i="0"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m:rPr>
                            <m:sty m:val="p"/>
                          </m:rPr>
                          <a:rPr lang="en-US" sz="1600" i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m:rPr>
                            <m:sty m:val="p"/>
                          </m:rPr>
                          <a:rPr lang="en-US" sz="1600" i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sz="1600" i="0">
                            <a:latin typeface="Cambria Math" panose="02040503050406030204" pitchFamily="18" charset="0"/>
                          </a:rPr>
                          <m:t>5</m:t>
                        </m:r>
                      </m:e>
                    </m:d>
                  </m:oMath>
                </a14:m>
              </mc:Choice>
              <mc:Fallback>
                <a:r>
                  <a:rPr lang="zh-CN" altLang="en-US" sz="1600" dirty="0">
                    <a:latin typeface="Arial"/>
                    <a:ea typeface="Microsoft YaHei"/>
                  </a:rPr>
                  <a:t>(0, -5)</a:t>
                </a:r>
              </mc:Fallback>
            </mc:AlternateContent>
            <a:r>
              <a:rPr lang="zh-CN" altLang="en-US" sz="1600" dirty="0">
                <a:latin typeface="Arial"/>
                <a:ea typeface="Microsoft YaHei"/>
              </a:rPr>
              <a:t>，不过 </a:t>
            </a:r>
            <mc:AlternateContent xmlns:mc="http://schemas.openxmlformats.org/markup-compatibility/2006">
              <mc:Choice xmlns:a14="http://schemas.microsoft.com/office/drawing/2010/main" Requires="a14">
                <a14:m>
                  <m:oMath xmlns:m="http://schemas.openxmlformats.org/officeDocument/2006/math">
                    <m:d>
                      <m:dPr>
                        <m:begChr m:val="("/>
                        <m:endChr m:val=")"/>
                        <m:sepChr m:val=""/>
                        <m:grow/>
                      </m:dPr>
                      <m:e>
                        <m:r>
                          <a:rPr lang="en-US" sz="1600" i="0"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m:rPr>
                            <m:sty m:val="p"/>
                          </m:rPr>
                          <a:rPr lang="en-US" sz="1600" i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m:rPr>
                            <m:sty m:val="p"/>
                          </m:rPr>
                          <a:rPr lang="en-US" sz="1600" i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sz="1600" i="0">
                            <a:latin typeface="Cambria Math" panose="02040503050406030204" pitchFamily="18" charset="0"/>
                          </a:rPr>
                          <m:t>10</m:t>
                        </m:r>
                      </m:e>
                    </m:d>
                  </m:oMath>
                </a14:m>
              </mc:Choice>
              <mc:Fallback>
                <a:r>
                  <a:rPr lang="zh-CN" altLang="en-US" sz="1600" dirty="0">
                    <a:latin typeface="Arial"/>
                    <a:ea typeface="Microsoft YaHei"/>
                  </a:rPr>
                  <a:t>(0, -10)</a:t>
                </a:r>
              </mc:Fallback>
            </mc:AlternateContent>
            <a:endParaRPr lang="zh-CN" sz="1600"/>
          </a:p>
          <a:p>
            <a:r>
              <a:rPr lang="zh-CN" altLang="en-US" sz="1600" dirty="0">
                <a:latin typeface="Arial"/>
                <a:ea typeface="Microsoft YaHei"/>
              </a:rPr>
              <a:t>Say it:</a:t>
            </a:r>
            <a:endParaRPr lang="zh-CN" sz="1600"/>
          </a:p>
          <a:p>
            <a:r>
              <a:rPr lang="zh-CN" altLang="en-US" sz="1600" dirty="0">
                <a:latin typeface="Arial"/>
                <a:ea typeface="Microsoft YaHei"/>
              </a:rPr>
              <a:t>parabola = puh-RAB-uh-luh</a:t>
            </a:r>
            <a:endParaRPr lang="zh-CN" sz="160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>
            <a:noAutofit/>
          </a:bodyPr>
          <a:lstStyle/>
          <a:p>
            <a:r>
              <a:rPr lang="zh-CN" altLang="en-US" sz="1600" dirty="0">
                <a:latin typeface="Arial"/>
                <a:ea typeface="Microsoft YaHei"/>
              </a:rPr>
              <a:t>1. the root </a:t>
            </a:r>
            <mc:AlternateContent xmlns:mc="http://schemas.openxmlformats.org/markup-compatibility/2006">
              <mc:Choice xmlns:a14="http://schemas.microsoft.com/office/drawing/2010/main" Requires="a14">
                <a14:m>
                  <m:oMath xmlns:m="http://schemas.openxmlformats.org/officeDocument/2006/math">
                    <m:f>
                      <m:fPr>
                        <m:type m:val="bar"/>
                      </m:fPr>
                      <m:num>
                        <m:r>
                          <a:rPr lang="en-US" sz="1600" i="0"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US" sz="1600" i="0"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</mc:Choice>
              <mc:Fallback>
                <a:r>
                  <a:rPr lang="zh-CN" altLang="en-US" sz="1600" dirty="0">
                    <a:latin typeface="Arial"/>
                    <a:ea typeface="Microsoft YaHei"/>
                  </a:rPr>
                  <a:t>(2)/(3)</a:t>
                </a:r>
              </mc:Fallback>
            </mc:AlternateContent>
            <a:r>
              <a:rPr lang="zh-CN" altLang="en-US" sz="1600" dirty="0">
                <a:latin typeface="Arial"/>
                <a:ea typeface="Microsoft YaHei"/>
              </a:rPr>
              <a:t> gives </a:t>
            </a:r>
            <mc:AlternateContent xmlns:mc="http://schemas.openxmlformats.org/markup-compatibility/2006">
              <mc:Choice xmlns:a14="http://schemas.microsoft.com/office/drawing/2010/main" Requires="a14">
                <a14:m>
                  <m:oMath xmlns:m="http://schemas.openxmlformats.org/officeDocument/2006/math">
                    <m:d>
                      <m:dPr>
                        <m:begChr m:val="("/>
                        <m:endChr m:val=")"/>
                        <m:sepChr m:val=""/>
                        <m:grow/>
                      </m:dPr>
                      <m:e>
                        <m:r>
                          <a:rPr lang="en-US" sz="1600" i="0"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x</m:t>
                        </m:r>
                        <m:r>
                          <m:rPr>
                            <m:sty m:val="p"/>
                          </m:rPr>
                          <a:rPr lang="en-US" sz="1600" i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sz="1600" i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d>
                  </m:oMath>
                </a14:m>
              </mc:Choice>
              <mc:Fallback>
                <a:r>
                  <a:rPr lang="zh-CN" altLang="en-US" sz="1600" dirty="0">
                    <a:latin typeface="Arial"/>
                    <a:ea typeface="Microsoft YaHei"/>
                  </a:rPr>
                  <a:t>(3x - 2)</a:t>
                </a:r>
              </mc:Fallback>
            </mc:AlternateContent>
            <a:r>
              <a:rPr lang="zh-CN" altLang="en-US" sz="1600" dirty="0">
                <a:latin typeface="Arial"/>
                <a:ea typeface="Microsoft YaHei"/>
              </a:rPr>
              <a:t>, and the root </a:t>
            </a:r>
            <mc:AlternateContent xmlns:mc="http://schemas.openxmlformats.org/markup-compatibility/2006">
              <mc:Choice xmlns:a14="http://schemas.microsoft.com/office/drawing/2010/main"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sz="1600" i="0"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</mc:Choice>
              <mc:Fallback>
                <a:r>
                  <a:rPr lang="zh-CN" altLang="en-US" sz="1600" dirty="0">
                    <a:latin typeface="Arial"/>
                    <a:ea typeface="Microsoft YaHei"/>
                  </a:rPr>
                  <a:t>-4</a:t>
                </a:r>
              </mc:Fallback>
            </mc:AlternateContent>
            <a:r>
              <a:rPr lang="zh-CN" altLang="en-US" sz="1600" dirty="0">
                <a:latin typeface="Arial"/>
                <a:ea typeface="Microsoft YaHei"/>
              </a:rPr>
              <a:t> gives </a:t>
            </a:r>
            <mc:AlternateContent xmlns:mc="http://schemas.openxmlformats.org/markup-compatibility/2006">
              <mc:Choice xmlns:a14="http://schemas.microsoft.com/office/drawing/2010/main" Requires="a14">
                <a14:m>
                  <m:oMath xmlns:m="http://schemas.openxmlformats.org/officeDocument/2006/math">
                    <m:d>
                      <m:dPr>
                        <m:begChr m:val="("/>
                        <m:endChr m:val=")"/>
                        <m:sepChr m:val=""/>
                        <m:grow/>
                      </m:dPr>
                      <m:e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x</m:t>
                        </m:r>
                        <m:r>
                          <m:rPr>
                            <m:sty m:val="p"/>
                          </m:rPr>
                          <a:rPr lang="en-US" sz="1600" i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sz="1600" i="0">
                            <a:latin typeface="Cambria Math" panose="02040503050406030204" pitchFamily="18" charset="0"/>
                          </a:rPr>
                          <m:t>4</m:t>
                        </m:r>
                      </m:e>
                    </m:d>
                  </m:oMath>
                </a14:m>
              </mc:Choice>
              <mc:Fallback>
                <a:r>
                  <a:rPr lang="zh-CN" altLang="en-US" sz="1600" dirty="0">
                    <a:latin typeface="Arial"/>
                    <a:ea typeface="Microsoft YaHei"/>
                  </a:rPr>
                  <a:t>(x + 4)</a:t>
                </a:r>
              </mc:Fallback>
            </mc:AlternateContent>
            <a:r>
              <a:rPr lang="zh-CN" altLang="en-US" sz="1600" dirty="0">
                <a:latin typeface="Arial"/>
                <a:ea typeface="Microsoft YaHei"/>
              </a:rPr>
              <a:t>: both signs reversed (L17)</a:t>
            </a:r>
            <a:endParaRPr lang="zh-CN" sz="1600"/>
          </a:p>
          <a:p>
            <a:r>
              <a:rPr lang="zh-CN" altLang="en-US" sz="1600" dirty="0">
                <a:latin typeface="Arial"/>
                <a:ea typeface="Microsoft YaHei"/>
              </a:rPr>
              <a:t>2. the coefficients are not whole numbers (L18)</a:t>
            </a:r>
            <a:endParaRPr lang="zh-CN" sz="1600"/>
          </a:p>
          <a:p>
            <a:r>
              <a:rPr lang="zh-CN" altLang="en-US" sz="1600" dirty="0">
                <a:latin typeface="Arial"/>
                <a:ea typeface="Microsoft YaHei"/>
              </a:rPr>
              <a:t>Short solution:</a:t>
            </a:r>
            <a:endParaRPr lang="zh-CN" sz="1600"/>
          </a:p>
          <a:p>
            <mc:AlternateContent xmlns:mc="http://schemas.openxmlformats.org/markup-compatibility/2006">
              <mc:Choice xmlns:a14="http://schemas.microsoft.com/office/drawing/2010/main" Requires="a14">
                <a14:m>
                  <m:oMath xmlns:m="http://schemas.openxmlformats.org/officeDocument/2006/math">
                    <m:d>
                      <m:dPr>
                        <m:begChr m:val="("/>
                        <m:endChr m:val=")"/>
                        <m:sepChr m:val=""/>
                        <m:grow/>
                      </m:dPr>
                      <m:e>
                        <m:r>
                          <a:rPr lang="en-US" sz="1600" i="0"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x</m:t>
                        </m:r>
                        <m:r>
                          <m:rPr>
                            <m:sty m:val="p"/>
                          </m:rPr>
                          <a:rPr lang="en-US" sz="1600" i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sz="1600" i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d>
                    <m:d>
                      <m:dPr>
                        <m:begChr m:val="("/>
                        <m:endChr m:val=")"/>
                        <m:sepChr m:val=""/>
                        <m:grow/>
                      </m:dPr>
                      <m:e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x</m:t>
                        </m:r>
                        <m:r>
                          <m:rPr>
                            <m:sty m:val="p"/>
                          </m:rPr>
                          <a:rPr lang="en-US" sz="1600" i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sz="1600" i="0">
                            <a:latin typeface="Cambria Math" panose="02040503050406030204" pitchFamily="18" charset="0"/>
                          </a:rPr>
                          <m:t>4</m:t>
                        </m:r>
                      </m:e>
                    </m:d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1600" i="0">
                        <a:latin typeface="Cambria Math" panose="02040503050406030204" pitchFamily="18" charset="0"/>
                      </a:rPr>
                      <m:t>3</m:t>
                    </m:r>
                    <m:sSup>
                      <m:e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x</m:t>
                        </m:r>
                      </m:e>
                      <m:sup>
                        <m:r>
                          <a:rPr lang="en-US" sz="1600" i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1600" i="0">
                        <a:latin typeface="Cambria Math" panose="02040503050406030204" pitchFamily="18" charset="0"/>
                      </a:rPr>
                      <m:t>10</m:t>
                    </m:r>
                    <m:r>
                      <a:rPr lang="en-US" sz="1600" i="1">
                        <a:latin typeface="Cambria Math" panose="02040503050406030204" pitchFamily="18" charset="0"/>
                      </a:rPr>
                      <m:t>x</m:t>
                    </m:r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sz="1600" i="0">
                        <a:latin typeface="Cambria Math" panose="02040503050406030204" pitchFamily="18" charset="0"/>
                      </a:rPr>
                      <m:t>8</m:t>
                    </m:r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1600" i="0"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</mc:Choice>
              <mc:Fallback>
                <a:r>
                  <a:rPr lang="zh-CN" altLang="en-US" sz="1600" dirty="0">
                    <a:latin typeface="Arial"/>
                    <a:ea typeface="Microsoft YaHei"/>
                  </a:rPr>
                  <a:t>(3x - 2)(x + 4) = 3x^2 + 10x - 8 = 0</a:t>
                </a:r>
              </mc:Fallback>
            </mc:AlternateContent>
            <a:endParaRPr lang="zh-CN" sz="1600"/>
          </a:p>
          <a:p>
            <a:r>
              <a:rPr lang="zh-CN" altLang="en-US" sz="1600" dirty="0">
                <a:latin typeface="Arial"/>
                <a:ea typeface="Microsoft YaHei"/>
              </a:rPr>
              <a:t>Watch for:</a:t>
            </a:r>
            <a:endParaRPr lang="zh-CN" sz="1600"/>
          </a:p>
          <a:p>
            <a:r>
              <a:rPr lang="zh-CN" altLang="en-US" sz="1600" dirty="0">
                <a:latin typeface="Arial"/>
                <a:ea typeface="Microsoft YaHei"/>
              </a:rPr>
              <a:t>检查：</a:t>
            </a:r>
            <mc:AlternateContent xmlns:mc="http://schemas.openxmlformats.org/markup-compatibility/2006">
              <mc:Choice xmlns:a14="http://schemas.microsoft.com/office/drawing/2010/main" Requires="a14">
                <a14:m>
                  <m:oMath xmlns:m="http://schemas.openxmlformats.org/officeDocument/2006/math">
                    <m:r>
                      <a:rPr lang="en-US" sz="1600" i="1">
                        <a:latin typeface="Cambria Math" panose="02040503050406030204" pitchFamily="18" charset="0"/>
                      </a:rPr>
                      <m:t>x</m:t>
                    </m:r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</m:fPr>
                      <m:num>
                        <m:r>
                          <a:rPr lang="en-US" sz="1600" i="0"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US" sz="1600" i="0"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</mc:Choice>
              <mc:Fallback>
                <a:r>
                  <a:rPr lang="zh-CN" altLang="en-US" sz="1600" dirty="0">
                    <a:latin typeface="Arial"/>
                    <a:ea typeface="Microsoft YaHei"/>
                  </a:rPr>
                  <a:t>x = (2)/(3)</a:t>
                </a:r>
              </mc:Fallback>
            </mc:AlternateContent>
            <a:r>
              <a:rPr lang="zh-CN" altLang="en-US" sz="1600" dirty="0">
                <a:latin typeface="Arial"/>
                <a:ea typeface="Microsoft YaHei"/>
              </a:rPr>
              <a:t> 代进 Sam 的括号 </a:t>
            </a:r>
            <mc:AlternateContent xmlns:mc="http://schemas.openxmlformats.org/markup-compatibility/2006">
              <mc:Choice xmlns:a14="http://schemas.microsoft.com/office/drawing/2010/main" Requires="a14">
                <a14:m>
                  <m:oMath xmlns:m="http://schemas.openxmlformats.org/officeDocument/2006/math">
                    <m:d>
                      <m:dPr>
                        <m:begChr m:val="("/>
                        <m:endChr m:val=")"/>
                        <m:sepChr m:val=""/>
                        <m:grow/>
                      </m:dPr>
                      <m:e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x</m:t>
                        </m:r>
                        <m:r>
                          <m:rPr>
                            <m:sty m:val="p"/>
                          </m:rPr>
                          <a:rPr lang="en-US" sz="1600" i="0"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type m:val="bar"/>
                          </m:fPr>
                          <m:num>
                            <m:r>
                              <a:rPr lang="en-US" sz="1600" i="0">
                                <a:latin typeface="Cambria Math" panose="02040503050406030204" pitchFamily="18" charset="0"/>
                              </a:rPr>
                              <m:t>2</m:t>
                            </m:r>
                          </m:num>
                          <m:den>
                            <m:r>
                              <a:rPr lang="en-US" sz="1600" i="0"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</m:e>
                    </m:d>
                  </m:oMath>
                </a14:m>
              </mc:Choice>
              <mc:Fallback>
                <a:r>
                  <a:rPr lang="zh-CN" altLang="en-US" sz="1600" dirty="0">
                    <a:latin typeface="Arial"/>
                    <a:ea typeface="Microsoft YaHei"/>
                  </a:rPr>
                  <a:t>(x + (2)/(3))</a:t>
                </a:r>
              </mc:Fallback>
            </mc:AlternateContent>
            <a:r>
              <a:rPr lang="zh-CN" altLang="en-US" sz="1600" dirty="0">
                <a:latin typeface="Arial"/>
                <a:ea typeface="Microsoft YaHei"/>
              </a:rPr>
              <a:t> 不等于 0</a:t>
            </a:r>
            <a:endParaRPr lang="zh-CN" sz="160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>
            <a:noAutofit/>
          </a:bodyPr>
          <a:lstStyle/>
          <a:p>
            <a:r>
              <a:rPr lang="zh-CN" altLang="en-US" sz="1600" dirty="0">
                <a:latin typeface="Arial"/>
                <a:ea typeface="Microsoft YaHei"/>
              </a:rPr>
              <a:t>Q1 </a:t>
            </a:r>
            <mc:AlternateContent xmlns:mc="http://schemas.openxmlformats.org/markup-compatibility/2006">
              <mc:Choice xmlns:a14="http://schemas.microsoft.com/office/drawing/2010/main" Requires="a14">
                <a14:m>
                  <m:oMath xmlns:m="http://schemas.openxmlformats.org/officeDocument/2006/math">
                    <m:r>
                      <a:rPr lang="en-US" sz="1600" i="0"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x</m:t>
                        </m:r>
                      </m:e>
                      <m:sup>
                        <m:r>
                          <a:rPr lang="en-US" sz="1600" i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1600" i="0">
                        <a:latin typeface="Cambria Math" panose="02040503050406030204" pitchFamily="18" charset="0"/>
                      </a:rPr>
                      <m:t>9</m:t>
                    </m:r>
                    <m:r>
                      <a:rPr lang="en-US" sz="1600" i="1">
                        <a:latin typeface="Cambria Math" panose="02040503050406030204" pitchFamily="18" charset="0"/>
                      </a:rPr>
                      <m:t>x</m:t>
                    </m:r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sz="1600" i="0"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1600" i="0"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</mc:Choice>
              <mc:Fallback>
                <a:r>
                  <a:rPr lang="zh-CN" altLang="en-US" sz="1600" dirty="0">
                    <a:latin typeface="Arial"/>
                    <a:ea typeface="Microsoft YaHei"/>
                  </a:rPr>
                  <a:t>2x^2 + 9x - 5 = 0</a:t>
                </a:r>
              </mc:Fallback>
            </mc:AlternateContent>
            <a:endParaRPr lang="zh-CN" sz="1600"/>
          </a:p>
          <a:p>
            <a:r>
              <a:rPr lang="zh-CN" altLang="en-US" sz="1600" dirty="0">
                <a:latin typeface="Arial"/>
                <a:ea typeface="Microsoft YaHei"/>
              </a:rPr>
              <a:t>Q2 </a:t>
            </a:r>
            <mc:AlternateContent xmlns:mc="http://schemas.openxmlformats.org/markup-compatibility/2006">
              <mc:Choice xmlns:a14="http://schemas.microsoft.com/office/drawing/2010/main" Requires="a14">
                <a14:m>
                  <m:oMath xmlns:m="http://schemas.openxmlformats.org/officeDocument/2006/math">
                    <m:r>
                      <a:rPr lang="en-US" sz="1600" i="0">
                        <a:latin typeface="Cambria Math" panose="02040503050406030204" pitchFamily="18" charset="0"/>
                      </a:rPr>
                      <m:t>20</m:t>
                    </m:r>
                    <m:sSup>
                      <m:e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x</m:t>
                        </m:r>
                      </m:e>
                      <m:sup>
                        <m:r>
                          <a:rPr lang="en-US" sz="1600" i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sz="1600" i="0">
                        <a:latin typeface="Cambria Math" panose="02040503050406030204" pitchFamily="18" charset="0"/>
                      </a:rPr>
                      <m:t>7</m:t>
                    </m:r>
                    <m:r>
                      <a:rPr lang="en-US" sz="1600" i="1">
                        <a:latin typeface="Cambria Math" panose="02040503050406030204" pitchFamily="18" charset="0"/>
                      </a:rPr>
                      <m:t>x</m:t>
                    </m:r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sz="1600" i="0"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1600" i="0"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</mc:Choice>
              <mc:Fallback>
                <a:r>
                  <a:rPr lang="zh-CN" altLang="en-US" sz="1600" dirty="0">
                    <a:latin typeface="Arial"/>
                    <a:ea typeface="Microsoft YaHei"/>
                  </a:rPr>
                  <a:t>20x^2 - 7x - 6 = 0</a:t>
                </a:r>
              </mc:Fallback>
            </mc:AlternateContent>
            <a:endParaRPr lang="zh-CN" sz="1600"/>
          </a:p>
          <a:p>
            <a:r>
              <a:rPr lang="zh-CN" altLang="en-US" sz="1600" dirty="0">
                <a:latin typeface="Arial"/>
                <a:ea typeface="Microsoft YaHei"/>
              </a:rPr>
              <a:t>Q3 </a:t>
            </a:r>
            <mc:AlternateContent xmlns:mc="http://schemas.openxmlformats.org/markup-compatibility/2006">
              <mc:Choice xmlns:a14="http://schemas.microsoft.com/office/drawing/2010/main" Requires="a14">
                <a14:m>
                  <m:oMath xmlns:m="http://schemas.openxmlformats.org/officeDocument/2006/math">
                    <m:r>
                      <a:rPr lang="en-US" sz="1600" i="1">
                        <a:latin typeface="Cambria Math" panose="02040503050406030204" pitchFamily="18" charset="0"/>
                      </a:rPr>
                      <m:t>y</m:t>
                    </m:r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1600" i="0"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x</m:t>
                        </m:r>
                      </m:e>
                      <m:sup>
                        <m:r>
                          <a:rPr lang="en-US" sz="1600" i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sz="1600" i="0">
                        <a:latin typeface="Cambria Math" panose="02040503050406030204" pitchFamily="18" charset="0"/>
                      </a:rPr>
                      <m:t>16</m:t>
                    </m:r>
                    <m:r>
                      <a:rPr lang="en-US" sz="1600" i="1">
                        <a:latin typeface="Cambria Math" panose="02040503050406030204" pitchFamily="18" charset="0"/>
                      </a:rPr>
                      <m:t>x</m:t>
                    </m:r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1600" i="0">
                        <a:latin typeface="Cambria Math" panose="02040503050406030204" pitchFamily="18" charset="0"/>
                      </a:rPr>
                      <m:t>24</m:t>
                    </m:r>
                  </m:oMath>
                </a14:m>
              </mc:Choice>
              <mc:Fallback>
                <a:r>
                  <a:rPr lang="zh-CN" altLang="en-US" sz="1600" dirty="0">
                    <a:latin typeface="Arial"/>
                    <a:ea typeface="Microsoft YaHei"/>
                  </a:rPr>
                  <a:t>y = 2x^2 - 16x + 24</a:t>
                </a:r>
              </mc:Fallback>
            </mc:AlternateContent>
            <a:endParaRPr lang="zh-CN" sz="1600"/>
          </a:p>
          <a:p>
            <a:r>
              <a:rPr lang="zh-CN" altLang="en-US" sz="1600" dirty="0">
                <a:latin typeface="Arial"/>
                <a:ea typeface="Microsoft YaHei"/>
              </a:rPr>
              <a:t>Short solution:</a:t>
            </a:r>
            <a:endParaRPr lang="zh-CN" sz="1600"/>
          </a:p>
          <a:p>
            <a:r>
              <a:rPr lang="zh-CN" altLang="en-US" sz="1600" dirty="0">
                <a:latin typeface="Arial"/>
                <a:ea typeface="Microsoft YaHei"/>
              </a:rPr>
              <a:t>Q1 </a:t>
            </a:r>
            <mc:AlternateContent xmlns:mc="http://schemas.openxmlformats.org/markup-compatibility/2006">
              <mc:Choice xmlns:a14="http://schemas.microsoft.com/office/drawing/2010/main" Requires="a14">
                <a14:m>
                  <m:oMath xmlns:m="http://schemas.openxmlformats.org/officeDocument/2006/math">
                    <m:d>
                      <m:dPr>
                        <m:begChr m:val="("/>
                        <m:endChr m:val=")"/>
                        <m:sepChr m:val=""/>
                        <m:grow/>
                      </m:dPr>
                      <m:e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x</m:t>
                        </m:r>
                        <m:r>
                          <m:rPr>
                            <m:sty m:val="p"/>
                          </m:rPr>
                          <a:rPr lang="en-US" sz="1600" i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sz="1600" i="0">
                            <a:latin typeface="Cambria Math" panose="02040503050406030204" pitchFamily="18" charset="0"/>
                          </a:rPr>
                          <m:t>5</m:t>
                        </m:r>
                      </m:e>
                    </m:d>
                    <m:d>
                      <m:dPr>
                        <m:begChr m:val="("/>
                        <m:endChr m:val=")"/>
                        <m:sepChr m:val=""/>
                        <m:grow/>
                      </m:dPr>
                      <m:e>
                        <m:r>
                          <a:rPr lang="en-US" sz="1600" i="0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x</m:t>
                        </m:r>
                        <m:r>
                          <m:rPr>
                            <m:sty m:val="p"/>
                          </m:rPr>
                          <a:rPr lang="en-US" sz="1600" i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sz="1600" i="0"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</m:oMath>
                </a14:m>
              </mc:Choice>
              <mc:Fallback>
                <a:r>
                  <a:rPr lang="zh-CN" altLang="en-US" sz="1600" dirty="0">
                    <a:latin typeface="Arial"/>
                    <a:ea typeface="Microsoft YaHei"/>
                  </a:rPr>
                  <a:t>(x + 5)(2x - 1)</a:t>
                </a:r>
              </mc:Fallback>
            </mc:AlternateContent>
            <a:r>
              <a:rPr lang="zh-CN" altLang="en-US" sz="1600" dirty="0">
                <a:latin typeface="Arial"/>
                <a:ea typeface="Microsoft YaHei"/>
              </a:rPr>
              <a:t> (u)</a:t>
            </a:r>
            <a:endParaRPr lang="zh-CN" sz="1600"/>
          </a:p>
          <a:p>
            <a:r>
              <a:rPr lang="zh-CN" altLang="en-US" sz="1600" dirty="0">
                <a:latin typeface="Arial"/>
                <a:ea typeface="Microsoft YaHei"/>
              </a:rPr>
              <a:t>Q2 </a:t>
            </a:r>
            <mc:AlternateContent xmlns:mc="http://schemas.openxmlformats.org/markup-compatibility/2006">
              <mc:Choice xmlns:a14="http://schemas.microsoft.com/office/drawing/2010/main" Requires="a14">
                <a14:m>
                  <m:oMath xmlns:m="http://schemas.openxmlformats.org/officeDocument/2006/math">
                    <m:d>
                      <m:dPr>
                        <m:begChr m:val="("/>
                        <m:endChr m:val=")"/>
                        <m:sepChr m:val=""/>
                        <m:grow/>
                      </m:dPr>
                      <m:e>
                        <m:r>
                          <a:rPr lang="en-US" sz="1600" i="0"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x</m:t>
                        </m:r>
                        <m:r>
                          <m:rPr>
                            <m:sty m:val="p"/>
                          </m:rPr>
                          <a:rPr lang="en-US" sz="1600" i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sz="1600" i="0"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d>
                    <m:d>
                      <m:dPr>
                        <m:begChr m:val="("/>
                        <m:endChr m:val=")"/>
                        <m:sepChr m:val=""/>
                        <m:grow/>
                      </m:dPr>
                      <m:e>
                        <m:r>
                          <a:rPr lang="en-US" sz="1600" i="0">
                            <a:latin typeface="Cambria Math" panose="02040503050406030204" pitchFamily="18" charset="0"/>
                          </a:rPr>
                          <m:t>5</m:t>
                        </m:r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x</m:t>
                        </m:r>
                        <m:r>
                          <m:rPr>
                            <m:sty m:val="p"/>
                          </m:rPr>
                          <a:rPr lang="en-US" sz="1600" i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sz="1600" i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d>
                  </m:oMath>
                </a14:m>
              </mc:Choice>
              <mc:Fallback>
                <a:r>
                  <a:rPr lang="zh-CN" altLang="en-US" sz="1600" dirty="0">
                    <a:latin typeface="Arial"/>
                    <a:ea typeface="Microsoft YaHei"/>
                  </a:rPr>
                  <a:t>(4x - 3)(5x + 2)</a:t>
                </a:r>
              </mc:Fallback>
            </mc:AlternateContent>
            <a:r>
              <a:rPr lang="zh-CN" altLang="en-US" sz="1600" dirty="0">
                <a:latin typeface="Arial"/>
                <a:ea typeface="Microsoft YaHei"/>
              </a:rPr>
              <a:t> (r)</a:t>
            </a:r>
            <a:endParaRPr lang="zh-CN" sz="1600"/>
          </a:p>
          <a:p>
            <a:r>
              <a:rPr lang="zh-CN" altLang="en-US" sz="1600" dirty="0">
                <a:latin typeface="Arial"/>
                <a:ea typeface="Microsoft YaHei"/>
              </a:rPr>
              <a:t>Q3 </a:t>
            </a:r>
            <mc:AlternateContent xmlns:mc="http://schemas.openxmlformats.org/markup-compatibility/2006">
              <mc:Choice xmlns:a14="http://schemas.microsoft.com/office/drawing/2010/main" Requires="a14">
                <a14:m>
                  <m:oMath xmlns:m="http://schemas.openxmlformats.org/officeDocument/2006/math">
                    <m:r>
                      <a:rPr lang="en-US" sz="1600" i="1">
                        <a:latin typeface="Cambria Math" panose="02040503050406030204" pitchFamily="18" charset="0"/>
                      </a:rPr>
                      <m:t>y</m:t>
                    </m:r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1600" i="1">
                        <a:latin typeface="Cambria Math" panose="02040503050406030204" pitchFamily="18" charset="0"/>
                      </a:rPr>
                      <m:t>a</m:t>
                    </m:r>
                    <m:d>
                      <m:dPr>
                        <m:begChr m:val="("/>
                        <m:endChr m:val=")"/>
                        <m:sepChr m:val=""/>
                        <m:grow/>
                      </m:dPr>
                      <m:e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x</m:t>
                        </m:r>
                        <m:r>
                          <m:rPr>
                            <m:sty m:val="p"/>
                          </m:rPr>
                          <a:rPr lang="en-US" sz="1600" i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sz="1600" i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d>
                    <m:d>
                      <m:dPr>
                        <m:begChr m:val="("/>
                        <m:endChr m:val=")"/>
                        <m:sepChr m:val=""/>
                        <m:grow/>
                      </m:dPr>
                      <m:e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x</m:t>
                        </m:r>
                        <m:r>
                          <m:rPr>
                            <m:sty m:val="p"/>
                          </m:rPr>
                          <a:rPr lang="en-US" sz="1600" i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sz="1600" i="0">
                            <a:latin typeface="Cambria Math" panose="02040503050406030204" pitchFamily="18" charset="0"/>
                          </a:rPr>
                          <m:t>6</m:t>
                        </m:r>
                      </m:e>
                    </m:d>
                  </m:oMath>
                </a14:m>
              </mc:Choice>
              <mc:Fallback>
                <a:r>
                  <a:rPr lang="zh-CN" altLang="en-US" sz="1600" dirty="0">
                    <a:latin typeface="Arial"/>
                    <a:ea typeface="Microsoft YaHei"/>
                  </a:rPr>
                  <a:t>y = a(x - 2)(x - 6)</a:t>
                </a:r>
              </mc:Fallback>
            </mc:AlternateContent>
            <a:r>
              <a:rPr lang="zh-CN" altLang="en-US" sz="1600" dirty="0">
                <a:latin typeface="Arial"/>
                <a:ea typeface="Microsoft YaHei"/>
              </a:rPr>
              <a:t>，</a:t>
            </a:r>
            <mc:AlternateContent xmlns:mc="http://schemas.openxmlformats.org/markup-compatibility/2006">
              <mc:Choice xmlns:a14="http://schemas.microsoft.com/office/drawing/2010/main" Requires="a14">
                <a14:m>
                  <m:oMath xmlns:m="http://schemas.openxmlformats.org/officeDocument/2006/math">
                    <m:r>
                      <a:rPr lang="en-US" sz="1600" i="0">
                        <a:latin typeface="Cambria Math" panose="02040503050406030204" pitchFamily="18" charset="0"/>
                      </a:rPr>
                      <m:t>24</m:t>
                    </m:r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1600" i="0">
                        <a:latin typeface="Cambria Math" panose="02040503050406030204" pitchFamily="18" charset="0"/>
                      </a:rPr>
                      <m:t>12</m:t>
                    </m:r>
                    <m:r>
                      <a:rPr lang="en-US" sz="1600" i="1">
                        <a:latin typeface="Cambria Math" panose="02040503050406030204" pitchFamily="18" charset="0"/>
                      </a:rPr>
                      <m:t>a</m:t>
                    </m:r>
                  </m:oMath>
                </a14:m>
              </mc:Choice>
              <mc:Fallback>
                <a:r>
                  <a:rPr lang="zh-CN" altLang="en-US" sz="1600" dirty="0">
                    <a:latin typeface="Arial"/>
                    <a:ea typeface="Microsoft YaHei"/>
                  </a:rPr>
                  <a:t>24 = 12a</a:t>
                </a:r>
              </mc:Fallback>
            </mc:AlternateContent>
            <a:r>
              <a:rPr lang="zh-CN" altLang="en-US" sz="1600" dirty="0">
                <a:latin typeface="Arial"/>
                <a:ea typeface="Microsoft YaHei"/>
              </a:rPr>
              <a:t>，</a:t>
            </a:r>
            <mc:AlternateContent xmlns:mc="http://schemas.openxmlformats.org/markup-compatibility/2006">
              <mc:Choice xmlns:a14="http://schemas.microsoft.com/office/drawing/2010/main" Requires="a14">
                <a14:m>
                  <m:oMath xmlns:m="http://schemas.openxmlformats.org/officeDocument/2006/math">
                    <m:r>
                      <a:rPr lang="en-US" sz="1600" i="1">
                        <a:latin typeface="Cambria Math" panose="02040503050406030204" pitchFamily="18" charset="0"/>
                      </a:rPr>
                      <m:t>a</m:t>
                    </m:r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1600" i="0"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</mc:Choice>
              <mc:Fallback>
                <a:r>
                  <a:rPr lang="zh-CN" altLang="en-US" sz="1600" dirty="0">
                    <a:latin typeface="Arial"/>
                    <a:ea typeface="Microsoft YaHei"/>
                  </a:rPr>
                  <a:t>a = 2</a:t>
                </a:r>
              </mc:Fallback>
            </mc:AlternateContent>
            <a:r>
              <a:rPr lang="zh-CN" altLang="en-US" sz="1600" dirty="0">
                <a:latin typeface="Arial"/>
                <a:ea typeface="Microsoft YaHei"/>
              </a:rPr>
              <a:t> (r)</a:t>
            </a:r>
            <a:endParaRPr lang="zh-CN" sz="1600"/>
          </a:p>
          <a:p>
            <a:r>
              <a:rPr lang="zh-CN" altLang="en-US" sz="1600" dirty="0">
                <a:latin typeface="Arial"/>
                <a:ea typeface="Microsoft YaHei"/>
              </a:rPr>
              <a:t>Watch for:</a:t>
            </a:r>
            <a:endParaRPr lang="zh-CN" sz="1600"/>
          </a:p>
          <a:p>
            <a:r>
              <a:rPr lang="zh-CN" altLang="en-US" sz="1600" dirty="0">
                <a:latin typeface="Arial"/>
                <a:ea typeface="Microsoft YaHei"/>
              </a:rPr>
              <a:t>Q2 </a:t>
            </a:r>
            <mc:AlternateContent xmlns:mc="http://schemas.openxmlformats.org/markup-compatibility/2006">
              <mc:Choice xmlns:a14="http://schemas.microsoft.com/office/drawing/2010/main"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</m:fPr>
                      <m:num>
                        <m:r>
                          <a:rPr lang="en-US" sz="1600" i="0"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US" sz="1600" i="0"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</m:oMath>
                </a14:m>
              </mc:Choice>
              <mc:Fallback>
                <a:r>
                  <a:rPr lang="zh-CN" altLang="en-US" sz="1600" dirty="0">
                    <a:latin typeface="Arial"/>
                    <a:ea typeface="Microsoft YaHei"/>
                  </a:rPr>
                  <a:t>-(2)/(5)</a:t>
                </a:r>
              </mc:Fallback>
            </mc:AlternateContent>
            <a:r>
              <a:rPr lang="zh-CN" altLang="en-US" sz="1600" dirty="0">
                <a:latin typeface="Arial"/>
                <a:ea typeface="Microsoft YaHei"/>
              </a:rPr>
              <a:t> 给 </a:t>
            </a:r>
            <mc:AlternateContent xmlns:mc="http://schemas.openxmlformats.org/markup-compatibility/2006">
              <mc:Choice xmlns:a14="http://schemas.microsoft.com/office/drawing/2010/main" Requires="a14">
                <a14:m>
                  <m:oMath xmlns:m="http://schemas.openxmlformats.org/officeDocument/2006/math">
                    <m:d>
                      <m:dPr>
                        <m:begChr m:val="("/>
                        <m:endChr m:val=")"/>
                        <m:sepChr m:val=""/>
                        <m:grow/>
                      </m:dPr>
                      <m:e>
                        <m:r>
                          <a:rPr lang="en-US" sz="1600" i="0">
                            <a:latin typeface="Cambria Math" panose="02040503050406030204" pitchFamily="18" charset="0"/>
                          </a:rPr>
                          <m:t>5</m:t>
                        </m:r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x</m:t>
                        </m:r>
                        <m:r>
                          <m:rPr>
                            <m:sty m:val="p"/>
                          </m:rPr>
                          <a:rPr lang="en-US" sz="1600" i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sz="1600" i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d>
                  </m:oMath>
                </a14:m>
              </mc:Choice>
              <mc:Fallback>
                <a:r>
                  <a:rPr lang="zh-CN" altLang="en-US" sz="1600" dirty="0">
                    <a:latin typeface="Arial"/>
                    <a:ea typeface="Microsoft YaHei"/>
                  </a:rPr>
                  <a:t>(5x + 2)</a:t>
                </a:r>
              </mc:Fallback>
            </mc:AlternateContent>
            <a:r>
              <a:rPr lang="zh-CN" altLang="en-US" sz="1600" dirty="0">
                <a:latin typeface="Arial"/>
                <a:ea typeface="Microsoft YaHei"/>
              </a:rPr>
              <a:t>（L17）</a:t>
            </a:r>
            <a:endParaRPr lang="zh-CN" sz="160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>
            <a:noAutofit/>
          </a:bodyPr>
          <a:lstStyle/>
          <a:p>
            <a:r>
              <a:rPr lang="zh-CN" altLang="en-US" sz="1600" dirty="0">
                <a:latin typeface="Arial"/>
                <a:ea typeface="Microsoft YaHei"/>
              </a:rPr>
              <a:t>Q1 </a:t>
            </a:r>
            <mc:AlternateContent xmlns:mc="http://schemas.openxmlformats.org/markup-compatibility/2006">
              <mc:Choice xmlns:a14="http://schemas.microsoft.com/office/drawing/2010/main" Requires="a14">
                <a14:m>
                  <m:oMath xmlns:m="http://schemas.openxmlformats.org/officeDocument/2006/math">
                    <m:r>
                      <a:rPr lang="en-US" sz="1600" i="1">
                        <a:latin typeface="Cambria Math" panose="02040503050406030204" pitchFamily="18" charset="0"/>
                      </a:rPr>
                      <m:t>x</m:t>
                    </m:r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US" sz="1600" i="0"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</mc:Choice>
              <mc:Fallback>
                <a:r>
                  <a:rPr lang="zh-CN" altLang="en-US" sz="1600" dirty="0">
                    <a:latin typeface="Arial"/>
                    <a:ea typeface="Microsoft YaHei"/>
                  </a:rPr>
                  <a:t>x &gt; 3</a:t>
                </a:r>
              </mc:Fallback>
            </mc:AlternateContent>
            <a:endParaRPr lang="zh-CN" sz="1600"/>
          </a:p>
          <a:p>
            <a:r>
              <a:rPr lang="zh-CN" altLang="en-US" sz="1600" dirty="0">
                <a:latin typeface="Arial"/>
                <a:ea typeface="Microsoft YaHei"/>
              </a:rPr>
              <a:t>Q2 </a:t>
            </a:r>
            <mc:AlternateContent xmlns:mc="http://schemas.openxmlformats.org/markup-compatibility/2006">
              <mc:Choice xmlns:a14="http://schemas.microsoft.com/office/drawing/2010/main" Requires="a14">
                <a14:m>
                  <m:oMath xmlns:m="http://schemas.openxmlformats.org/officeDocument/2006/math">
                    <m:r>
                      <a:rPr lang="en-US" sz="1600" i="1">
                        <a:latin typeface="Cambria Math" panose="02040503050406030204" pitchFamily="18" charset="0"/>
                      </a:rPr>
                      <m:t>k</m:t>
                    </m:r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US" sz="1600" i="0"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</mc:Choice>
              <mc:Fallback>
                <a:r>
                  <a:rPr lang="zh-CN" altLang="en-US" sz="1600" dirty="0">
                    <a:latin typeface="Arial"/>
                    <a:ea typeface="Microsoft YaHei"/>
                  </a:rPr>
                  <a:t>k &gt; 3</a:t>
                </a:r>
              </mc:Fallback>
            </mc:AlternateContent>
            <a:endParaRPr lang="zh-CN" sz="1600"/>
          </a:p>
          <a:p>
            <a:r>
              <a:rPr lang="zh-CN" altLang="en-US" sz="1600" dirty="0">
                <a:latin typeface="Arial"/>
                <a:ea typeface="Microsoft YaHei"/>
              </a:rPr>
              <a:t>Q3 </a:t>
            </a:r>
            <mc:AlternateContent xmlns:mc="http://schemas.openxmlformats.org/markup-compatibility/2006">
              <mc:Choice xmlns:a14="http://schemas.microsoft.com/office/drawing/2010/main" Requires="a14">
                <a14:m>
                  <m:oMath xmlns:m="http://schemas.openxmlformats.org/officeDocument/2006/math">
                    <m:r>
                      <a:rPr lang="en-US" sz="1600" i="1">
                        <a:latin typeface="Cambria Math" panose="02040503050406030204" pitchFamily="18" charset="0"/>
                      </a:rPr>
                      <m:t>p</m:t>
                    </m:r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</a:rPr>
                      <m:t>≤</m:t>
                    </m:r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sz="1600" i="0"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</mc:Choice>
              <mc:Fallback>
                <a:r>
                  <a:rPr lang="zh-CN" altLang="en-US" sz="1600" dirty="0">
                    <a:latin typeface="Arial"/>
                    <a:ea typeface="Microsoft YaHei"/>
                  </a:rPr>
                  <a:t>p ≤ -4</a:t>
                </a:r>
              </mc:Fallback>
            </mc:AlternateContent>
            <a:endParaRPr lang="zh-CN" sz="1600"/>
          </a:p>
          <a:p>
            <a:r>
              <a:rPr lang="zh-CN" altLang="en-US" sz="1600" dirty="0">
                <a:latin typeface="Arial"/>
                <a:ea typeface="Microsoft YaHei"/>
              </a:rPr>
              <a:t>Short solution:</a:t>
            </a:r>
            <a:endParaRPr lang="zh-CN" sz="1600"/>
          </a:p>
          <a:p>
            <a:r>
              <a:rPr lang="zh-CN" altLang="en-US" sz="1600" dirty="0">
                <a:latin typeface="Arial"/>
                <a:ea typeface="Microsoft YaHei"/>
              </a:rPr>
              <a:t>Q2 </a:t>
            </a:r>
            <mc:AlternateContent xmlns:mc="http://schemas.openxmlformats.org/markup-compatibility/2006">
              <mc:Choice xmlns:a14="http://schemas.microsoft.com/office/drawing/2010/main"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sz="1600" i="0">
                        <a:latin typeface="Cambria Math" panose="02040503050406030204" pitchFamily="18" charset="0"/>
                      </a:rPr>
                      <m:t>4</m:t>
                    </m:r>
                    <m:r>
                      <a:rPr lang="en-US" sz="1600" i="1">
                        <a:latin typeface="Cambria Math" panose="02040503050406030204" pitchFamily="18" charset="0"/>
                      </a:rPr>
                      <m:t>k</m:t>
                    </m:r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</a:rPr>
                      <m:t>&lt;</m:t>
                    </m:r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sz="1600" i="0">
                        <a:latin typeface="Cambria Math" panose="02040503050406030204" pitchFamily="18" charset="0"/>
                      </a:rPr>
                      <m:t>12</m:t>
                    </m:r>
                  </m:oMath>
                </a14:m>
              </mc:Choice>
              <mc:Fallback>
                <a:r>
                  <a:rPr lang="zh-CN" altLang="en-US" sz="1600" dirty="0">
                    <a:latin typeface="Arial"/>
                    <a:ea typeface="Microsoft YaHei"/>
                  </a:rPr>
                  <a:t>-4k &lt; -12</a:t>
                </a:r>
              </mc:Fallback>
            </mc:AlternateContent>
            <a:r>
              <a:rPr lang="zh-CN" altLang="en-US" sz="1600" dirty="0">
                <a:latin typeface="Arial"/>
                <a:ea typeface="Microsoft YaHei"/>
              </a:rPr>
              <a:t>，除以 </a:t>
            </a:r>
            <mc:AlternateContent xmlns:mc="http://schemas.openxmlformats.org/markup-compatibility/2006">
              <mc:Choice xmlns:a14="http://schemas.microsoft.com/office/drawing/2010/main"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sz="1600" i="0"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</mc:Choice>
              <mc:Fallback>
                <a:r>
                  <a:rPr lang="zh-CN" altLang="en-US" sz="1600" dirty="0">
                    <a:latin typeface="Arial"/>
                    <a:ea typeface="Microsoft YaHei"/>
                  </a:rPr>
                  <a:t>-4</a:t>
                </a:r>
              </mc:Fallback>
            </mc:AlternateContent>
            <a:r>
              <a:rPr lang="zh-CN" altLang="en-US" sz="1600" dirty="0">
                <a:latin typeface="Arial"/>
                <a:ea typeface="Microsoft YaHei"/>
              </a:rPr>
              <a:t> 要变号</a:t>
            </a:r>
            <a:endParaRPr lang="zh-CN" sz="1600"/>
          </a:p>
          <a:p>
            <a:r>
              <a:rPr lang="zh-CN" altLang="en-US" sz="1600" dirty="0">
                <a:latin typeface="Arial"/>
                <a:ea typeface="Microsoft YaHei"/>
              </a:rPr>
              <a:t>Watch for:</a:t>
            </a:r>
            <a:endParaRPr lang="zh-CN" sz="1600"/>
          </a:p>
          <a:p>
            <a:r>
              <a:rPr lang="zh-CN" altLang="en-US" sz="1600" dirty="0">
                <a:latin typeface="Arial"/>
                <a:ea typeface="Microsoft YaHei"/>
              </a:rPr>
              <a:t>Q2、Q3 不变号：判别式求 </a:t>
            </a:r>
            <mc:AlternateContent xmlns:mc="http://schemas.openxmlformats.org/markup-compatibility/2006">
              <mc:Choice xmlns:a14="http://schemas.microsoft.com/office/drawing/2010/main" Requires="a14">
                <a14:m>
                  <m:oMath xmlns:m="http://schemas.openxmlformats.org/officeDocument/2006/math">
                    <m:r>
                      <a:rPr lang="en-US" sz="1600" i="1">
                        <a:latin typeface="Cambria Math" panose="02040503050406030204" pitchFamily="18" charset="0"/>
                      </a:rPr>
                      <m:t>k</m:t>
                    </m:r>
                  </m:oMath>
                </a14:m>
              </mc:Choice>
              <mc:Fallback>
                <a:r>
                  <a:rPr lang="zh-CN" altLang="en-US" sz="1600" dirty="0">
                    <a:latin typeface="Arial"/>
                    <a:ea typeface="Microsoft YaHei"/>
                  </a:rPr>
                  <a:t>k</a:t>
                </a:r>
              </mc:Fallback>
            </mc:AlternateContent>
            <a:r>
              <a:rPr lang="zh-CN" altLang="en-US" sz="1600" dirty="0">
                <a:latin typeface="Arial"/>
                <a:ea typeface="Microsoft YaHei"/>
              </a:rPr>
              <a:t> 的范围时同样的错</a:t>
            </a:r>
            <a:endParaRPr lang="zh-CN" sz="1600"/>
          </a:p>
          <a:p>
            <a:r>
              <a:rPr lang="zh-CN" altLang="en-US" sz="1600" dirty="0">
                <a:latin typeface="Arial"/>
                <a:ea typeface="Microsoft YaHei"/>
              </a:rPr>
              <a:t>Say it:</a:t>
            </a:r>
            <a:endParaRPr lang="zh-CN" sz="1600"/>
          </a:p>
          <a:p>
            <a:r>
              <a:rPr lang="zh-CN" altLang="en-US" sz="1600" dirty="0">
                <a:latin typeface="Arial"/>
                <a:ea typeface="Microsoft YaHei"/>
              </a:rPr>
              <a:t>inequality = in-ih-KWOL-ih-tee</a:t>
            </a:r>
            <a:endParaRPr lang="zh-CN" sz="160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>
            <a:noAutofit/>
          </a:bodyPr>
          <a:lstStyle/>
          <a:p>
            <a:r>
              <a:rPr lang="zh-CN" altLang="en-US" sz="1600" dirty="0">
                <a:latin typeface="Arial"/>
                <a:ea typeface="Microsoft YaHei"/>
              </a:rPr>
              <a:t>Gap two; one (repeated); no real</a:t>
            </a:r>
            <a:endParaRPr lang="zh-CN" sz="1600"/>
          </a:p>
          <a:p>
            <a:r>
              <a:rPr lang="zh-CN" altLang="en-US" sz="1600" dirty="0">
                <a:latin typeface="Arial"/>
                <a:ea typeface="Microsoft YaHei"/>
              </a:rPr>
              <a:t>Q under the square root: a negative number has no real square root</a:t>
            </a:r>
            <a:endParaRPr lang="zh-CN" sz="1600"/>
          </a:p>
          <a:p>
            <a:r>
              <a:rPr lang="zh-CN" altLang="en-US" sz="1600" dirty="0">
                <a:latin typeface="Arial"/>
                <a:ea typeface="Microsoft YaHei"/>
              </a:rPr>
              <a:t>Short solution:</a:t>
            </a:r>
            <a:endParaRPr lang="zh-CN" sz="1600"/>
          </a:p>
          <a:p>
            <a:r>
              <a:rPr lang="zh-CN" altLang="en-US" sz="1600" dirty="0">
                <a:latin typeface="Arial"/>
                <a:ea typeface="Microsoft YaHei"/>
              </a:rPr>
              <a:t>Q </a:t>
            </a:r>
            <mc:AlternateContent xmlns:mc="http://schemas.openxmlformats.org/markup-compatibility/2006">
              <mc:Choice xmlns:a14="http://schemas.microsoft.com/office/drawing/2010/main"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</a:rPr>
                      <m:t>±</m:t>
                    </m:r>
                    <m:rad>
                      <m:radPr>
                        <m:degHide m:val="on"/>
                      </m:radPr>
                      <m:deg/>
                      <m:e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Δ</m:t>
                        </m:r>
                      </m:e>
                    </m:rad>
                  </m:oMath>
                </a14:m>
              </mc:Choice>
              <mc:Fallback>
                <a:r>
                  <a:rPr lang="zh-CN" altLang="en-US" sz="1600" dirty="0">
                    <a:latin typeface="Arial"/>
                    <a:ea typeface="Microsoft YaHei"/>
                  </a:rPr>
                  <a:t>±√()</a:t>
                </a:r>
              </mc:Fallback>
            </mc:AlternateContent>
            <a:r>
              <a:rPr lang="zh-CN" altLang="en-US" sz="1600" dirty="0">
                <a:latin typeface="Arial"/>
                <a:ea typeface="Microsoft YaHei"/>
              </a:rPr>
              <a:t>：正数给两个不同的根，0 给一个，负数没有实根</a:t>
            </a:r>
            <a:endParaRPr lang="zh-CN" sz="1600"/>
          </a:p>
          <a:p>
            <a:r>
              <a:rPr lang="zh-CN" altLang="en-US" sz="1600" dirty="0">
                <a:latin typeface="Arial"/>
                <a:ea typeface="Microsoft YaHei"/>
              </a:rPr>
              <a:t>Watch for:</a:t>
            </a:r>
            <a:endParaRPr lang="zh-CN" sz="1600"/>
          </a:p>
          <a:p>
            <a:r>
              <a:rPr lang="zh-CN" altLang="en-US" sz="1600" dirty="0">
                <a:latin typeface="Arial"/>
                <a:ea typeface="Microsoft YaHei"/>
              </a:rPr>
              <a:t>“Equal roots”、“exactly one solution”、“touches the </a:t>
            </a:r>
            <mc:AlternateContent xmlns:mc="http://schemas.openxmlformats.org/markup-compatibility/2006">
              <mc:Choice xmlns:a14="http://schemas.microsoft.com/office/drawing/2010/main" Requires="a14">
                <a14:m>
                  <m:oMath xmlns:m="http://schemas.openxmlformats.org/officeDocument/2006/math">
                    <m:r>
                      <a:rPr lang="en-US" sz="1600" i="1">
                        <a:latin typeface="Cambria Math" panose="02040503050406030204" pitchFamily="18" charset="0"/>
                      </a:rPr>
                      <m:t>x</m:t>
                    </m:r>
                  </m:oMath>
                </a14:m>
              </mc:Choice>
              <mc:Fallback>
                <a:r>
                  <a:rPr lang="zh-CN" altLang="en-US" sz="1600" dirty="0">
                    <a:latin typeface="Arial"/>
                    <a:ea typeface="Microsoft YaHei"/>
                  </a:rPr>
                  <a:t>x</a:t>
                </a:r>
              </mc:Fallback>
            </mc:AlternateContent>
            <a:r>
              <a:rPr lang="zh-CN" altLang="en-US" sz="1600" dirty="0">
                <a:latin typeface="Arial"/>
                <a:ea typeface="Microsoft YaHei"/>
              </a:rPr>
              <a:t>-axis”都是 </a:t>
            </a:r>
            <mc:AlternateContent xmlns:mc="http://schemas.openxmlformats.org/markup-compatibility/2006">
              <mc:Choice xmlns:a14="http://schemas.microsoft.com/office/drawing/2010/main"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1600" i="0"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</mc:Choice>
              <mc:Fallback>
                <a:r>
                  <a:rPr lang="zh-CN" altLang="en-US" sz="1600" dirty="0">
                    <a:latin typeface="Arial"/>
                    <a:ea typeface="Microsoft YaHei"/>
                  </a:rPr>
                  <a:t>= 0</a:t>
                </a:r>
              </mc:Fallback>
            </mc:AlternateContent>
            <a:endParaRPr lang="zh-CN" sz="160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>
            <a:noAutofit/>
          </a:bodyPr>
          <a:lstStyle/>
          <a:p>
            <a:r>
              <a:rPr lang="zh-CN" altLang="en-US" sz="1600" dirty="0">
                <a:latin typeface="Arial"/>
                <a:ea typeface="Microsoft YaHei"/>
              </a:rPr>
              <a:t>Gap </a:t>
            </a:r>
            <mc:AlternateContent xmlns:mc="http://schemas.openxmlformats.org/markup-compatibility/2006">
              <mc:Choice xmlns:a14="http://schemas.microsoft.com/office/drawing/2010/main"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sz="1600" i="0">
                        <a:latin typeface="Cambria Math" panose="02040503050406030204" pitchFamily="18" charset="0"/>
                      </a:rPr>
                      <m:t>8</m:t>
                    </m:r>
                  </m:oMath>
                </a14:m>
              </mc:Choice>
              <mc:Fallback>
                <a:r>
                  <a:rPr lang="zh-CN" altLang="en-US" sz="1600" dirty="0">
                    <a:latin typeface="Arial"/>
                    <a:ea typeface="Microsoft YaHei"/>
                  </a:rPr>
                  <a:t>-8</a:t>
                </a:r>
              </mc:Fallback>
            </mc:AlternateContent>
            <a:endParaRPr lang="zh-CN" sz="1600"/>
          </a:p>
          <a:p>
            <a:r>
              <a:rPr lang="zh-CN" altLang="en-US" sz="1600" dirty="0">
                <a:latin typeface="Arial"/>
                <a:ea typeface="Microsoft YaHei"/>
              </a:rPr>
              <a:t>Q it never touches the </a:t>
            </a:r>
            <mc:AlternateContent xmlns:mc="http://schemas.openxmlformats.org/markup-compatibility/2006">
              <mc:Choice xmlns:a14="http://schemas.microsoft.com/office/drawing/2010/main" Requires="a14">
                <a14:m>
                  <m:oMath xmlns:m="http://schemas.openxmlformats.org/officeDocument/2006/math">
                    <m:r>
                      <a:rPr lang="en-US" sz="1600" i="1">
                        <a:latin typeface="Cambria Math" panose="02040503050406030204" pitchFamily="18" charset="0"/>
                      </a:rPr>
                      <m:t>x</m:t>
                    </m:r>
                  </m:oMath>
                </a14:m>
              </mc:Choice>
              <mc:Fallback>
                <a:r>
                  <a:rPr lang="zh-CN" altLang="en-US" sz="1600" dirty="0">
                    <a:latin typeface="Arial"/>
                    <a:ea typeface="Microsoft YaHei"/>
                  </a:rPr>
                  <a:t>x</a:t>
                </a:r>
              </mc:Fallback>
            </mc:AlternateContent>
            <a:r>
              <a:rPr lang="zh-CN" altLang="en-US" sz="1600" dirty="0">
                <a:latin typeface="Arial"/>
                <a:ea typeface="Microsoft YaHei"/>
              </a:rPr>
              <a:t>-axis: no real roots</a:t>
            </a:r>
            <a:endParaRPr lang="zh-CN" sz="1600"/>
          </a:p>
          <a:p>
            <a:r>
              <a:rPr lang="zh-CN" altLang="en-US" sz="1600" dirty="0">
                <a:latin typeface="Arial"/>
                <a:ea typeface="Microsoft YaHei"/>
              </a:rPr>
              <a:t>Short solution:</a:t>
            </a:r>
            <a:endParaRPr lang="zh-CN" sz="1600"/>
          </a:p>
          <a:p>
            <a:r>
              <a:rPr lang="zh-CN" altLang="en-US" sz="1600" dirty="0">
                <a:latin typeface="Arial"/>
                <a:ea typeface="Microsoft YaHei"/>
              </a:rPr>
              <a:t>Q </a:t>
            </a:r>
            <mc:AlternateContent xmlns:mc="http://schemas.openxmlformats.org/markup-compatibility/2006">
              <mc:Choice xmlns:a14="http://schemas.microsoft.com/office/drawing/2010/main" Requires="a14">
                <a14:m>
                  <m:oMath xmlns:m="http://schemas.openxmlformats.org/officeDocument/2006/math">
                    <m:r>
                      <a:rPr lang="en-US" sz="1600" i="1">
                        <a:latin typeface="Cambria Math" panose="02040503050406030204" pitchFamily="18" charset="0"/>
                      </a:rPr>
                      <m:t>Δ</m:t>
                    </m:r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US" sz="1600" i="0"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</mc:Choice>
              <mc:Fallback>
                <a:r>
                  <a:rPr lang="zh-CN" altLang="en-US" sz="1600" dirty="0">
                    <a:latin typeface="Arial"/>
                    <a:ea typeface="Microsoft YaHei"/>
                  </a:rPr>
                  <a:t> &lt; 0</a:t>
                </a:r>
              </mc:Fallback>
            </mc:AlternateContent>
            <a:r>
              <a:rPr lang="zh-CN" altLang="en-US" sz="1600" dirty="0">
                <a:latin typeface="Arial"/>
                <a:ea typeface="Microsoft YaHei"/>
              </a:rPr>
              <a:t>，所以没有实根；不用解方程</a:t>
            </a:r>
            <a:endParaRPr lang="zh-CN" sz="1600"/>
          </a:p>
          <a:p>
            <a:r>
              <a:rPr lang="zh-CN" altLang="en-US" sz="1600" dirty="0">
                <a:latin typeface="Arial"/>
                <a:ea typeface="Microsoft YaHei"/>
              </a:rPr>
              <a:t>Watch for:</a:t>
            </a:r>
            <a:endParaRPr lang="zh-CN" sz="1600"/>
          </a:p>
          <a:p>
            <mc:AlternateContent xmlns:mc="http://schemas.openxmlformats.org/markup-compatibility/2006">
              <mc:Choice xmlns:a14="http://schemas.microsoft.com/office/drawing/2010/main"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US" sz="1600" i="0">
                            <a:latin typeface="Cambria Math" panose="02040503050406030204" pitchFamily="18" charset="0"/>
                          </a:rPr>
                          <m:t>4</m:t>
                        </m:r>
                      </m:e>
                      <m:sup>
                        <m:r>
                          <a:rPr lang="en-US" sz="1600" i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sz="1600" i="0">
                        <a:latin typeface="Cambria Math" panose="02040503050406030204" pitchFamily="18" charset="0"/>
                      </a:rPr>
                      <m:t>16</m:t>
                    </m:r>
                  </m:oMath>
                </a14:m>
              </mc:Choice>
              <mc:Fallback>
                <a:r>
                  <a:rPr lang="zh-CN" altLang="en-US" sz="1600" dirty="0">
                    <a:latin typeface="Arial"/>
                    <a:ea typeface="Microsoft YaHei"/>
                  </a:rPr>
                  <a:t>-4^2 = -16</a:t>
                </a:r>
              </mc:Fallback>
            </mc:AlternateContent>
            <a:r>
              <a:rPr lang="zh-CN" altLang="en-US" sz="1600" dirty="0">
                <a:latin typeface="Arial"/>
                <a:ea typeface="Microsoft YaHei"/>
              </a:rPr>
              <a:t>：</a:t>
            </a:r>
            <mc:AlternateContent xmlns:mc="http://schemas.openxmlformats.org/markup-compatibility/2006">
              <mc:Choice xmlns:a14="http://schemas.microsoft.com/office/drawing/2010/main" Requires="a14">
                <a14:m>
                  <m:oMath xmlns:m="http://schemas.openxmlformats.org/officeDocument/2006/math">
                    <m:r>
                      <a:rPr lang="en-US" sz="1600" i="1">
                        <a:latin typeface="Cambria Math" panose="02040503050406030204" pitchFamily="18" charset="0"/>
                      </a:rPr>
                      <m:t>b</m:t>
                    </m:r>
                  </m:oMath>
                </a14:m>
              </mc:Choice>
              <mc:Fallback>
                <a:r>
                  <a:rPr lang="zh-CN" altLang="en-US" sz="1600" dirty="0">
                    <a:latin typeface="Arial"/>
                    <a:ea typeface="Microsoft YaHei"/>
                  </a:rPr>
                  <a:t>b</a:t>
                </a:r>
              </mc:Fallback>
            </mc:AlternateContent>
            <a:r>
              <a:rPr lang="zh-CN" altLang="en-US" sz="1600" dirty="0">
                <a:latin typeface="Arial"/>
                <a:ea typeface="Microsoft YaHei"/>
              </a:rPr>
              <a:t> 没加括号（L21）</a:t>
            </a:r>
            <a:endParaRPr lang="zh-CN" sz="160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>
            <a:noAutofit/>
          </a:bodyPr>
          <a:lstStyle/>
          <a:p>
            <a:r>
              <a:rPr lang="zh-CN" altLang="en-US" sz="1600" dirty="0">
                <a:latin typeface="Arial"/>
                <a:ea typeface="Microsoft YaHei"/>
              </a:rPr>
              <a:t>Gap 0</a:t>
            </a:r>
            <a:endParaRPr lang="zh-CN" sz="1600"/>
          </a:p>
          <a:p>
            <a:r>
              <a:rPr lang="zh-CN" altLang="en-US" sz="1600" dirty="0">
                <a:latin typeface="Arial"/>
                <a:ea typeface="Microsoft YaHei"/>
              </a:rPr>
              <a:t>Q </a:t>
            </a:r>
            <mc:AlternateContent xmlns:mc="http://schemas.openxmlformats.org/markup-compatibility/2006">
              <mc:Choice xmlns:a14="http://schemas.microsoft.com/office/drawing/2010/main" Requires="a14">
                <a14:m>
                  <m:oMath xmlns:m="http://schemas.openxmlformats.org/officeDocument/2006/math">
                    <m:sSup>
                      <m:e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k</m:t>
                        </m:r>
                      </m:e>
                      <m:sup>
                        <m:r>
                          <a:rPr lang="en-US" sz="1600" i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1600" i="0">
                        <a:latin typeface="Cambria Math" panose="02040503050406030204" pitchFamily="18" charset="0"/>
                      </a:rPr>
                      <m:t>64</m:t>
                    </m:r>
                  </m:oMath>
                </a14:m>
              </mc:Choice>
              <mc:Fallback>
                <a:r>
                  <a:rPr lang="zh-CN" altLang="en-US" sz="1600" dirty="0">
                    <a:latin typeface="Arial"/>
                    <a:ea typeface="Microsoft YaHei"/>
                  </a:rPr>
                  <a:t>k^2 = 64</a:t>
                </a:r>
              </mc:Fallback>
            </mc:AlternateContent>
            <a:r>
              <a:rPr lang="zh-CN" altLang="en-US" sz="1600" dirty="0">
                <a:latin typeface="Arial"/>
                <a:ea typeface="Microsoft YaHei"/>
              </a:rPr>
              <a:t> gives </a:t>
            </a:r>
            <mc:AlternateContent xmlns:mc="http://schemas.openxmlformats.org/markup-compatibility/2006">
              <mc:Choice xmlns:a14="http://schemas.microsoft.com/office/drawing/2010/main" Requires="a14">
                <a14:m>
                  <m:oMath xmlns:m="http://schemas.openxmlformats.org/officeDocument/2006/math">
                    <m:r>
                      <a:rPr lang="en-US" sz="1600" i="1">
                        <a:latin typeface="Cambria Math" panose="02040503050406030204" pitchFamily="18" charset="0"/>
                      </a:rPr>
                      <m:t>k</m:t>
                    </m:r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1600" i="0">
                        <a:latin typeface="Cambria Math" panose="02040503050406030204" pitchFamily="18" charset="0"/>
                      </a:rPr>
                      <m:t>8</m:t>
                    </m:r>
                  </m:oMath>
                </a14:m>
              </mc:Choice>
              <mc:Fallback>
                <a:r>
                  <a:rPr lang="zh-CN" altLang="en-US" sz="1600" dirty="0">
                    <a:latin typeface="Arial"/>
                    <a:ea typeface="Microsoft YaHei"/>
                  </a:rPr>
                  <a:t>k = 8</a:t>
                </a:r>
              </mc:Fallback>
            </mc:AlternateContent>
            <a:r>
              <a:rPr lang="zh-CN" altLang="en-US" sz="1600" dirty="0">
                <a:latin typeface="Arial"/>
                <a:ea typeface="Microsoft YaHei"/>
              </a:rPr>
              <a:t> or </a:t>
            </a:r>
            <mc:AlternateContent xmlns:mc="http://schemas.openxmlformats.org/markup-compatibility/2006">
              <mc:Choice xmlns:a14="http://schemas.microsoft.com/office/drawing/2010/main" Requires="a14">
                <a14:m>
                  <m:oMath xmlns:m="http://schemas.openxmlformats.org/officeDocument/2006/math">
                    <m:r>
                      <a:rPr lang="en-US" sz="1600" i="1">
                        <a:latin typeface="Cambria Math" panose="02040503050406030204" pitchFamily="18" charset="0"/>
                      </a:rPr>
                      <m:t>k</m:t>
                    </m:r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sz="1600" i="0">
                        <a:latin typeface="Cambria Math" panose="02040503050406030204" pitchFamily="18" charset="0"/>
                      </a:rPr>
                      <m:t>8</m:t>
                    </m:r>
                  </m:oMath>
                </a14:m>
              </mc:Choice>
              <mc:Fallback>
                <a:r>
                  <a:rPr lang="zh-CN" altLang="en-US" sz="1600" dirty="0">
                    <a:latin typeface="Arial"/>
                    <a:ea typeface="Microsoft YaHei"/>
                  </a:rPr>
                  <a:t>k = -8</a:t>
                </a:r>
              </mc:Fallback>
            </mc:AlternateContent>
            <a:endParaRPr lang="zh-CN" sz="1600"/>
          </a:p>
          <a:p>
            <a:r>
              <a:rPr lang="zh-CN" altLang="en-US" sz="1600" dirty="0">
                <a:latin typeface="Arial"/>
                <a:ea typeface="Microsoft YaHei"/>
              </a:rPr>
              <a:t>Short solution:</a:t>
            </a:r>
            <a:endParaRPr lang="zh-CN" sz="1600"/>
          </a:p>
          <a:p>
            <a:r>
              <a:rPr lang="zh-CN" altLang="en-US" sz="1600" dirty="0">
                <a:latin typeface="Arial"/>
                <a:ea typeface="Microsoft YaHei"/>
              </a:rPr>
              <a:t>Q equal roots 就是 </a:t>
            </a:r>
            <mc:AlternateContent xmlns:mc="http://schemas.openxmlformats.org/markup-compatibility/2006">
              <mc:Choice xmlns:a14="http://schemas.microsoft.com/office/drawing/2010/main" Requires="a14">
                <a14:m>
                  <m:oMath xmlns:m="http://schemas.openxmlformats.org/officeDocument/2006/math">
                    <m:r>
                      <a:rPr lang="en-US" sz="1600" i="1">
                        <a:latin typeface="Cambria Math" panose="02040503050406030204" pitchFamily="18" charset="0"/>
                      </a:rPr>
                      <m:t>Δ</m:t>
                    </m:r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1600" i="0"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</mc:Choice>
              <mc:Fallback>
                <a:r>
                  <a:rPr lang="zh-CN" altLang="en-US" sz="1600" dirty="0">
                    <a:latin typeface="Arial"/>
                    <a:ea typeface="Microsoft YaHei"/>
                  </a:rPr>
                  <a:t> = 0</a:t>
                </a:r>
              </mc:Fallback>
            </mc:AlternateContent>
            <a:r>
              <a:rPr lang="zh-CN" altLang="en-US" sz="1600" dirty="0">
                <a:latin typeface="Arial"/>
                <a:ea typeface="Microsoft YaHei"/>
              </a:rPr>
              <a:t>；平方根有正负</a:t>
            </a:r>
            <a:endParaRPr lang="zh-CN" sz="1600"/>
          </a:p>
          <a:p>
            <a:r>
              <a:rPr lang="zh-CN" altLang="en-US" sz="1600" dirty="0">
                <a:latin typeface="Arial"/>
                <a:ea typeface="Microsoft YaHei"/>
              </a:rPr>
              <a:t>检查 </a:t>
            </a:r>
            <mc:AlternateContent xmlns:mc="http://schemas.openxmlformats.org/markup-compatibility/2006">
              <mc:Choice xmlns:a14="http://schemas.microsoft.com/office/drawing/2010/main" Requires="a14">
                <a14:m>
                  <m:oMath xmlns:m="http://schemas.openxmlformats.org/officeDocument/2006/math">
                    <m:r>
                      <a:rPr lang="en-US" sz="1600" i="1">
                        <a:latin typeface="Cambria Math" panose="02040503050406030204" pitchFamily="18" charset="0"/>
                      </a:rPr>
                      <m:t>k</m:t>
                    </m:r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1600" i="0">
                        <a:latin typeface="Cambria Math" panose="02040503050406030204" pitchFamily="18" charset="0"/>
                      </a:rPr>
                      <m:t>8</m:t>
                    </m:r>
                  </m:oMath>
                </a14:m>
              </mc:Choice>
              <mc:Fallback>
                <a:r>
                  <a:rPr lang="zh-CN" altLang="en-US" sz="1600" dirty="0">
                    <a:latin typeface="Arial"/>
                    <a:ea typeface="Microsoft YaHei"/>
                  </a:rPr>
                  <a:t>k = 8</a:t>
                </a:r>
              </mc:Fallback>
            </mc:AlternateContent>
            <a:r>
              <a:rPr lang="zh-CN" altLang="en-US" sz="1600" dirty="0">
                <a:latin typeface="Arial"/>
                <a:ea typeface="Microsoft YaHei"/>
              </a:rPr>
              <a:t>：</a:t>
            </a:r>
            <mc:AlternateContent xmlns:mc="http://schemas.openxmlformats.org/markup-compatibility/2006">
              <mc:Choice xmlns:a14="http://schemas.microsoft.com/office/drawing/2010/main" Requires="a14">
                <a14:m>
                  <m:oMath xmlns:m="http://schemas.openxmlformats.org/officeDocument/2006/math">
                    <m:sSup>
                      <m:e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x</m:t>
                        </m:r>
                      </m:e>
                      <m:sup>
                        <m:r>
                          <a:rPr lang="en-US" sz="1600" i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1600" i="0">
                        <a:latin typeface="Cambria Math" panose="02040503050406030204" pitchFamily="18" charset="0"/>
                      </a:rPr>
                      <m:t>8</m:t>
                    </m:r>
                    <m:r>
                      <a:rPr lang="en-US" sz="1600" i="1">
                        <a:latin typeface="Cambria Math" panose="02040503050406030204" pitchFamily="18" charset="0"/>
                      </a:rPr>
                      <m:t>x</m:t>
                    </m:r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1600" i="0">
                        <a:latin typeface="Cambria Math" panose="02040503050406030204" pitchFamily="18" charset="0"/>
                      </a:rPr>
                      <m:t>16</m:t>
                    </m:r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d>
                          <m:dPr>
                            <m:begChr m:val="("/>
                            <m:endChr m:val=")"/>
                            <m:sepChr m:val=""/>
                            <m:grow/>
                          </m:dPr>
                          <m:e>
                            <m:r>
                              <a:rPr lang="en-US" sz="1600" i="1">
                                <a:latin typeface="Cambria Math" panose="02040503050406030204" pitchFamily="18" charset="0"/>
                              </a:rPr>
                              <m:t>x</m:t>
                            </m:r>
                            <m:r>
                              <m:rPr>
                                <m:sty m:val="p"/>
                              </m:rPr>
                              <a:rPr lang="en-US" sz="1600" i="0"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US" sz="1600" i="0">
                                <a:latin typeface="Cambria Math" panose="02040503050406030204" pitchFamily="18" charset="0"/>
                              </a:rPr>
                              <m:t>4</m:t>
                            </m:r>
                          </m:e>
                        </m:d>
                      </m:e>
                      <m:sup>
                        <m:r>
                          <a:rPr lang="en-US" sz="1600" i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</mc:Choice>
              <mc:Fallback>
                <a:r>
                  <a:rPr lang="zh-CN" altLang="en-US" sz="1600" dirty="0">
                    <a:latin typeface="Arial"/>
                    <a:ea typeface="Microsoft YaHei"/>
                  </a:rPr>
                  <a:t>x^2 + 8x + 16 = (x + 4)^2</a:t>
                </a:r>
              </mc:Fallback>
            </mc:AlternateContent>
            <a:endParaRPr lang="zh-CN" sz="1600"/>
          </a:p>
          <a:p>
            <a:r>
              <a:rPr lang="zh-CN" altLang="en-US" sz="1600" dirty="0">
                <a:latin typeface="Arial"/>
                <a:ea typeface="Microsoft YaHei"/>
              </a:rPr>
              <a:t>Watch for:</a:t>
            </a:r>
            <a:endParaRPr lang="zh-CN" sz="1600"/>
          </a:p>
          <a:p>
            <a:r>
              <a:rPr lang="zh-CN" altLang="en-US" sz="1600" dirty="0">
                <a:latin typeface="Arial"/>
                <a:ea typeface="Microsoft YaHei"/>
              </a:rPr>
              <a:t>只给 </a:t>
            </a:r>
            <mc:AlternateContent xmlns:mc="http://schemas.openxmlformats.org/markup-compatibility/2006">
              <mc:Choice xmlns:a14="http://schemas.microsoft.com/office/drawing/2010/main" Requires="a14">
                <a14:m>
                  <m:oMath xmlns:m="http://schemas.openxmlformats.org/officeDocument/2006/math">
                    <m:r>
                      <a:rPr lang="en-US" sz="1600" i="1">
                        <a:latin typeface="Cambria Math" panose="02040503050406030204" pitchFamily="18" charset="0"/>
                      </a:rPr>
                      <m:t>k</m:t>
                    </m:r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1600" i="0">
                        <a:latin typeface="Cambria Math" panose="02040503050406030204" pitchFamily="18" charset="0"/>
                      </a:rPr>
                      <m:t>8</m:t>
                    </m:r>
                  </m:oMath>
                </a14:m>
              </mc:Choice>
              <mc:Fallback>
                <a:r>
                  <a:rPr lang="zh-CN" altLang="en-US" sz="1600" dirty="0">
                    <a:latin typeface="Arial"/>
                    <a:ea typeface="Microsoft YaHei"/>
                  </a:rPr>
                  <a:t>k = 8</a:t>
                </a:r>
              </mc:Fallback>
            </mc:AlternateContent>
            <a:endParaRPr lang="zh-CN" sz="160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>
            <a:noAutofit/>
          </a:bodyPr>
          <a:lstStyle/>
          <a:p>
            <a:r>
              <a:rPr lang="zh-CN" altLang="en-US" sz="1600" dirty="0">
                <a:latin typeface="Arial"/>
                <a:ea typeface="Microsoft YaHei"/>
              </a:rPr>
              <a:t>Q it turns round: </a:t>
            </a:r>
            <mc:AlternateContent xmlns:mc="http://schemas.openxmlformats.org/markup-compatibility/2006">
              <mc:Choice xmlns:a14="http://schemas.microsoft.com/office/drawing/2010/main" Requires="a14">
                <a14:m>
                  <m:oMath xmlns:m="http://schemas.openxmlformats.org/officeDocument/2006/math">
                    <m:r>
                      <a:rPr lang="en-US" sz="1600" i="1">
                        <a:latin typeface="Cambria Math" panose="02040503050406030204" pitchFamily="18" charset="0"/>
                      </a:rPr>
                      <m:t>p</m:t>
                    </m:r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US" sz="1600" i="0">
                        <a:latin typeface="Cambria Math" panose="02040503050406030204" pitchFamily="18" charset="0"/>
                      </a:rPr>
                      <m:t>4.5</m:t>
                    </m:r>
                  </m:oMath>
                </a14:m>
              </mc:Choice>
              <mc:Fallback>
                <a:r>
                  <a:rPr lang="zh-CN" altLang="en-US" sz="1600" dirty="0">
                    <a:latin typeface="Arial"/>
                    <a:ea typeface="Microsoft YaHei"/>
                  </a:rPr>
                  <a:t>p &lt; 4.5</a:t>
                </a:r>
              </mc:Fallback>
            </mc:AlternateContent>
            <a:endParaRPr lang="zh-CN" sz="1600"/>
          </a:p>
          <a:p>
            <a:r>
              <a:rPr lang="zh-CN" altLang="en-US" sz="1600" dirty="0">
                <a:latin typeface="Arial"/>
                <a:ea typeface="Microsoft YaHei"/>
              </a:rPr>
              <a:t>Short solution:</a:t>
            </a:r>
            <a:endParaRPr lang="zh-CN" sz="1600"/>
          </a:p>
          <a:p>
            <a:r>
              <a:rPr lang="zh-CN" altLang="en-US" sz="1600" dirty="0">
                <a:latin typeface="Arial"/>
                <a:ea typeface="Microsoft YaHei"/>
              </a:rPr>
              <a:t>Q two different real roots 是 </a:t>
            </a:r>
            <mc:AlternateContent xmlns:mc="http://schemas.openxmlformats.org/markup-compatibility/2006">
              <mc:Choice xmlns:a14="http://schemas.microsoft.com/office/drawing/2010/main"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US" sz="1600" i="0"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</mc:Choice>
              <mc:Fallback>
                <a:r>
                  <a:rPr lang="zh-CN" altLang="en-US" sz="1600" dirty="0">
                    <a:latin typeface="Arial"/>
                    <a:ea typeface="Microsoft YaHei"/>
                  </a:rPr>
                  <a:t>&gt; 0</a:t>
                </a:r>
              </mc:Fallback>
            </mc:AlternateContent>
            <a:r>
              <a:rPr lang="zh-CN" altLang="en-US" sz="1600" dirty="0">
                <a:latin typeface="Arial"/>
                <a:ea typeface="Microsoft YaHei"/>
              </a:rPr>
              <a:t>；除以负数变号</a:t>
            </a:r>
            <a:endParaRPr lang="zh-CN" sz="1600"/>
          </a:p>
          <a:p>
            <a:r>
              <a:rPr lang="zh-CN" altLang="en-US" sz="1600" dirty="0">
                <a:latin typeface="Arial"/>
                <a:ea typeface="Microsoft YaHei"/>
              </a:rPr>
              <a:t>Watch for:</a:t>
            </a:r>
            <a:endParaRPr lang="zh-CN" sz="1600"/>
          </a:p>
          <a:p>
            <a:r>
              <a:rPr lang="zh-CN" altLang="en-US" sz="1600" dirty="0">
                <a:latin typeface="Arial"/>
                <a:ea typeface="Microsoft YaHei"/>
              </a:rPr>
              <a:t>答 </a:t>
            </a:r>
            <mc:AlternateContent xmlns:mc="http://schemas.openxmlformats.org/markup-compatibility/2006">
              <mc:Choice xmlns:a14="http://schemas.microsoft.com/office/drawing/2010/main" Requires="a14">
                <a14:m>
                  <m:oMath xmlns:m="http://schemas.openxmlformats.org/officeDocument/2006/math">
                    <m:r>
                      <a:rPr lang="en-US" sz="1600" i="1">
                        <a:latin typeface="Cambria Math" panose="02040503050406030204" pitchFamily="18" charset="0"/>
                      </a:rPr>
                      <m:t>p</m:t>
                    </m:r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US" sz="1600" i="0">
                        <a:latin typeface="Cambria Math" panose="02040503050406030204" pitchFamily="18" charset="0"/>
                      </a:rPr>
                      <m:t>4.5</m:t>
                    </m:r>
                  </m:oMath>
                </a14:m>
              </mc:Choice>
              <mc:Fallback>
                <a:r>
                  <a:rPr lang="zh-CN" altLang="en-US" sz="1600" dirty="0">
                    <a:latin typeface="Arial"/>
                    <a:ea typeface="Microsoft YaHei"/>
                  </a:rPr>
                  <a:t>p &gt; 4.5</a:t>
                </a:r>
              </mc:Fallback>
            </mc:AlternateContent>
            <a:r>
              <a:rPr lang="zh-CN" altLang="en-US" sz="1600" dirty="0">
                <a:latin typeface="Arial"/>
                <a:ea typeface="Microsoft YaHei"/>
              </a:rPr>
              <a:t>（不变号）</a:t>
            </a:r>
            <a:endParaRPr lang="zh-CN" sz="1600"/>
          </a:p>
          <a:p>
            <a:r>
              <a:rPr lang="zh-CN" altLang="en-US" sz="1600" dirty="0">
                <a:latin typeface="Arial"/>
                <a:ea typeface="Microsoft YaHei"/>
              </a:rPr>
              <a:t>用 </a:t>
            </a:r>
            <mc:AlternateContent xmlns:mc="http://schemas.openxmlformats.org/markup-compatibility/2006">
              <mc:Choice xmlns:a14="http://schemas.microsoft.com/office/drawing/2010/main"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</a:rPr>
                      <m:t>≥</m:t>
                    </m:r>
                  </m:oMath>
                </a14:m>
              </mc:Choice>
              <mc:Fallback>
                <a:r>
                  <a:rPr lang="zh-CN" altLang="en-US" sz="1600" dirty="0">
                    <a:latin typeface="Arial"/>
                    <a:ea typeface="Microsoft YaHei"/>
                  </a:rPr>
                  <a:t>≥</a:t>
                </a:r>
              </mc:Fallback>
            </mc:AlternateContent>
            <a:r>
              <a:rPr lang="zh-CN" altLang="en-US" sz="1600" dirty="0">
                <a:latin typeface="Arial"/>
                <a:ea typeface="Microsoft YaHei"/>
              </a:rPr>
              <a:t>：“different” 不能等于（L20）</a:t>
            </a:r>
            <a:endParaRPr lang="zh-CN" sz="160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>
            <a:noAutofit/>
          </a:bodyPr>
          <a:lstStyle/>
          <a:p>
            <a:r>
              <a:rPr lang="zh-CN" altLang="en-US" sz="1600" dirty="0">
                <a:latin typeface="Arial"/>
                <a:ea typeface="Microsoft YaHei"/>
              </a:rPr>
              <a:t>Gap </a:t>
            </a:r>
            <mc:AlternateContent xmlns:mc="http://schemas.openxmlformats.org/markup-compatibility/2006">
              <mc:Choice xmlns:a14="http://schemas.microsoft.com/office/drawing/2010/main" Requires="a14">
                <a14:m>
                  <m:oMath xmlns:m="http://schemas.openxmlformats.org/officeDocument/2006/math">
                    <m:r>
                      <a:rPr lang="en-US" sz="1600" i="1">
                        <a:latin typeface="Cambria Math" panose="02040503050406030204" pitchFamily="18" charset="0"/>
                      </a:rPr>
                      <m:t>k</m:t>
                    </m:r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sz="1600" i="0"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</mc:Choice>
              <mc:Fallback>
                <a:r>
                  <a:rPr lang="zh-CN" altLang="en-US" sz="1600" dirty="0">
                    <a:latin typeface="Arial"/>
                    <a:ea typeface="Microsoft YaHei"/>
                  </a:rPr>
                  <a:t>k - 3</a:t>
                </a:r>
              </mc:Fallback>
            </mc:AlternateContent>
            <a:endParaRPr lang="zh-CN" sz="1600"/>
          </a:p>
          <a:p>
            <a:r>
              <a:rPr lang="zh-CN" altLang="en-US" sz="1600" dirty="0">
                <a:latin typeface="Arial"/>
                <a:ea typeface="Microsoft YaHei"/>
              </a:rPr>
              <a:t>Q </a:t>
            </a:r>
            <mc:AlternateContent xmlns:mc="http://schemas.openxmlformats.org/markup-compatibility/2006">
              <mc:Choice xmlns:a14="http://schemas.microsoft.com/office/drawing/2010/main" Requires="a14">
                <a14:m>
                  <m:oMath xmlns:m="http://schemas.openxmlformats.org/officeDocument/2006/math">
                    <m:r>
                      <a:rPr lang="en-US" sz="1600" i="1">
                        <a:latin typeface="Cambria Math" panose="02040503050406030204" pitchFamily="18" charset="0"/>
                      </a:rPr>
                      <m:t>k</m:t>
                    </m:r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1600" i="0"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</mc:Choice>
              <mc:Fallback>
                <a:r>
                  <a:rPr lang="zh-CN" altLang="en-US" sz="1600" dirty="0">
                    <a:latin typeface="Arial"/>
                    <a:ea typeface="Microsoft YaHei"/>
                  </a:rPr>
                  <a:t>k = 4</a:t>
                </a:r>
              </mc:Fallback>
            </mc:AlternateContent>
            <a:r>
              <a:rPr lang="zh-CN" altLang="en-US" sz="1600" dirty="0">
                <a:latin typeface="Arial"/>
                <a:ea typeface="Microsoft YaHei"/>
              </a:rPr>
              <a:t> or </a:t>
            </a:r>
            <mc:AlternateContent xmlns:mc="http://schemas.openxmlformats.org/markup-compatibility/2006">
              <mc:Choice xmlns:a14="http://schemas.microsoft.com/office/drawing/2010/main" Requires="a14">
                <a14:m>
                  <m:oMath xmlns:m="http://schemas.openxmlformats.org/officeDocument/2006/math">
                    <m:r>
                      <a:rPr lang="en-US" sz="1600" i="1">
                        <a:latin typeface="Cambria Math" panose="02040503050406030204" pitchFamily="18" charset="0"/>
                      </a:rPr>
                      <m:t>k</m:t>
                    </m:r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sz="1600" i="0"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</mc:Choice>
              <mc:Fallback>
                <a:r>
                  <a:rPr lang="zh-CN" altLang="en-US" sz="1600" dirty="0">
                    <a:latin typeface="Arial"/>
                    <a:ea typeface="Microsoft YaHei"/>
                  </a:rPr>
                  <a:t>k = -1</a:t>
                </a:r>
              </mc:Fallback>
            </mc:AlternateContent>
            <a:endParaRPr lang="zh-CN" sz="1600"/>
          </a:p>
          <a:p>
            <a:r>
              <a:rPr lang="zh-CN" altLang="en-US" sz="1600" dirty="0">
                <a:latin typeface="Arial"/>
                <a:ea typeface="Microsoft YaHei"/>
              </a:rPr>
              <a:t>Short solution:</a:t>
            </a:r>
            <a:endParaRPr lang="zh-CN" sz="1600"/>
          </a:p>
          <a:p>
            <a:r>
              <a:rPr lang="zh-CN" altLang="en-US" sz="1600" dirty="0">
                <a:latin typeface="Arial"/>
                <a:ea typeface="Microsoft YaHei"/>
              </a:rPr>
              <a:t>Q </a:t>
            </a:r>
            <mc:AlternateContent xmlns:mc="http://schemas.openxmlformats.org/markup-compatibility/2006">
              <mc:Choice xmlns:a14="http://schemas.microsoft.com/office/drawing/2010/main" Requires="a14">
                <a14:m>
                  <m:oMath xmlns:m="http://schemas.openxmlformats.org/officeDocument/2006/math">
                    <m:r>
                      <a:rPr lang="en-US" sz="1600" i="0">
                        <a:latin typeface="Cambria Math" panose="02040503050406030204" pitchFamily="18" charset="0"/>
                      </a:rPr>
                      <m:t>16</m:t>
                    </m:r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sz="1600" i="0">
                        <a:latin typeface="Cambria Math" panose="02040503050406030204" pitchFamily="18" charset="0"/>
                      </a:rPr>
                      <m:t>4</m:t>
                    </m:r>
                    <m:sSup>
                      <m:e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k</m:t>
                        </m:r>
                      </m:e>
                      <m:sup>
                        <m:r>
                          <a:rPr lang="en-US" sz="1600" i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1600" i="0">
                        <a:latin typeface="Cambria Math" panose="02040503050406030204" pitchFamily="18" charset="0"/>
                      </a:rPr>
                      <m:t>12</m:t>
                    </m:r>
                    <m:r>
                      <a:rPr lang="en-US" sz="1600" i="1">
                        <a:latin typeface="Cambria Math" panose="02040503050406030204" pitchFamily="18" charset="0"/>
                      </a:rPr>
                      <m:t>k</m:t>
                    </m:r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1600" i="0"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</mc:Choice>
              <mc:Fallback>
                <a:r>
                  <a:rPr lang="zh-CN" altLang="en-US" sz="1600" dirty="0">
                    <a:latin typeface="Arial"/>
                    <a:ea typeface="Microsoft YaHei"/>
                  </a:rPr>
                  <a:t>16 - 4k^2 + 12k = 0</a:t>
                </a:r>
              </mc:Fallback>
            </mc:AlternateContent>
            <a:r>
              <a:rPr lang="zh-CN" altLang="en-US" sz="1600" dirty="0">
                <a:latin typeface="Arial"/>
                <a:ea typeface="Microsoft YaHei"/>
              </a:rPr>
              <a:t>，除以 </a:t>
            </a:r>
            <mc:AlternateContent xmlns:mc="http://schemas.openxmlformats.org/markup-compatibility/2006">
              <mc:Choice xmlns:a14="http://schemas.microsoft.com/office/drawing/2010/main"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sz="1600" i="0"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</mc:Choice>
              <mc:Fallback>
                <a:r>
                  <a:rPr lang="zh-CN" altLang="en-US" sz="1600" dirty="0">
                    <a:latin typeface="Arial"/>
                    <a:ea typeface="Microsoft YaHei"/>
                  </a:rPr>
                  <a:t>-4</a:t>
                </a:r>
              </mc:Fallback>
            </mc:AlternateContent>
            <a:r>
              <a:rPr lang="zh-CN" altLang="en-US" sz="1600" dirty="0">
                <a:latin typeface="Arial"/>
                <a:ea typeface="Microsoft YaHei"/>
              </a:rPr>
              <a:t>：</a:t>
            </a:r>
            <mc:AlternateContent xmlns:mc="http://schemas.openxmlformats.org/markup-compatibility/2006">
              <mc:Choice xmlns:a14="http://schemas.microsoft.com/office/drawing/2010/main" Requires="a14">
                <a14:m>
                  <m:oMath xmlns:m="http://schemas.openxmlformats.org/officeDocument/2006/math">
                    <m:sSup>
                      <m:e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k</m:t>
                        </m:r>
                      </m:e>
                      <m:sup>
                        <m:r>
                          <a:rPr lang="en-US" sz="1600" i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sz="1600" i="0">
                        <a:latin typeface="Cambria Math" panose="02040503050406030204" pitchFamily="18" charset="0"/>
                      </a:rPr>
                      <m:t>3</m:t>
                    </m:r>
                    <m:r>
                      <a:rPr lang="en-US" sz="1600" i="1">
                        <a:latin typeface="Cambria Math" panose="02040503050406030204" pitchFamily="18" charset="0"/>
                      </a:rPr>
                      <m:t>k</m:t>
                    </m:r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sz="1600" i="0"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("/>
                        <m:endChr m:val=")"/>
                        <m:sepChr m:val=""/>
                        <m:grow/>
                      </m:dPr>
                      <m:e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k</m:t>
                        </m:r>
                        <m:r>
                          <m:rPr>
                            <m:sty m:val="p"/>
                          </m:rPr>
                          <a:rPr lang="en-US" sz="1600" i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sz="1600" i="0">
                            <a:latin typeface="Cambria Math" panose="02040503050406030204" pitchFamily="18" charset="0"/>
                          </a:rPr>
                          <m:t>4</m:t>
                        </m:r>
                      </m:e>
                    </m:d>
                    <m:d>
                      <m:dPr>
                        <m:begChr m:val="("/>
                        <m:endChr m:val=")"/>
                        <m:sepChr m:val=""/>
                        <m:grow/>
                      </m:dPr>
                      <m:e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k</m:t>
                        </m:r>
                        <m:r>
                          <m:rPr>
                            <m:sty m:val="p"/>
                          </m:rPr>
                          <a:rPr lang="en-US" sz="1600" i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sz="1600" i="0"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</m:oMath>
                </a14:m>
              </mc:Choice>
              <mc:Fallback>
                <a:r>
                  <a:rPr lang="zh-CN" altLang="en-US" sz="1600" dirty="0">
                    <a:latin typeface="Arial"/>
                    <a:ea typeface="Microsoft YaHei"/>
                  </a:rPr>
                  <a:t>k^2 - 3k - 4 = (k - 4)(k + 1)</a:t>
                </a:r>
              </mc:Fallback>
            </mc:AlternateContent>
            <a:r>
              <a:rPr lang="zh-CN" altLang="en-US" sz="1600" dirty="0">
                <a:latin typeface="Arial"/>
                <a:ea typeface="Microsoft YaHei"/>
              </a:rPr>
              <a:t> (r)</a:t>
            </a:r>
            <a:endParaRPr lang="zh-CN" sz="1600"/>
          </a:p>
          <a:p>
            <a:r>
              <a:rPr lang="zh-CN" altLang="en-US" sz="1600" dirty="0">
                <a:latin typeface="Arial"/>
                <a:ea typeface="Microsoft YaHei"/>
              </a:rPr>
              <a:t>Watch for:</a:t>
            </a:r>
            <a:endParaRPr lang="zh-CN" sz="1600"/>
          </a:p>
          <a:p>
            <mc:AlternateContent xmlns:mc="http://schemas.openxmlformats.org/markup-compatibility/2006">
              <mc:Choice xmlns:a14="http://schemas.microsoft.com/office/drawing/2010/main" Requires="a14">
                <a14:m>
                  <m:oMath xmlns:m="http://schemas.openxmlformats.org/officeDocument/2006/math">
                    <m:r>
                      <a:rPr lang="en-US" sz="1600" i="1">
                        <a:latin typeface="Cambria Math" panose="02040503050406030204" pitchFamily="18" charset="0"/>
                      </a:rPr>
                      <m:t>c</m:t>
                    </m:r>
                  </m:oMath>
                </a14:m>
              </mc:Choice>
              <mc:Fallback>
                <a:r>
                  <a:rPr lang="zh-CN" altLang="en-US" sz="1600" dirty="0">
                    <a:latin typeface="Arial"/>
                    <a:ea typeface="Microsoft YaHei"/>
                  </a:rPr>
                  <a:t>c</a:t>
                </a:r>
              </mc:Fallback>
            </mc:AlternateContent>
            <a:r>
              <a:rPr lang="zh-CN" altLang="en-US" sz="1600" dirty="0">
                <a:latin typeface="Arial"/>
                <a:ea typeface="Microsoft YaHei"/>
              </a:rPr>
              <a:t> 不加括号：</a:t>
            </a:r>
            <mc:AlternateContent xmlns:mc="http://schemas.openxmlformats.org/markup-compatibility/2006">
              <mc:Choice xmlns:a14="http://schemas.microsoft.com/office/drawing/2010/main" Requires="a14">
                <a14:m>
                  <m:oMath xmlns:m="http://schemas.openxmlformats.org/officeDocument/2006/math">
                    <m:r>
                      <a:rPr lang="en-US" sz="1600" i="0">
                        <a:latin typeface="Cambria Math" panose="02040503050406030204" pitchFamily="18" charset="0"/>
                      </a:rPr>
                      <m:t>4</m:t>
                    </m:r>
                    <m:r>
                      <a:rPr lang="en-US" sz="1600" i="1">
                        <a:latin typeface="Cambria Math" panose="02040503050406030204" pitchFamily="18" charset="0"/>
                      </a:rPr>
                      <m:t>k</m:t>
                    </m:r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</a:rPr>
                      <m:t>×</m:t>
                    </m:r>
                    <m:r>
                      <a:rPr lang="en-US" sz="1600" i="1">
                        <a:latin typeface="Cambria Math" panose="02040503050406030204" pitchFamily="18" charset="0"/>
                      </a:rPr>
                      <m:t>k</m:t>
                    </m:r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sz="1600" i="0"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</mc:Choice>
              <mc:Fallback>
                <a:r>
                  <a:rPr lang="zh-CN" altLang="en-US" sz="1600" dirty="0">
                    <a:latin typeface="Arial"/>
                    <a:ea typeface="Microsoft YaHei"/>
                  </a:rPr>
                  <a:t>4k × k - 3</a:t>
                </a:r>
              </mc:Fallback>
            </mc:AlternateContent>
            <a:r>
              <a:rPr lang="zh-CN" altLang="en-US" sz="1600" dirty="0">
                <a:latin typeface="Arial"/>
                <a:ea typeface="Microsoft YaHei"/>
              </a:rPr>
              <a:t>（L21）</a:t>
            </a:r>
            <a:endParaRPr lang="zh-CN" sz="1600"/>
          </a:p>
          <a:p>
            <a:r>
              <a:rPr lang="zh-CN" altLang="en-US" sz="1600" dirty="0">
                <a:latin typeface="Arial"/>
                <a:ea typeface="Microsoft YaHei"/>
              </a:rPr>
              <a:t>这是 Lesson 1 的展开 + 今天的分解</a:t>
            </a:r>
            <a:endParaRPr lang="zh-CN" sz="160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>
            <a:noAutofit/>
          </a:bodyPr>
          <a:lstStyle/>
          <a:p>
            <a:r>
              <a:rPr lang="zh-CN" altLang="en-US" sz="1600" dirty="0">
                <a:latin typeface="Arial"/>
                <a:ea typeface="Microsoft YaHei"/>
              </a:rPr>
              <a:t>1. </a:t>
            </a:r>
            <mc:AlternateContent xmlns:mc="http://schemas.openxmlformats.org/markup-compatibility/2006">
              <mc:Choice xmlns:a14="http://schemas.microsoft.com/office/drawing/2010/main" Requires="a14">
                <a14:m>
                  <m:oMath xmlns:m="http://schemas.openxmlformats.org/officeDocument/2006/math">
                    <m:sSup>
                      <m:e>
                        <m:d>
                          <m:dPr>
                            <m:begChr m:val="("/>
                            <m:endChr m:val=")"/>
                            <m:sepChr m:val=""/>
                            <m:grow/>
                          </m:dPr>
                          <m:e>
                            <m:r>
                              <m:rPr>
                                <m:sty m:val="p"/>
                              </m:rPr>
                              <a:rPr lang="en-US" sz="1600" i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sz="1600" i="0">
                                <a:latin typeface="Cambria Math" panose="02040503050406030204" pitchFamily="18" charset="0"/>
                              </a:rPr>
                              <m:t>5</m:t>
                            </m:r>
                          </m:e>
                        </m:d>
                      </m:e>
                      <m:sup>
                        <m:r>
                          <a:rPr lang="en-US" sz="1600" i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1600" i="0">
                        <a:latin typeface="Cambria Math" panose="02040503050406030204" pitchFamily="18" charset="0"/>
                      </a:rPr>
                      <m:t>25</m:t>
                    </m:r>
                  </m:oMath>
                </a14:m>
              </mc:Choice>
              <mc:Fallback>
                <a:r>
                  <a:rPr lang="zh-CN" altLang="en-US" sz="1600" dirty="0">
                    <a:latin typeface="Arial"/>
                    <a:ea typeface="Microsoft YaHei"/>
                  </a:rPr>
                  <a:t>(-5)^2 = 25</a:t>
                </a:r>
              </mc:Fallback>
            </mc:AlternateContent>
            <a:r>
              <a:rPr lang="zh-CN" altLang="en-US" sz="1600" dirty="0">
                <a:latin typeface="Arial"/>
                <a:ea typeface="Microsoft YaHei"/>
              </a:rPr>
              <a:t>, not </a:t>
            </a:r>
            <mc:AlternateContent xmlns:mc="http://schemas.openxmlformats.org/markup-compatibility/2006">
              <mc:Choice xmlns:a14="http://schemas.microsoft.com/office/drawing/2010/main"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sz="1600" i="0">
                        <a:latin typeface="Cambria Math" panose="02040503050406030204" pitchFamily="18" charset="0"/>
                      </a:rPr>
                      <m:t>25</m:t>
                    </m:r>
                  </m:oMath>
                </a14:m>
              </mc:Choice>
              <mc:Fallback>
                <a:r>
                  <a:rPr lang="zh-CN" altLang="en-US" sz="1600" dirty="0">
                    <a:latin typeface="Arial"/>
                    <a:ea typeface="Microsoft YaHei"/>
                  </a:rPr>
                  <a:t>-25</a:t>
                </a:r>
              </mc:Fallback>
            </mc:AlternateContent>
            <a:r>
              <a:rPr lang="zh-CN" altLang="en-US" sz="1600" dirty="0">
                <a:latin typeface="Arial"/>
                <a:ea typeface="Microsoft YaHei"/>
              </a:rPr>
              <a:t>: bracket the negative </a:t>
            </a:r>
            <mc:AlternateContent xmlns:mc="http://schemas.openxmlformats.org/markup-compatibility/2006">
              <mc:Choice xmlns:a14="http://schemas.microsoft.com/office/drawing/2010/main" Requires="a14">
                <a14:m>
                  <m:oMath xmlns:m="http://schemas.openxmlformats.org/officeDocument/2006/math">
                    <m:r>
                      <a:rPr lang="en-US" sz="1600" i="1">
                        <a:latin typeface="Cambria Math" panose="02040503050406030204" pitchFamily="18" charset="0"/>
                      </a:rPr>
                      <m:t>b</m:t>
                    </m:r>
                  </m:oMath>
                </a14:m>
              </mc:Choice>
              <mc:Fallback>
                <a:r>
                  <a:rPr lang="zh-CN" altLang="en-US" sz="1600" dirty="0">
                    <a:latin typeface="Arial"/>
                    <a:ea typeface="Microsoft YaHei"/>
                  </a:rPr>
                  <a:t>b</a:t>
                </a:r>
              </mc:Fallback>
            </mc:AlternateContent>
            <a:r>
              <a:rPr lang="zh-CN" altLang="en-US" sz="1600" dirty="0">
                <a:latin typeface="Arial"/>
                <a:ea typeface="Microsoft YaHei"/>
              </a:rPr>
              <a:t> (L21)</a:t>
            </a:r>
            <a:endParaRPr lang="zh-CN" sz="1600"/>
          </a:p>
          <a:p>
            <a:r>
              <a:rPr lang="zh-CN" altLang="en-US" sz="1600" dirty="0">
                <a:latin typeface="Arial"/>
                <a:ea typeface="Microsoft YaHei"/>
              </a:rPr>
              <a:t>2. no real roots needs </a:t>
            </a:r>
            <mc:AlternateContent xmlns:mc="http://schemas.openxmlformats.org/markup-compatibility/2006">
              <mc:Choice xmlns:a14="http://schemas.microsoft.com/office/drawing/2010/main" Requires="a14">
                <a14:m>
                  <m:oMath xmlns:m="http://schemas.openxmlformats.org/officeDocument/2006/math">
                    <m:sSup>
                      <m:e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b</m:t>
                        </m:r>
                      </m:e>
                      <m:sup>
                        <m:r>
                          <a:rPr lang="en-US" sz="1600" i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sz="1600" i="0">
                        <a:latin typeface="Cambria Math" panose="02040503050406030204" pitchFamily="18" charset="0"/>
                      </a:rPr>
                      <m:t>4</m:t>
                    </m:r>
                    <m:r>
                      <a:rPr lang="en-US" sz="1600" i="1">
                        <a:latin typeface="Cambria Math" panose="02040503050406030204" pitchFamily="18" charset="0"/>
                      </a:rPr>
                      <m:t>a</m:t>
                    </m:r>
                    <m:r>
                      <a:rPr lang="en-US" sz="1600" i="1">
                        <a:latin typeface="Cambria Math" panose="02040503050406030204" pitchFamily="18" charset="0"/>
                      </a:rPr>
                      <m:t>c</m:t>
                    </m:r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US" sz="1600" i="0"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</mc:Choice>
              <mc:Fallback>
                <a:r>
                  <a:rPr lang="zh-CN" altLang="en-US" sz="1600" dirty="0">
                    <a:latin typeface="Arial"/>
                    <a:ea typeface="Microsoft YaHei"/>
                  </a:rPr>
                  <a:t>b^2 - 4ac &lt; 0</a:t>
                </a:r>
              </mc:Fallback>
            </mc:AlternateContent>
            <a:r>
              <a:rPr lang="zh-CN" altLang="en-US" sz="1600" dirty="0">
                <a:latin typeface="Arial"/>
                <a:ea typeface="Microsoft YaHei"/>
              </a:rPr>
              <a:t>, not </a:t>
            </a:r>
            <mc:AlternateContent xmlns:mc="http://schemas.openxmlformats.org/markup-compatibility/2006">
              <mc:Choice xmlns:a14="http://schemas.microsoft.com/office/drawing/2010/main"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US" sz="1600" i="0"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</mc:Choice>
              <mc:Fallback>
                <a:r>
                  <a:rPr lang="zh-CN" altLang="en-US" sz="1600" dirty="0">
                    <a:latin typeface="Arial"/>
                    <a:ea typeface="Microsoft YaHei"/>
                  </a:rPr>
                  <a:t>&gt; 0</a:t>
                </a:r>
              </mc:Fallback>
            </mc:AlternateContent>
            <a:r>
              <a:rPr lang="zh-CN" altLang="en-US" sz="1600" dirty="0">
                <a:latin typeface="Arial"/>
                <a:ea typeface="Microsoft YaHei"/>
              </a:rPr>
              <a:t> (L20)</a:t>
            </a:r>
            <a:endParaRPr lang="zh-CN" sz="1600"/>
          </a:p>
          <a:p>
            <a:r>
              <a:rPr lang="zh-CN" altLang="en-US" sz="1600" dirty="0">
                <a:latin typeface="Arial"/>
                <a:ea typeface="Microsoft YaHei"/>
              </a:rPr>
              <a:t>Short solution:</a:t>
            </a:r>
            <a:endParaRPr lang="zh-CN" sz="1600"/>
          </a:p>
          <a:p>
            <mc:AlternateContent xmlns:mc="http://schemas.openxmlformats.org/markup-compatibility/2006">
              <mc:Choice xmlns:a14="http://schemas.microsoft.com/office/drawing/2010/main" Requires="a14">
                <a14:m>
                  <m:oMath xmlns:m="http://schemas.openxmlformats.org/officeDocument/2006/math">
                    <m:r>
                      <a:rPr lang="en-US" sz="1600" i="0">
                        <a:latin typeface="Cambria Math" panose="02040503050406030204" pitchFamily="18" charset="0"/>
                      </a:rPr>
                      <m:t>25</m:t>
                    </m:r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sz="1600" i="0">
                        <a:latin typeface="Cambria Math" panose="02040503050406030204" pitchFamily="18" charset="0"/>
                      </a:rPr>
                      <m:t>4</m:t>
                    </m:r>
                    <m:r>
                      <a:rPr lang="en-US" sz="1600" i="1">
                        <a:latin typeface="Cambria Math" panose="02040503050406030204" pitchFamily="18" charset="0"/>
                      </a:rPr>
                      <m:t>k</m:t>
                    </m:r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US" sz="1600" i="0"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</mc:Choice>
              <mc:Fallback>
                <a:r>
                  <a:rPr lang="zh-CN" altLang="en-US" sz="1600" dirty="0">
                    <a:latin typeface="Arial"/>
                    <a:ea typeface="Microsoft YaHei"/>
                  </a:rPr>
                  <a:t>25 - 4k &lt; 0</a:t>
                </a:r>
              </mc:Fallback>
            </mc:AlternateContent>
            <a:r>
              <a:rPr lang="zh-CN" altLang="en-US" sz="1600" dirty="0">
                <a:latin typeface="Arial"/>
                <a:ea typeface="Microsoft YaHei"/>
              </a:rPr>
              <a:t>，</a:t>
            </a:r>
            <mc:AlternateContent xmlns:mc="http://schemas.openxmlformats.org/markup-compatibility/2006">
              <mc:Choice xmlns:a14="http://schemas.microsoft.com/office/drawing/2010/main"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sz="1600" i="0">
                        <a:latin typeface="Cambria Math" panose="02040503050406030204" pitchFamily="18" charset="0"/>
                      </a:rPr>
                      <m:t>4</m:t>
                    </m:r>
                    <m:r>
                      <a:rPr lang="en-US" sz="1600" i="1">
                        <a:latin typeface="Cambria Math" panose="02040503050406030204" pitchFamily="18" charset="0"/>
                      </a:rPr>
                      <m:t>k</m:t>
                    </m:r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</a:rPr>
                      <m:t>&lt;</m:t>
                    </m:r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sz="1600" i="0">
                        <a:latin typeface="Cambria Math" panose="02040503050406030204" pitchFamily="18" charset="0"/>
                      </a:rPr>
                      <m:t>25</m:t>
                    </m:r>
                  </m:oMath>
                </a14:m>
              </mc:Choice>
              <mc:Fallback>
                <a:r>
                  <a:rPr lang="zh-CN" altLang="en-US" sz="1600" dirty="0">
                    <a:latin typeface="Arial"/>
                    <a:ea typeface="Microsoft YaHei"/>
                  </a:rPr>
                  <a:t>-4k &lt; -25</a:t>
                </a:r>
              </mc:Fallback>
            </mc:AlternateContent>
            <a:r>
              <a:rPr lang="zh-CN" altLang="en-US" sz="1600" dirty="0">
                <a:latin typeface="Arial"/>
                <a:ea typeface="Microsoft YaHei"/>
              </a:rPr>
              <a:t>，</a:t>
            </a:r>
            <mc:AlternateContent xmlns:mc="http://schemas.openxmlformats.org/markup-compatibility/2006">
              <mc:Choice xmlns:a14="http://schemas.microsoft.com/office/drawing/2010/main" Requires="a14">
                <a14:m>
                  <m:oMath xmlns:m="http://schemas.openxmlformats.org/officeDocument/2006/math">
                    <m:r>
                      <a:rPr lang="en-US" sz="1600" i="1">
                        <a:latin typeface="Cambria Math" panose="02040503050406030204" pitchFamily="18" charset="0"/>
                      </a:rPr>
                      <m:t>k</m:t>
                    </m:r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US" sz="1600" i="0">
                        <a:latin typeface="Cambria Math" panose="02040503050406030204" pitchFamily="18" charset="0"/>
                      </a:rPr>
                      <m:t>6.25</m:t>
                    </m:r>
                  </m:oMath>
                </a14:m>
              </mc:Choice>
              <mc:Fallback>
                <a:r>
                  <a:rPr lang="zh-CN" altLang="en-US" sz="1600" dirty="0">
                    <a:latin typeface="Arial"/>
                    <a:ea typeface="Microsoft YaHei"/>
                  </a:rPr>
                  <a:t>k &gt; 6.25</a:t>
                </a:r>
              </mc:Fallback>
            </mc:AlternateContent>
            <a:endParaRPr lang="zh-CN" sz="1600"/>
          </a:p>
          <a:p>
            <a:r>
              <a:rPr lang="zh-CN" altLang="en-US" sz="1600" dirty="0">
                <a:latin typeface="Arial"/>
                <a:ea typeface="Microsoft YaHei"/>
              </a:rPr>
              <a:t>Watch for:</a:t>
            </a:r>
            <a:endParaRPr lang="zh-CN" sz="1600"/>
          </a:p>
          <a:p>
            <a:r>
              <a:rPr lang="zh-CN" altLang="en-US" sz="1600" dirty="0">
                <a:latin typeface="Arial"/>
                <a:ea typeface="Microsoft YaHei"/>
              </a:rPr>
              <a:t>检查 </a:t>
            </a:r>
            <mc:AlternateContent xmlns:mc="http://schemas.openxmlformats.org/markup-compatibility/2006">
              <mc:Choice xmlns:a14="http://schemas.microsoft.com/office/drawing/2010/main" Requires="a14">
                <a14:m>
                  <m:oMath xmlns:m="http://schemas.openxmlformats.org/officeDocument/2006/math">
                    <m:r>
                      <a:rPr lang="en-US" sz="1600" i="1">
                        <a:latin typeface="Cambria Math" panose="02040503050406030204" pitchFamily="18" charset="0"/>
                      </a:rPr>
                      <m:t>k</m:t>
                    </m:r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1600" i="0">
                        <a:latin typeface="Cambria Math" panose="02040503050406030204" pitchFamily="18" charset="0"/>
                      </a:rPr>
                      <m:t>7</m:t>
                    </m:r>
                  </m:oMath>
                </a14:m>
              </mc:Choice>
              <mc:Fallback>
                <a:r>
                  <a:rPr lang="zh-CN" altLang="en-US" sz="1600" dirty="0">
                    <a:latin typeface="Arial"/>
                    <a:ea typeface="Microsoft YaHei"/>
                  </a:rPr>
                  <a:t>k = 7</a:t>
                </a:r>
              </mc:Fallback>
            </mc:AlternateContent>
            <a:r>
              <a:rPr lang="zh-CN" altLang="en-US" sz="1600" dirty="0">
                <a:latin typeface="Arial"/>
                <a:ea typeface="Microsoft YaHei"/>
              </a:rPr>
              <a:t>：</a:t>
            </a:r>
            <mc:AlternateContent xmlns:mc="http://schemas.openxmlformats.org/markup-compatibility/2006">
              <mc:Choice xmlns:a14="http://schemas.microsoft.com/office/drawing/2010/main" Requires="a14">
                <a14:m>
                  <m:oMath xmlns:m="http://schemas.openxmlformats.org/officeDocument/2006/math">
                    <m:r>
                      <a:rPr lang="en-US" sz="1600" i="1">
                        <a:latin typeface="Cambria Math" panose="02040503050406030204" pitchFamily="18" charset="0"/>
                      </a:rPr>
                      <m:t>Δ</m:t>
                    </m:r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1600" i="0">
                        <a:latin typeface="Cambria Math" panose="02040503050406030204" pitchFamily="18" charset="0"/>
                      </a:rPr>
                      <m:t>25</m:t>
                    </m:r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sz="1600" i="0">
                        <a:latin typeface="Cambria Math" panose="02040503050406030204" pitchFamily="18" charset="0"/>
                      </a:rPr>
                      <m:t>28</m:t>
                    </m:r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US" sz="1600" i="0"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</mc:Choice>
              <mc:Fallback>
                <a:r>
                  <a:rPr lang="zh-CN" altLang="en-US" sz="1600" dirty="0">
                    <a:latin typeface="Arial"/>
                    <a:ea typeface="Microsoft YaHei"/>
                  </a:rPr>
                  <a:t> = 25 - 28 &lt; 0</a:t>
                </a:r>
              </mc:Fallback>
            </mc:AlternateContent>
            <a:r>
              <a:rPr lang="zh-CN" altLang="en-US" sz="1600" dirty="0">
                <a:latin typeface="Arial"/>
                <a:ea typeface="Microsoft YaHei"/>
              </a:rPr>
              <a:t>，没有实根</a:t>
            </a:r>
            <a:endParaRPr lang="zh-CN" sz="160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>
            <a:noAutofit/>
          </a:bodyPr>
          <a:lstStyle/>
          <a:p>
            <a:r>
              <a:rPr lang="zh-CN" altLang="en-US" sz="1600" dirty="0">
                <a:latin typeface="Arial"/>
                <a:ea typeface="Microsoft YaHei"/>
              </a:rPr>
              <a:t>Q1 0: one repeated root, </a:t>
            </a:r>
            <mc:AlternateContent xmlns:mc="http://schemas.openxmlformats.org/markup-compatibility/2006">
              <mc:Choice xmlns:a14="http://schemas.microsoft.com/office/drawing/2010/main" Requires="a14">
                <a14:m>
                  <m:oMath xmlns:m="http://schemas.openxmlformats.org/officeDocument/2006/math">
                    <m:r>
                      <a:rPr lang="en-US" sz="1600" i="1">
                        <a:latin typeface="Cambria Math" panose="02040503050406030204" pitchFamily="18" charset="0"/>
                      </a:rPr>
                      <m:t>x</m:t>
                    </m:r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</m:fPr>
                      <m:num>
                        <m:r>
                          <a:rPr lang="en-US" sz="1600" i="0"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US" sz="1600" i="0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</mc:Choice>
              <mc:Fallback>
                <a:r>
                  <a:rPr lang="zh-CN" altLang="en-US" sz="1600" dirty="0">
                    <a:latin typeface="Arial"/>
                    <a:ea typeface="Microsoft YaHei"/>
                  </a:rPr>
                  <a:t>x = -(3)/(2)</a:t>
                </a:r>
              </mc:Fallback>
            </mc:AlternateContent>
            <a:endParaRPr lang="zh-CN" sz="1600"/>
          </a:p>
          <a:p>
            <a:r>
              <a:rPr lang="zh-CN" altLang="en-US" sz="1600" dirty="0">
                <a:latin typeface="Arial"/>
                <a:ea typeface="Microsoft YaHei"/>
              </a:rPr>
              <a:t>Q2 </a:t>
            </a:r>
            <mc:AlternateContent xmlns:mc="http://schemas.openxmlformats.org/markup-compatibility/2006">
              <mc:Choice xmlns:a14="http://schemas.microsoft.com/office/drawing/2010/main" Requires="a14">
                <a14:m>
                  <m:oMath xmlns:m="http://schemas.openxmlformats.org/officeDocument/2006/math">
                    <m:r>
                      <a:rPr lang="en-US" sz="1600" i="1">
                        <a:latin typeface="Cambria Math" panose="02040503050406030204" pitchFamily="18" charset="0"/>
                      </a:rPr>
                      <m:t>k</m:t>
                    </m:r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US" sz="1600" i="0">
                        <a:latin typeface="Cambria Math" panose="02040503050406030204" pitchFamily="18" charset="0"/>
                      </a:rPr>
                      <m:t>9</m:t>
                    </m:r>
                  </m:oMath>
                </a14:m>
              </mc:Choice>
              <mc:Fallback>
                <a:r>
                  <a:rPr lang="zh-CN" altLang="en-US" sz="1600" dirty="0">
                    <a:latin typeface="Arial"/>
                    <a:ea typeface="Microsoft YaHei"/>
                  </a:rPr>
                  <a:t>k &gt; 9</a:t>
                </a:r>
              </mc:Fallback>
            </mc:AlternateContent>
            <a:endParaRPr lang="zh-CN" sz="1600"/>
          </a:p>
          <a:p>
            <a:r>
              <a:rPr lang="zh-CN" altLang="en-US" sz="1600" dirty="0">
                <a:latin typeface="Arial"/>
                <a:ea typeface="Microsoft YaHei"/>
              </a:rPr>
              <a:t>Q3 </a:t>
            </a:r>
            <mc:AlternateContent xmlns:mc="http://schemas.openxmlformats.org/markup-compatibility/2006">
              <mc:Choice xmlns:a14="http://schemas.microsoft.com/office/drawing/2010/main" Requires="a14">
                <a14:m>
                  <m:oMath xmlns:m="http://schemas.openxmlformats.org/officeDocument/2006/math">
                    <m:r>
                      <a:rPr lang="en-US" sz="1600" i="1">
                        <a:latin typeface="Cambria Math" panose="02040503050406030204" pitchFamily="18" charset="0"/>
                      </a:rPr>
                      <m:t>m</m:t>
                    </m:r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1600" i="0"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</mc:Choice>
              <mc:Fallback>
                <a:r>
                  <a:rPr lang="zh-CN" altLang="en-US" sz="1600" dirty="0">
                    <a:latin typeface="Arial"/>
                    <a:ea typeface="Microsoft YaHei"/>
                  </a:rPr>
                  <a:t>m = 3</a:t>
                </a:r>
              </mc:Fallback>
            </mc:AlternateContent>
            <a:endParaRPr lang="zh-CN" sz="1600"/>
          </a:p>
          <a:p>
            <a:r>
              <a:rPr lang="zh-CN" altLang="en-US" sz="1600" dirty="0">
                <a:latin typeface="Arial"/>
                <a:ea typeface="Microsoft YaHei"/>
              </a:rPr>
              <a:t>Short solution:</a:t>
            </a:r>
            <a:endParaRPr lang="zh-CN" sz="1600"/>
          </a:p>
          <a:p>
            <a:r>
              <a:rPr lang="zh-CN" altLang="en-US" sz="1600" dirty="0">
                <a:latin typeface="Arial"/>
                <a:ea typeface="Microsoft YaHei"/>
              </a:rPr>
              <a:t>Q1 </a:t>
            </a:r>
            <mc:AlternateContent xmlns:mc="http://schemas.openxmlformats.org/markup-compatibility/2006">
              <mc:Choice xmlns:a14="http://schemas.microsoft.com/office/drawing/2010/main" Requires="a14">
                <a14:m>
                  <m:oMath xmlns:m="http://schemas.openxmlformats.org/officeDocument/2006/math">
                    <m:r>
                      <a:rPr lang="en-US" sz="1600" i="0">
                        <a:latin typeface="Cambria Math" panose="02040503050406030204" pitchFamily="18" charset="0"/>
                      </a:rPr>
                      <m:t>144</m:t>
                    </m:r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sz="1600" i="0">
                        <a:latin typeface="Cambria Math" panose="02040503050406030204" pitchFamily="18" charset="0"/>
                      </a:rPr>
                      <m:t>144</m:t>
                    </m:r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1600" i="0"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</mc:Choice>
              <mc:Fallback>
                <a:r>
                  <a:rPr lang="zh-CN" altLang="en-US" sz="1600" dirty="0">
                    <a:latin typeface="Arial"/>
                    <a:ea typeface="Microsoft YaHei"/>
                  </a:rPr>
                  <a:t>144 - 144 = 0</a:t>
                </a:r>
              </mc:Fallback>
            </mc:AlternateContent>
            <a:r>
              <a:rPr lang="zh-CN" altLang="en-US" sz="1600" dirty="0">
                <a:latin typeface="Arial"/>
                <a:ea typeface="Microsoft YaHei"/>
              </a:rPr>
              <a:t>；</a:t>
            </a:r>
            <mc:AlternateContent xmlns:mc="http://schemas.openxmlformats.org/markup-compatibility/2006">
              <mc:Choice xmlns:a14="http://schemas.microsoft.com/office/drawing/2010/main" Requires="a14">
                <a14:m>
                  <m:oMath xmlns:m="http://schemas.openxmlformats.org/officeDocument/2006/math">
                    <m:sSup>
                      <m:e>
                        <m:d>
                          <m:dPr>
                            <m:begChr m:val="("/>
                            <m:endChr m:val=")"/>
                            <m:sepChr m:val=""/>
                            <m:grow/>
                          </m:dPr>
                          <m:e>
                            <m:r>
                              <a:rPr lang="en-US" sz="1600" i="0"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US" sz="1600" i="1">
                                <a:latin typeface="Cambria Math" panose="02040503050406030204" pitchFamily="18" charset="0"/>
                              </a:rPr>
                              <m:t>x</m:t>
                            </m:r>
                            <m:r>
                              <m:rPr>
                                <m:sty m:val="p"/>
                              </m:rPr>
                              <a:rPr lang="en-US" sz="1600" i="0"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US" sz="1600" i="0"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d>
                      </m:e>
                      <m:sup>
                        <m:r>
                          <a:rPr lang="en-US" sz="1600" i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1600" i="0"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</mc:Choice>
              <mc:Fallback>
                <a:r>
                  <a:rPr lang="zh-CN" altLang="en-US" sz="1600" dirty="0">
                    <a:latin typeface="Arial"/>
                    <a:ea typeface="Microsoft YaHei"/>
                  </a:rPr>
                  <a:t>(2x + 3)^2 = 0</a:t>
                </a:r>
              </mc:Fallback>
            </mc:AlternateContent>
            <a:r>
              <a:rPr lang="zh-CN" altLang="en-US" sz="1600" dirty="0">
                <a:latin typeface="Arial"/>
                <a:ea typeface="Microsoft YaHei"/>
              </a:rPr>
              <a:t> (u)</a:t>
            </a:r>
            <a:endParaRPr lang="zh-CN" sz="1600"/>
          </a:p>
          <a:p>
            <a:r>
              <a:rPr lang="zh-CN" altLang="en-US" sz="1600" dirty="0">
                <a:latin typeface="Arial"/>
                <a:ea typeface="Microsoft YaHei"/>
              </a:rPr>
              <a:t>Q2 </a:t>
            </a:r>
            <mc:AlternateContent xmlns:mc="http://schemas.openxmlformats.org/markup-compatibility/2006">
              <mc:Choice xmlns:a14="http://schemas.microsoft.com/office/drawing/2010/main" Requires="a14">
                <a14:m>
                  <m:oMath xmlns:m="http://schemas.openxmlformats.org/officeDocument/2006/math">
                    <m:r>
                      <a:rPr lang="en-US" sz="1600" i="0">
                        <a:latin typeface="Cambria Math" panose="02040503050406030204" pitchFamily="18" charset="0"/>
                      </a:rPr>
                      <m:t>36</m:t>
                    </m:r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sz="1600" i="0">
                        <a:latin typeface="Cambria Math" panose="02040503050406030204" pitchFamily="18" charset="0"/>
                      </a:rPr>
                      <m:t>4</m:t>
                    </m:r>
                    <m:r>
                      <a:rPr lang="en-US" sz="1600" i="1">
                        <a:latin typeface="Cambria Math" panose="02040503050406030204" pitchFamily="18" charset="0"/>
                      </a:rPr>
                      <m:t>k</m:t>
                    </m:r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US" sz="1600" i="0"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</mc:Choice>
              <mc:Fallback>
                <a:r>
                  <a:rPr lang="zh-CN" altLang="en-US" sz="1600" dirty="0">
                    <a:latin typeface="Arial"/>
                    <a:ea typeface="Microsoft YaHei"/>
                  </a:rPr>
                  <a:t>36 - 4k &lt; 0</a:t>
                </a:r>
              </mc:Fallback>
            </mc:AlternateContent>
            <a:r>
              <a:rPr lang="zh-CN" altLang="en-US" sz="1600" dirty="0">
                <a:latin typeface="Arial"/>
                <a:ea typeface="Microsoft YaHei"/>
              </a:rPr>
              <a:t> (r)</a:t>
            </a:r>
            <a:endParaRPr lang="zh-CN" sz="1600"/>
          </a:p>
          <a:p>
            <a:r>
              <a:rPr lang="zh-CN" altLang="en-US" sz="1600" dirty="0">
                <a:latin typeface="Arial"/>
                <a:ea typeface="Microsoft YaHei"/>
              </a:rPr>
              <a:t>Q3 </a:t>
            </a:r>
            <mc:AlternateContent xmlns:mc="http://schemas.openxmlformats.org/markup-compatibility/2006">
              <mc:Choice xmlns:a14="http://schemas.microsoft.com/office/drawing/2010/main" Requires="a14">
                <a14:m>
                  <m:oMath xmlns:m="http://schemas.openxmlformats.org/officeDocument/2006/math">
                    <m:r>
                      <a:rPr lang="en-US" sz="1600" i="0">
                        <a:latin typeface="Cambria Math" panose="02040503050406030204" pitchFamily="18" charset="0"/>
                      </a:rPr>
                      <m:t>4</m:t>
                    </m:r>
                    <m:sSup>
                      <m:e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m</m:t>
                        </m:r>
                      </m:e>
                      <m:sup>
                        <m:r>
                          <a:rPr lang="en-US" sz="1600" i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sz="1600" i="0">
                        <a:latin typeface="Cambria Math" panose="02040503050406030204" pitchFamily="18" charset="0"/>
                      </a:rPr>
                      <m:t>12</m:t>
                    </m:r>
                    <m:r>
                      <a:rPr lang="en-US" sz="1600" i="1">
                        <a:latin typeface="Cambria Math" panose="02040503050406030204" pitchFamily="18" charset="0"/>
                      </a:rPr>
                      <m:t>m</m:t>
                    </m:r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1600" i="0"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</mc:Choice>
              <mc:Fallback>
                <a:r>
                  <a:rPr lang="zh-CN" altLang="en-US" sz="1600" dirty="0">
                    <a:latin typeface="Arial"/>
                    <a:ea typeface="Microsoft YaHei"/>
                  </a:rPr>
                  <a:t>4m^2 - 12m = 0</a:t>
                </a:r>
              </mc:Fallback>
            </mc:AlternateContent>
            <a:r>
              <a:rPr lang="zh-CN" altLang="en-US" sz="1600" dirty="0">
                <a:latin typeface="Arial"/>
                <a:ea typeface="Microsoft YaHei"/>
              </a:rPr>
              <a:t>，</a:t>
            </a:r>
            <mc:AlternateContent xmlns:mc="http://schemas.openxmlformats.org/markup-compatibility/2006">
              <mc:Choice xmlns:a14="http://schemas.microsoft.com/office/drawing/2010/main" Requires="a14">
                <a14:m>
                  <m:oMath xmlns:m="http://schemas.openxmlformats.org/officeDocument/2006/math">
                    <m:r>
                      <a:rPr lang="en-US" sz="1600" i="0">
                        <a:latin typeface="Cambria Math" panose="02040503050406030204" pitchFamily="18" charset="0"/>
                      </a:rPr>
                      <m:t>4</m:t>
                    </m:r>
                    <m:r>
                      <a:rPr lang="en-US" sz="1600" i="1">
                        <a:latin typeface="Cambria Math" panose="02040503050406030204" pitchFamily="18" charset="0"/>
                      </a:rPr>
                      <m:t>m</m:t>
                    </m:r>
                    <m:d>
                      <m:dPr>
                        <m:begChr m:val="("/>
                        <m:endChr m:val=")"/>
                        <m:sepChr m:val=""/>
                        <m:grow/>
                      </m:dPr>
                      <m:e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m</m:t>
                        </m:r>
                        <m:r>
                          <m:rPr>
                            <m:sty m:val="p"/>
                          </m:rPr>
                          <a:rPr lang="en-US" sz="1600" i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sz="1600" i="0"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d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1600" i="0"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</mc:Choice>
              <mc:Fallback>
                <a:r>
                  <a:rPr lang="zh-CN" altLang="en-US" sz="1600" dirty="0">
                    <a:latin typeface="Arial"/>
                    <a:ea typeface="Microsoft YaHei"/>
                  </a:rPr>
                  <a:t>4m(m - 3) = 0</a:t>
                </a:r>
              </mc:Fallback>
            </mc:AlternateContent>
            <a:r>
              <a:rPr lang="zh-CN" altLang="en-US" sz="1600" dirty="0">
                <a:latin typeface="Arial"/>
                <a:ea typeface="Microsoft YaHei"/>
              </a:rPr>
              <a:t>，</a:t>
            </a:r>
            <mc:AlternateContent xmlns:mc="http://schemas.openxmlformats.org/markup-compatibility/2006">
              <mc:Choice xmlns:a14="http://schemas.microsoft.com/office/drawing/2010/main" Requires="a14">
                <a14:m>
                  <m:oMath xmlns:m="http://schemas.openxmlformats.org/officeDocument/2006/math">
                    <m:r>
                      <a:rPr lang="en-US" sz="1600" i="1">
                        <a:latin typeface="Cambria Math" panose="02040503050406030204" pitchFamily="18" charset="0"/>
                      </a:rPr>
                      <m:t>m</m:t>
                    </m:r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</a:rPr>
                      <m:t>≠</m:t>
                    </m:r>
                    <m:r>
                      <a:rPr lang="en-US" sz="1600" i="0"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</mc:Choice>
              <mc:Fallback>
                <a:r>
                  <a:rPr lang="zh-CN" altLang="en-US" sz="1600" dirty="0">
                    <a:latin typeface="Arial"/>
                    <a:ea typeface="Microsoft YaHei"/>
                  </a:rPr>
                  <a:t>m ≠ 0</a:t>
                </a:r>
              </mc:Fallback>
            </mc:AlternateContent>
            <a:r>
              <a:rPr lang="zh-CN" altLang="en-US" sz="1600" dirty="0">
                <a:latin typeface="Arial"/>
                <a:ea typeface="Microsoft YaHei"/>
              </a:rPr>
              <a:t> (r)</a:t>
            </a:r>
            <a:endParaRPr lang="zh-CN" sz="1600"/>
          </a:p>
          <a:p>
            <a:r>
              <a:rPr lang="zh-CN" altLang="en-US" sz="1600" dirty="0">
                <a:latin typeface="Arial"/>
                <a:ea typeface="Microsoft YaHei"/>
              </a:rPr>
              <a:t>Watch for:</a:t>
            </a:r>
            <a:endParaRPr lang="zh-CN" sz="1600"/>
          </a:p>
          <a:p>
            <a:r>
              <a:rPr lang="zh-CN" altLang="en-US" sz="1600" dirty="0">
                <a:latin typeface="Arial"/>
                <a:ea typeface="Microsoft YaHei"/>
              </a:rPr>
              <a:t>Q3 给出 </a:t>
            </a:r>
            <mc:AlternateContent xmlns:mc="http://schemas.openxmlformats.org/markup-compatibility/2006">
              <mc:Choice xmlns:a14="http://schemas.microsoft.com/office/drawing/2010/main" Requires="a14">
                <a14:m>
                  <m:oMath xmlns:m="http://schemas.openxmlformats.org/officeDocument/2006/math">
                    <m:r>
                      <a:rPr lang="en-US" sz="1600" i="1">
                        <a:latin typeface="Cambria Math" panose="02040503050406030204" pitchFamily="18" charset="0"/>
                      </a:rPr>
                      <m:t>m</m:t>
                    </m:r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1600" i="0"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</mc:Choice>
              <mc:Fallback>
                <a:r>
                  <a:rPr lang="zh-CN" altLang="en-US" sz="1600" dirty="0">
                    <a:latin typeface="Arial"/>
                    <a:ea typeface="Microsoft YaHei"/>
                  </a:rPr>
                  <a:t>m = 0</a:t>
                </a:r>
              </mc:Fallback>
            </mc:AlternateContent>
            <a:r>
              <a:rPr lang="zh-CN" altLang="en-US" sz="1600" dirty="0">
                <a:latin typeface="Arial"/>
                <a:ea typeface="Microsoft YaHei"/>
              </a:rPr>
              <a:t>：题目说 </a:t>
            </a:r>
            <mc:AlternateContent xmlns:mc="http://schemas.openxmlformats.org/markup-compatibility/2006">
              <mc:Choice xmlns:a14="http://schemas.microsoft.com/office/drawing/2010/main" Requires="a14">
                <a14:m>
                  <m:oMath xmlns:m="http://schemas.openxmlformats.org/officeDocument/2006/math">
                    <m:r>
                      <a:rPr lang="en-US" sz="1600" i="1">
                        <a:latin typeface="Cambria Math" panose="02040503050406030204" pitchFamily="18" charset="0"/>
                      </a:rPr>
                      <m:t>m</m:t>
                    </m:r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</a:rPr>
                      <m:t>≠</m:t>
                    </m:r>
                    <m:r>
                      <a:rPr lang="en-US" sz="1600" i="0"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</mc:Choice>
              <mc:Fallback>
                <a:r>
                  <a:rPr lang="zh-CN" altLang="en-US" sz="1600" dirty="0">
                    <a:latin typeface="Arial"/>
                    <a:ea typeface="Microsoft YaHei"/>
                  </a:rPr>
                  <a:t>m ≠ 0</a:t>
                </a:r>
              </mc:Fallback>
            </mc:AlternateContent>
            <a:r>
              <a:rPr lang="zh-CN" altLang="en-US" sz="1600" dirty="0">
                <a:latin typeface="Arial"/>
                <a:ea typeface="Microsoft YaHei"/>
              </a:rPr>
              <a:t>，而且 </a:t>
            </a:r>
            <mc:AlternateContent xmlns:mc="http://schemas.openxmlformats.org/markup-compatibility/2006">
              <mc:Choice xmlns:a14="http://schemas.microsoft.com/office/drawing/2010/main" Requires="a14">
                <a14:m>
                  <m:oMath xmlns:m="http://schemas.openxmlformats.org/officeDocument/2006/math">
                    <m:r>
                      <a:rPr lang="en-US" sz="1600" i="1">
                        <a:latin typeface="Cambria Math" panose="02040503050406030204" pitchFamily="18" charset="0"/>
                      </a:rPr>
                      <m:t>m</m:t>
                    </m:r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1600" i="0"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</mc:Choice>
              <mc:Fallback>
                <a:r>
                  <a:rPr lang="zh-CN" altLang="en-US" sz="1600" dirty="0">
                    <a:latin typeface="Arial"/>
                    <a:ea typeface="Microsoft YaHei"/>
                  </a:rPr>
                  <a:t>m = 0</a:t>
                </a:r>
              </mc:Fallback>
            </mc:AlternateContent>
            <a:r>
              <a:rPr lang="zh-CN" altLang="en-US" sz="1600" dirty="0">
                <a:latin typeface="Arial"/>
                <a:ea typeface="Microsoft YaHei"/>
              </a:rPr>
              <a:t> 时不是二次方程</a:t>
            </a:r>
            <a:endParaRPr lang="zh-CN" sz="160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>
            <a:noAutofit/>
          </a:bodyPr>
          <a:lstStyle/>
          <a:p>
            <a:r>
              <a:rPr lang="zh-CN" altLang="en-US" sz="1600" dirty="0">
                <a:latin typeface="Arial"/>
                <a:ea typeface="Microsoft YaHei"/>
              </a:rPr>
              <a:t>Gap </a:t>
            </a:r>
            <mc:AlternateContent xmlns:mc="http://schemas.openxmlformats.org/markup-compatibility/2006">
              <mc:Choice xmlns:a14="http://schemas.microsoft.com/office/drawing/2010/main" Requires="a14">
                <a14:m>
                  <m:oMath xmlns:m="http://schemas.openxmlformats.org/officeDocument/2006/math">
                    <m:r>
                      <a:rPr lang="en-US" sz="1600" i="0">
                        <a:latin typeface="Cambria Math" panose="02040503050406030204" pitchFamily="18" charset="0"/>
                      </a:rPr>
                      <m:t>4</m:t>
                    </m:r>
                    <m:r>
                      <a:rPr lang="en-US" sz="1600" i="1">
                        <a:latin typeface="Cambria Math" panose="02040503050406030204" pitchFamily="18" charset="0"/>
                      </a:rPr>
                      <m:t>k</m:t>
                    </m:r>
                  </m:oMath>
                </a14:m>
              </mc:Choice>
              <mc:Fallback>
                <a:r>
                  <a:rPr lang="zh-CN" altLang="en-US" sz="1600" dirty="0">
                    <a:latin typeface="Arial"/>
                    <a:ea typeface="Microsoft YaHei"/>
                  </a:rPr>
                  <a:t>4k</a:t>
                </a:r>
              </mc:Fallback>
            </mc:AlternateContent>
            <a:endParaRPr lang="zh-CN" sz="1600"/>
          </a:p>
          <a:p>
            <a:r>
              <a:rPr lang="zh-CN" altLang="en-US" sz="1600" dirty="0">
                <a:latin typeface="Arial"/>
                <a:ea typeface="Microsoft YaHei"/>
              </a:rPr>
              <a:t>Q “so one solution is four times the other”</a:t>
            </a:r>
            <a:endParaRPr lang="zh-CN" sz="1600"/>
          </a:p>
          <a:p>
            <a:r>
              <a:rPr lang="zh-CN" altLang="en-US" sz="1600" dirty="0">
                <a:latin typeface="Arial"/>
                <a:ea typeface="Microsoft YaHei"/>
              </a:rPr>
              <a:t>Short solution:</a:t>
            </a:r>
            <a:endParaRPr lang="zh-CN" sz="1600"/>
          </a:p>
          <a:p>
            <a:r>
              <a:rPr lang="zh-CN" altLang="en-US" sz="1600" dirty="0">
                <a:latin typeface="Arial"/>
                <a:ea typeface="Microsoft YaHei"/>
              </a:rPr>
              <a:t>Q 两个数乘积 </a:t>
            </a:r>
            <mc:AlternateContent xmlns:mc="http://schemas.openxmlformats.org/markup-compatibility/2006">
              <mc:Choice xmlns:a14="http://schemas.microsoft.com/office/drawing/2010/main" Requires="a14">
                <a14:m>
                  <m:oMath xmlns:m="http://schemas.openxmlformats.org/officeDocument/2006/math">
                    <m:r>
                      <a:rPr lang="en-US" sz="1600" i="0">
                        <a:latin typeface="Cambria Math" panose="02040503050406030204" pitchFamily="18" charset="0"/>
                      </a:rPr>
                      <m:t>4</m:t>
                    </m:r>
                    <m:sSup>
                      <m:e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k</m:t>
                        </m:r>
                      </m:e>
                      <m:sup>
                        <m:r>
                          <a:rPr lang="en-US" sz="1600" i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</mc:Choice>
              <mc:Fallback>
                <a:r>
                  <a:rPr lang="zh-CN" altLang="en-US" sz="1600" dirty="0">
                    <a:latin typeface="Arial"/>
                    <a:ea typeface="Microsoft YaHei"/>
                  </a:rPr>
                  <a:t>4k^2</a:t>
                </a:r>
              </mc:Fallback>
            </mc:AlternateContent>
            <a:r>
              <a:rPr lang="zh-CN" altLang="en-US" sz="1600" dirty="0">
                <a:latin typeface="Arial"/>
                <a:ea typeface="Microsoft YaHei"/>
              </a:rPr>
              <a:t>、和 </a:t>
            </a:r>
            <mc:AlternateContent xmlns:mc="http://schemas.openxmlformats.org/markup-compatibility/2006">
              <mc:Choice xmlns:a14="http://schemas.microsoft.com/office/drawing/2010/main"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sz="1600" i="0">
                        <a:latin typeface="Cambria Math" panose="02040503050406030204" pitchFamily="18" charset="0"/>
                      </a:rPr>
                      <m:t>5</m:t>
                    </m:r>
                    <m:r>
                      <a:rPr lang="en-US" sz="1600" i="1">
                        <a:latin typeface="Cambria Math" panose="02040503050406030204" pitchFamily="18" charset="0"/>
                      </a:rPr>
                      <m:t>k</m:t>
                    </m:r>
                  </m:oMath>
                </a14:m>
              </mc:Choice>
              <mc:Fallback>
                <a:r>
                  <a:rPr lang="zh-CN" altLang="en-US" sz="1600" dirty="0">
                    <a:latin typeface="Arial"/>
                    <a:ea typeface="Microsoft YaHei"/>
                  </a:rPr>
                  <a:t>-5k</a:t>
                </a:r>
              </mc:Fallback>
            </mc:AlternateContent>
            <a:r>
              <a:rPr lang="zh-CN" altLang="en-US" sz="1600" dirty="0">
                <a:latin typeface="Arial"/>
                <a:ea typeface="Microsoft YaHei"/>
              </a:rPr>
              <a:t>：</a:t>
            </a:r>
            <mc:AlternateContent xmlns:mc="http://schemas.openxmlformats.org/markup-compatibility/2006">
              <mc:Choice xmlns:a14="http://schemas.microsoft.com/office/drawing/2010/main"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sz="1600" i="1">
                        <a:latin typeface="Cambria Math" panose="02040503050406030204" pitchFamily="18" charset="0"/>
                      </a:rPr>
                      <m:t>k</m:t>
                    </m:r>
                  </m:oMath>
                </a14:m>
              </mc:Choice>
              <mc:Fallback>
                <a:r>
                  <a:rPr lang="zh-CN" altLang="en-US" sz="1600" dirty="0">
                    <a:latin typeface="Arial"/>
                    <a:ea typeface="Microsoft YaHei"/>
                  </a:rPr>
                  <a:t>-k</a:t>
                </a:r>
              </mc:Fallback>
            </mc:AlternateContent>
            <a:r>
              <a:rPr lang="zh-CN" altLang="en-US" sz="1600" dirty="0">
                <a:latin typeface="Arial"/>
                <a:ea typeface="Microsoft YaHei"/>
              </a:rPr>
              <a:t> 和 </a:t>
            </a:r>
            <mc:AlternateContent xmlns:mc="http://schemas.openxmlformats.org/markup-compatibility/2006">
              <mc:Choice xmlns:a14="http://schemas.microsoft.com/office/drawing/2010/main"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sz="1600" i="0">
                        <a:latin typeface="Cambria Math" panose="02040503050406030204" pitchFamily="18" charset="0"/>
                      </a:rPr>
                      <m:t>4</m:t>
                    </m:r>
                    <m:r>
                      <a:rPr lang="en-US" sz="1600" i="1">
                        <a:latin typeface="Cambria Math" panose="02040503050406030204" pitchFamily="18" charset="0"/>
                      </a:rPr>
                      <m:t>k</m:t>
                    </m:r>
                  </m:oMath>
                </a14:m>
              </mc:Choice>
              <mc:Fallback>
                <a:r>
                  <a:rPr lang="zh-CN" altLang="en-US" sz="1600" dirty="0">
                    <a:latin typeface="Arial"/>
                    <a:ea typeface="Microsoft YaHei"/>
                  </a:rPr>
                  <a:t>-4k</a:t>
                </a:r>
              </mc:Fallback>
            </mc:AlternateContent>
            <a:endParaRPr lang="zh-CN" sz="1600"/>
          </a:p>
          <a:p>
            <a:r>
              <a:rPr lang="zh-CN" altLang="en-US" sz="1600" dirty="0">
                <a:latin typeface="Arial"/>
                <a:ea typeface="Microsoft YaHei"/>
              </a:rPr>
              <a:t>也可以用公式：</a:t>
            </a:r>
            <mc:AlternateContent xmlns:mc="http://schemas.openxmlformats.org/markup-compatibility/2006">
              <mc:Choice xmlns:a14="http://schemas.microsoft.com/office/drawing/2010/main" Requires="a14">
                <a14:m>
                  <m:oMath xmlns:m="http://schemas.openxmlformats.org/officeDocument/2006/math">
                    <m:r>
                      <a:rPr lang="en-US" sz="1600" i="1">
                        <a:latin typeface="Cambria Math" panose="02040503050406030204" pitchFamily="18" charset="0"/>
                      </a:rPr>
                      <m:t>Δ</m:t>
                    </m:r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1600" i="0">
                        <a:latin typeface="Cambria Math" panose="02040503050406030204" pitchFamily="18" charset="0"/>
                      </a:rPr>
                      <m:t>9</m:t>
                    </m:r>
                    <m:sSup>
                      <m:e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k</m:t>
                        </m:r>
                      </m:e>
                      <m:sup>
                        <m:r>
                          <a:rPr lang="en-US" sz="1600" i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</mc:Choice>
              <mc:Fallback>
                <a:r>
                  <a:rPr lang="zh-CN" altLang="en-US" sz="1600" dirty="0">
                    <a:latin typeface="Arial"/>
                    <a:ea typeface="Microsoft YaHei"/>
                  </a:rPr>
                  <a:t> = 9k^2</a:t>
                </a:r>
              </mc:Fallback>
            </mc:AlternateContent>
            <a:r>
              <a:rPr lang="zh-CN" altLang="en-US" sz="1600" dirty="0">
                <a:latin typeface="Arial"/>
                <a:ea typeface="Microsoft YaHei"/>
              </a:rPr>
              <a:t>，</a:t>
            </a:r>
            <mc:AlternateContent xmlns:mc="http://schemas.openxmlformats.org/markup-compatibility/2006">
              <mc:Choice xmlns:a14="http://schemas.microsoft.com/office/drawing/2010/main" Requires="a14">
                <a14:m>
                  <m:oMath xmlns:m="http://schemas.openxmlformats.org/officeDocument/2006/math">
                    <m:r>
                      <a:rPr lang="en-US" sz="1600" i="1">
                        <a:latin typeface="Cambria Math" panose="02040503050406030204" pitchFamily="18" charset="0"/>
                      </a:rPr>
                      <m:t>x</m:t>
                    </m:r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</m:fPr>
                      <m:num>
                        <m:r>
                          <a:rPr lang="en-US" sz="1600" i="0">
                            <a:latin typeface="Cambria Math" panose="02040503050406030204" pitchFamily="18" charset="0"/>
                          </a:rPr>
                          <m:t>5</m:t>
                        </m:r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k</m:t>
                        </m:r>
                        <m:r>
                          <m:rPr>
                            <m:sty m:val="p"/>
                          </m:rPr>
                          <a:rPr lang="en-US" sz="1600" i="0">
                            <a:latin typeface="Cambria Math" panose="02040503050406030204" pitchFamily="18" charset="0"/>
                          </a:rPr>
                          <m:t>±</m:t>
                        </m:r>
                        <m:r>
                          <a:rPr lang="en-US" sz="1600" i="0"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k</m:t>
                        </m:r>
                      </m:num>
                      <m:den>
                        <m:r>
                          <a:rPr lang="en-US" sz="1600" i="0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</mc:Choice>
              <mc:Fallback>
                <a:r>
                  <a:rPr lang="zh-CN" altLang="en-US" sz="1600" dirty="0">
                    <a:latin typeface="Arial"/>
                    <a:ea typeface="Microsoft YaHei"/>
                  </a:rPr>
                  <a:t>x = (5k ± 3k)/(2)</a:t>
                </a:r>
              </mc:Fallback>
            </mc:AlternateContent>
            <a:endParaRPr lang="zh-CN" sz="1600"/>
          </a:p>
          <a:p>
            <a:r>
              <a:rPr lang="zh-CN" altLang="en-US" sz="1600" dirty="0">
                <a:latin typeface="Arial"/>
                <a:ea typeface="Microsoft YaHei"/>
              </a:rPr>
              <a:t>Watch for:</a:t>
            </a:r>
            <a:endParaRPr lang="zh-CN" sz="1600"/>
          </a:p>
          <a:p>
            <a:r>
              <a:rPr lang="zh-CN" altLang="en-US" sz="1600" dirty="0">
                <a:latin typeface="Arial"/>
                <a:ea typeface="Microsoft YaHei"/>
              </a:rPr>
              <a:t>只写 </a:t>
            </a:r>
            <mc:AlternateContent xmlns:mc="http://schemas.openxmlformats.org/markup-compatibility/2006">
              <mc:Choice xmlns:a14="http://schemas.microsoft.com/office/drawing/2010/main" Requires="a14">
                <a14:m>
                  <m:oMath xmlns:m="http://schemas.openxmlformats.org/officeDocument/2006/math">
                    <m:r>
                      <a:rPr lang="en-US" sz="1600" i="1">
                        <a:latin typeface="Cambria Math" panose="02040503050406030204" pitchFamily="18" charset="0"/>
                      </a:rPr>
                      <m:t>x</m:t>
                    </m:r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1600" i="1">
                        <a:latin typeface="Cambria Math" panose="02040503050406030204" pitchFamily="18" charset="0"/>
                      </a:rPr>
                      <m:t>k</m:t>
                    </m:r>
                  </m:oMath>
                </a14:m>
              </mc:Choice>
              <mc:Fallback>
                <a:r>
                  <a:rPr lang="zh-CN" altLang="en-US" sz="1600" dirty="0">
                    <a:latin typeface="Arial"/>
                    <a:ea typeface="Microsoft YaHei"/>
                  </a:rPr>
                  <a:t>x = k</a:t>
                </a:r>
              </mc:Fallback>
            </mc:AlternateContent>
            <a:r>
              <a:rPr lang="zh-CN" altLang="en-US" sz="1600" dirty="0">
                <a:latin typeface="Arial"/>
                <a:ea typeface="Microsoft YaHei"/>
              </a:rPr>
              <a:t> 或 </a:t>
            </a:r>
            <mc:AlternateContent xmlns:mc="http://schemas.openxmlformats.org/markup-compatibility/2006">
              <mc:Choice xmlns:a14="http://schemas.microsoft.com/office/drawing/2010/main" Requires="a14">
                <a14:m>
                  <m:oMath xmlns:m="http://schemas.openxmlformats.org/officeDocument/2006/math">
                    <m:r>
                      <a:rPr lang="en-US" sz="1600" i="0">
                        <a:latin typeface="Cambria Math" panose="02040503050406030204" pitchFamily="18" charset="0"/>
                      </a:rPr>
                      <m:t>4</m:t>
                    </m:r>
                    <m:r>
                      <a:rPr lang="en-US" sz="1600" i="1">
                        <a:latin typeface="Cambria Math" panose="02040503050406030204" pitchFamily="18" charset="0"/>
                      </a:rPr>
                      <m:t>k</m:t>
                    </m:r>
                  </m:oMath>
                </a14:m>
              </mc:Choice>
              <mc:Fallback>
                <a:r>
                  <a:rPr lang="zh-CN" altLang="en-US" sz="1600" dirty="0">
                    <a:latin typeface="Arial"/>
                    <a:ea typeface="Microsoft YaHei"/>
                  </a:rPr>
                  <a:t>4k</a:t>
                </a:r>
              </mc:Fallback>
            </mc:AlternateContent>
            <a:r>
              <a:rPr lang="zh-CN" altLang="en-US" sz="1600" dirty="0">
                <a:latin typeface="Arial"/>
                <a:ea typeface="Microsoft YaHei"/>
              </a:rPr>
              <a:t> 没有结论：评分表要 correct conclusion</a:t>
            </a:r>
            <a:endParaRPr lang="zh-CN" sz="1600"/>
          </a:p>
          <a:p>
            <a:r>
              <a:rPr lang="zh-CN" altLang="en-US" sz="1600" dirty="0">
                <a:latin typeface="Arial"/>
                <a:ea typeface="Microsoft YaHei"/>
              </a:rPr>
              <a:t>Ask:</a:t>
            </a:r>
            <a:endParaRPr lang="zh-CN" sz="1600"/>
          </a:p>
          <a:p>
            <a:r>
              <a:rPr lang="zh-CN" altLang="en-US" sz="1600" dirty="0">
                <a:latin typeface="Arial"/>
                <a:ea typeface="Microsoft YaHei"/>
              </a:rPr>
              <a:t>为什么题目说 </a:t>
            </a:r>
            <mc:AlternateContent xmlns:mc="http://schemas.openxmlformats.org/markup-compatibility/2006">
              <mc:Choice xmlns:a14="http://schemas.microsoft.com/office/drawing/2010/main" Requires="a14">
                <a14:m>
                  <m:oMath xmlns:m="http://schemas.openxmlformats.org/officeDocument/2006/math">
                    <m:r>
                      <a:rPr lang="en-US" sz="1600" i="1">
                        <a:latin typeface="Cambria Math" panose="02040503050406030204" pitchFamily="18" charset="0"/>
                      </a:rPr>
                      <m:t>k</m:t>
                    </m:r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</a:rPr>
                      <m:t>≠</m:t>
                    </m:r>
                    <m:r>
                      <a:rPr lang="en-US" sz="1600" i="0"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</mc:Choice>
              <mc:Fallback>
                <a:r>
                  <a:rPr lang="zh-CN" altLang="en-US" sz="1600" dirty="0">
                    <a:latin typeface="Arial"/>
                    <a:ea typeface="Microsoft YaHei"/>
                  </a:rPr>
                  <a:t>k ≠ 0</a:t>
                </a:r>
              </mc:Fallback>
            </mc:AlternateContent>
            <a:r>
              <a:rPr lang="zh-CN" altLang="en-US" sz="1600" dirty="0">
                <a:latin typeface="Arial"/>
                <a:ea typeface="Microsoft YaHei"/>
              </a:rPr>
              <a:t>？（</a:t>
            </a:r>
            <mc:AlternateContent xmlns:mc="http://schemas.openxmlformats.org/markup-compatibility/2006">
              <mc:Choice xmlns:a14="http://schemas.microsoft.com/office/drawing/2010/main" Requires="a14">
                <a14:m>
                  <m:oMath xmlns:m="http://schemas.openxmlformats.org/officeDocument/2006/math">
                    <m:r>
                      <a:rPr lang="en-US" sz="1600" i="1">
                        <a:latin typeface="Cambria Math" panose="02040503050406030204" pitchFamily="18" charset="0"/>
                      </a:rPr>
                      <m:t>k</m:t>
                    </m:r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1600" i="0"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</mc:Choice>
              <mc:Fallback>
                <a:r>
                  <a:rPr lang="zh-CN" altLang="en-US" sz="1600" dirty="0">
                    <a:latin typeface="Arial"/>
                    <a:ea typeface="Microsoft YaHei"/>
                  </a:rPr>
                  <a:t>k = 0</a:t>
                </a:r>
              </mc:Fallback>
            </mc:AlternateContent>
            <a:r>
              <a:rPr lang="zh-CN" altLang="en-US" sz="1600" dirty="0">
                <a:latin typeface="Arial"/>
                <a:ea typeface="Microsoft YaHei"/>
              </a:rPr>
              <a:t> 时两个解都是 0）</a:t>
            </a:r>
            <a:endParaRPr lang="zh-CN" sz="160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>
            <a:noAutofit/>
          </a:bodyPr>
          <a:lstStyle/>
          <a:p>
            <a:r>
              <a:rPr lang="zh-CN" altLang="en-US" sz="1600" dirty="0">
                <a:latin typeface="Arial"/>
                <a:ea typeface="Microsoft YaHei"/>
              </a:rPr>
              <a:t>Q1 </a:t>
            </a:r>
            <mc:AlternateContent xmlns:mc="http://schemas.openxmlformats.org/markup-compatibility/2006">
              <mc:Choice xmlns:a14="http://schemas.microsoft.com/office/drawing/2010/main" Requires="a14">
                <a14:m>
                  <m:oMath xmlns:m="http://schemas.openxmlformats.org/officeDocument/2006/math">
                    <m:r>
                      <a:rPr lang="en-US" sz="1600" i="1">
                        <a:latin typeface="Cambria Math" panose="02040503050406030204" pitchFamily="18" charset="0"/>
                      </a:rPr>
                      <m:t>x</m:t>
                    </m:r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</m:fPr>
                      <m:num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k</m:t>
                        </m:r>
                      </m:num>
                      <m:den>
                        <m:r>
                          <a:rPr lang="en-US" sz="1600" i="0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</mc:Choice>
              <mc:Fallback>
                <a:r>
                  <a:rPr lang="zh-CN" altLang="en-US" sz="1600" dirty="0">
                    <a:latin typeface="Arial"/>
                    <a:ea typeface="Microsoft YaHei"/>
                  </a:rPr>
                  <a:t>x = (k)/(2)</a:t>
                </a:r>
              </mc:Fallback>
            </mc:AlternateContent>
            <a:r>
              <a:rPr lang="zh-CN" altLang="en-US" sz="1600" dirty="0">
                <a:latin typeface="Arial"/>
                <a:ea typeface="Microsoft YaHei"/>
              </a:rPr>
              <a:t> or </a:t>
            </a:r>
            <mc:AlternateContent xmlns:mc="http://schemas.openxmlformats.org/markup-compatibility/2006">
              <mc:Choice xmlns:a14="http://schemas.microsoft.com/office/drawing/2010/main" Requires="a14">
                <a14:m>
                  <m:oMath xmlns:m="http://schemas.openxmlformats.org/officeDocument/2006/math">
                    <m:r>
                      <a:rPr lang="en-US" sz="1600" i="1">
                        <a:latin typeface="Cambria Math" panose="02040503050406030204" pitchFamily="18" charset="0"/>
                      </a:rPr>
                      <m:t>x</m:t>
                    </m:r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1600" i="0">
                        <a:latin typeface="Cambria Math" panose="02040503050406030204" pitchFamily="18" charset="0"/>
                      </a:rPr>
                      <m:t>3</m:t>
                    </m:r>
                    <m:r>
                      <a:rPr lang="en-US" sz="1600" i="1">
                        <a:latin typeface="Cambria Math" panose="02040503050406030204" pitchFamily="18" charset="0"/>
                      </a:rPr>
                      <m:t>k</m:t>
                    </m:r>
                  </m:oMath>
                </a14:m>
              </mc:Choice>
              <mc:Fallback>
                <a:r>
                  <a:rPr lang="zh-CN" altLang="en-US" sz="1600" dirty="0">
                    <a:latin typeface="Arial"/>
                    <a:ea typeface="Microsoft YaHei"/>
                  </a:rPr>
                  <a:t>x = 3k</a:t>
                </a:r>
              </mc:Fallback>
            </mc:AlternateContent>
            <a:r>
              <a:rPr lang="zh-CN" altLang="en-US" sz="1600" dirty="0">
                <a:latin typeface="Arial"/>
                <a:ea typeface="Microsoft YaHei"/>
              </a:rPr>
              <a:t>, and </a:t>
            </a:r>
            <mc:AlternateContent xmlns:mc="http://schemas.openxmlformats.org/markup-compatibility/2006">
              <mc:Choice xmlns:a14="http://schemas.microsoft.com/office/drawing/2010/main" Requires="a14">
                <a14:m>
                  <m:oMath xmlns:m="http://schemas.openxmlformats.org/officeDocument/2006/math">
                    <m:r>
                      <a:rPr lang="en-US" sz="1600" i="0">
                        <a:latin typeface="Cambria Math" panose="02040503050406030204" pitchFamily="18" charset="0"/>
                      </a:rPr>
                      <m:t>3</m:t>
                    </m:r>
                    <m:r>
                      <a:rPr lang="en-US" sz="1600" i="1">
                        <a:latin typeface="Cambria Math" panose="02040503050406030204" pitchFamily="18" charset="0"/>
                      </a:rPr>
                      <m:t>k</m:t>
                    </m:r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1600" i="0"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</a:rPr>
                      <m:t>×</m:t>
                    </m:r>
                    <m:f>
                      <m:fPr>
                        <m:type m:val="bar"/>
                      </m:fPr>
                      <m:num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k</m:t>
                        </m:r>
                      </m:num>
                      <m:den>
                        <m:r>
                          <a:rPr lang="en-US" sz="1600" i="0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</mc:Choice>
              <mc:Fallback>
                <a:r>
                  <a:rPr lang="zh-CN" altLang="en-US" sz="1600" dirty="0">
                    <a:latin typeface="Arial"/>
                    <a:ea typeface="Microsoft YaHei"/>
                  </a:rPr>
                  <a:t>3k = 6 × (k)/(2)</a:t>
                </a:r>
              </mc:Fallback>
            </mc:AlternateContent>
            <a:endParaRPr lang="zh-CN" sz="1600"/>
          </a:p>
          <a:p>
            <a:r>
              <a:rPr lang="zh-CN" altLang="en-US" sz="1600" dirty="0">
                <a:latin typeface="Arial"/>
                <a:ea typeface="Microsoft YaHei"/>
              </a:rPr>
              <a:t>Q2 </a:t>
            </a:r>
            <mc:AlternateContent xmlns:mc="http://schemas.openxmlformats.org/markup-compatibility/2006">
              <mc:Choice xmlns:a14="http://schemas.microsoft.com/office/drawing/2010/main" Requires="a14">
                <a14:m>
                  <m:oMath xmlns:m="http://schemas.openxmlformats.org/officeDocument/2006/math">
                    <m:r>
                      <a:rPr lang="en-US" sz="1600" i="1">
                        <a:latin typeface="Cambria Math" panose="02040503050406030204" pitchFamily="18" charset="0"/>
                      </a:rPr>
                      <m:t>Δ</m:t>
                    </m:r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d>
                          <m:dPr>
                            <m:begChr m:val="("/>
                            <m:endChr m:val=")"/>
                            <m:sepChr m:val=""/>
                            <m:grow/>
                          </m:dPr>
                          <m:e>
                            <m:r>
                              <a:rPr lang="en-US" sz="1600" i="1">
                                <a:latin typeface="Cambria Math" panose="02040503050406030204" pitchFamily="18" charset="0"/>
                              </a:rPr>
                              <m:t>k</m:t>
                            </m:r>
                            <m:r>
                              <m:rPr>
                                <m:sty m:val="p"/>
                              </m:rPr>
                              <a:rPr lang="en-US" sz="1600" i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sz="1600" i="0"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d>
                      </m:e>
                      <m:sup>
                        <m:r>
                          <a:rPr lang="en-US" sz="1600" i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</a:rPr>
                      <m:t>≥</m:t>
                    </m:r>
                    <m:r>
                      <a:rPr lang="en-US" sz="1600" i="0"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</mc:Choice>
              <mc:Fallback>
                <a:r>
                  <a:rPr lang="zh-CN" altLang="en-US" sz="1600" dirty="0">
                    <a:latin typeface="Arial"/>
                    <a:ea typeface="Microsoft YaHei"/>
                  </a:rPr>
                  <a:t> = (k - 2)^2 ≥ 0</a:t>
                </a:r>
              </mc:Fallback>
            </mc:AlternateContent>
            <a:r>
              <a:rPr lang="zh-CN" altLang="en-US" sz="1600" dirty="0">
                <a:latin typeface="Arial"/>
                <a:ea typeface="Microsoft YaHei"/>
              </a:rPr>
              <a:t> for every </a:t>
            </a:r>
            <mc:AlternateContent xmlns:mc="http://schemas.openxmlformats.org/markup-compatibility/2006">
              <mc:Choice xmlns:a14="http://schemas.microsoft.com/office/drawing/2010/main" Requires="a14">
                <a14:m>
                  <m:oMath xmlns:m="http://schemas.openxmlformats.org/officeDocument/2006/math">
                    <m:r>
                      <a:rPr lang="en-US" sz="1600" i="1">
                        <a:latin typeface="Cambria Math" panose="02040503050406030204" pitchFamily="18" charset="0"/>
                      </a:rPr>
                      <m:t>k</m:t>
                    </m:r>
                  </m:oMath>
                </a14:m>
              </mc:Choice>
              <mc:Fallback>
                <a:r>
                  <a:rPr lang="zh-CN" altLang="en-US" sz="1600" dirty="0">
                    <a:latin typeface="Arial"/>
                    <a:ea typeface="Microsoft YaHei"/>
                  </a:rPr>
                  <a:t>k</a:t>
                </a:r>
              </mc:Fallback>
            </mc:AlternateContent>
            <a:endParaRPr lang="zh-CN" sz="1600"/>
          </a:p>
          <a:p>
            <a:r>
              <a:rPr lang="zh-CN" altLang="en-US" sz="1600" dirty="0">
                <a:latin typeface="Arial"/>
                <a:ea typeface="Microsoft YaHei"/>
              </a:rPr>
              <a:t>Short solution:</a:t>
            </a:r>
            <a:endParaRPr lang="zh-CN" sz="1600"/>
          </a:p>
          <a:p>
            <a:r>
              <a:rPr lang="zh-CN" altLang="en-US" sz="1600" dirty="0">
                <a:latin typeface="Arial"/>
                <a:ea typeface="Microsoft YaHei"/>
              </a:rPr>
              <a:t>Q1 </a:t>
            </a:r>
            <mc:AlternateContent xmlns:mc="http://schemas.openxmlformats.org/markup-compatibility/2006">
              <mc:Choice xmlns:a14="http://schemas.microsoft.com/office/drawing/2010/main" Requires="a14">
                <a14:m>
                  <m:oMath xmlns:m="http://schemas.openxmlformats.org/officeDocument/2006/math">
                    <m:d>
                      <m:dPr>
                        <m:begChr m:val="("/>
                        <m:endChr m:val=")"/>
                        <m:sepChr m:val=""/>
                        <m:grow/>
                      </m:dPr>
                      <m:e>
                        <m:r>
                          <a:rPr lang="en-US" sz="1600" i="0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x</m:t>
                        </m:r>
                        <m:r>
                          <m:rPr>
                            <m:sty m:val="p"/>
                          </m:rPr>
                          <a:rPr lang="en-US" sz="1600" i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k</m:t>
                        </m:r>
                      </m:e>
                    </m:d>
                    <m:d>
                      <m:dPr>
                        <m:begChr m:val="("/>
                        <m:endChr m:val=")"/>
                        <m:sepChr m:val=""/>
                        <m:grow/>
                      </m:dPr>
                      <m:e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x</m:t>
                        </m:r>
                        <m:r>
                          <m:rPr>
                            <m:sty m:val="p"/>
                          </m:rPr>
                          <a:rPr lang="en-US" sz="1600" i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sz="1600" i="0"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k</m:t>
                        </m:r>
                      </m:e>
                    </m:d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1600" i="0"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</mc:Choice>
              <mc:Fallback>
                <a:r>
                  <a:rPr lang="zh-CN" altLang="en-US" sz="1600" dirty="0">
                    <a:latin typeface="Arial"/>
                    <a:ea typeface="Microsoft YaHei"/>
                  </a:rPr>
                  <a:t>(2x - k)(x - 3k) = 0</a:t>
                </a:r>
              </mc:Fallback>
            </mc:AlternateContent>
            <a:r>
              <a:rPr lang="zh-CN" altLang="en-US" sz="1600" dirty="0">
                <a:latin typeface="Arial"/>
                <a:ea typeface="Microsoft YaHei"/>
              </a:rPr>
              <a:t> (r)</a:t>
            </a:r>
            <a:endParaRPr lang="zh-CN" sz="1600"/>
          </a:p>
          <a:p>
            <a:r>
              <a:rPr lang="zh-CN" altLang="en-US" sz="1600" dirty="0">
                <a:latin typeface="Arial"/>
                <a:ea typeface="Microsoft YaHei"/>
              </a:rPr>
              <a:t>Q2 </a:t>
            </a:r>
            <mc:AlternateContent xmlns:mc="http://schemas.openxmlformats.org/markup-compatibility/2006">
              <mc:Choice xmlns:a14="http://schemas.microsoft.com/office/drawing/2010/main" Requires="a14">
                <a14:m>
                  <m:oMath xmlns:m="http://schemas.openxmlformats.org/officeDocument/2006/math">
                    <m:sSup>
                      <m:e>
                        <m:d>
                          <m:dPr>
                            <m:begChr m:val="("/>
                            <m:endChr m:val=")"/>
                            <m:sepChr m:val=""/>
                            <m:grow/>
                          </m:dPr>
                          <m:e>
                            <m:r>
                              <a:rPr lang="en-US" sz="1600" i="1">
                                <a:latin typeface="Cambria Math" panose="02040503050406030204" pitchFamily="18" charset="0"/>
                              </a:rPr>
                              <m:t>k</m:t>
                            </m:r>
                            <m:r>
                              <m:rPr>
                                <m:sty m:val="p"/>
                              </m:rPr>
                              <a:rPr lang="en-US" sz="1600" i="0"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US" sz="1600" i="0"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d>
                      </m:e>
                      <m:sup>
                        <m:r>
                          <a:rPr lang="en-US" sz="1600" i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sz="1600" i="0">
                        <a:latin typeface="Cambria Math" panose="02040503050406030204" pitchFamily="18" charset="0"/>
                      </a:rPr>
                      <m:t>8</m:t>
                    </m:r>
                    <m:r>
                      <a:rPr lang="en-US" sz="1600" i="1">
                        <a:latin typeface="Cambria Math" panose="02040503050406030204" pitchFamily="18" charset="0"/>
                      </a:rPr>
                      <m:t>k</m:t>
                    </m:r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k</m:t>
                        </m:r>
                      </m:e>
                      <m:sup>
                        <m:r>
                          <a:rPr lang="en-US" sz="1600" i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sz="1600" i="0">
                        <a:latin typeface="Cambria Math" panose="02040503050406030204" pitchFamily="18" charset="0"/>
                      </a:rPr>
                      <m:t>4</m:t>
                    </m:r>
                    <m:r>
                      <a:rPr lang="en-US" sz="1600" i="1">
                        <a:latin typeface="Cambria Math" panose="02040503050406030204" pitchFamily="18" charset="0"/>
                      </a:rPr>
                      <m:t>k</m:t>
                    </m:r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1600" i="0"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d>
                          <m:dPr>
                            <m:begChr m:val="("/>
                            <m:endChr m:val=")"/>
                            <m:sepChr m:val=""/>
                            <m:grow/>
                          </m:dPr>
                          <m:e>
                            <m:r>
                              <a:rPr lang="en-US" sz="1600" i="1">
                                <a:latin typeface="Cambria Math" panose="02040503050406030204" pitchFamily="18" charset="0"/>
                              </a:rPr>
                              <m:t>k</m:t>
                            </m:r>
                            <m:r>
                              <m:rPr>
                                <m:sty m:val="p"/>
                              </m:rPr>
                              <a:rPr lang="en-US" sz="1600" i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sz="1600" i="0"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d>
                      </m:e>
                      <m:sup>
                        <m:r>
                          <a:rPr lang="en-US" sz="1600" i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</mc:Choice>
              <mc:Fallback>
                <a:r>
                  <a:rPr lang="zh-CN" altLang="en-US" sz="1600" dirty="0">
                    <a:latin typeface="Arial"/>
                    <a:ea typeface="Microsoft YaHei"/>
                  </a:rPr>
                  <a:t>(k + 2)^2 - 8k = k^2 - 4k + 4 = (k - 2)^2</a:t>
                </a:r>
              </mc:Fallback>
            </mc:AlternateContent>
            <a:r>
              <a:rPr lang="zh-CN" altLang="en-US" sz="1600" dirty="0">
                <a:latin typeface="Arial"/>
                <a:ea typeface="Microsoft YaHei"/>
              </a:rPr>
              <a:t>；平方不会是负数 (t)</a:t>
            </a:r>
            <a:endParaRPr lang="zh-CN" sz="1600"/>
          </a:p>
          <a:p>
            <a:r>
              <a:rPr lang="zh-CN" altLang="en-US" sz="1600" dirty="0">
                <a:latin typeface="Arial"/>
                <a:ea typeface="Microsoft YaHei"/>
              </a:rPr>
              <a:t>Watch for:</a:t>
            </a:r>
            <a:endParaRPr lang="zh-CN" sz="1600"/>
          </a:p>
          <a:p>
            <a:r>
              <a:rPr lang="zh-CN" altLang="en-US" sz="1600" dirty="0">
                <a:latin typeface="Arial"/>
                <a:ea typeface="Microsoft YaHei"/>
              </a:rPr>
              <a:t>Q2 只代几个 </a:t>
            </a:r>
            <mc:AlternateContent xmlns:mc="http://schemas.openxmlformats.org/markup-compatibility/2006">
              <mc:Choice xmlns:a14="http://schemas.microsoft.com/office/drawing/2010/main" Requires="a14">
                <a14:m>
                  <m:oMath xmlns:m="http://schemas.openxmlformats.org/officeDocument/2006/math">
                    <m:r>
                      <a:rPr lang="en-US" sz="1600" i="1">
                        <a:latin typeface="Cambria Math" panose="02040503050406030204" pitchFamily="18" charset="0"/>
                      </a:rPr>
                      <m:t>k</m:t>
                    </m:r>
                  </m:oMath>
                </a14:m>
              </mc:Choice>
              <mc:Fallback>
                <a:r>
                  <a:rPr lang="zh-CN" altLang="en-US" sz="1600" dirty="0">
                    <a:latin typeface="Arial"/>
                    <a:ea typeface="Microsoft YaHei"/>
                  </a:rPr>
                  <a:t>k</a:t>
                </a:r>
              </mc:Fallback>
            </mc:AlternateContent>
            <a:r>
              <a:rPr lang="zh-CN" altLang="en-US" sz="1600" dirty="0">
                <a:latin typeface="Arial"/>
                <a:ea typeface="Microsoft YaHei"/>
              </a:rPr>
              <a:t> 试：不是 every value（L24 下节课会讲）</a:t>
            </a:r>
            <a:endParaRPr lang="zh-CN" sz="160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>
            <a:noAutofit/>
          </a:bodyPr>
          <a:lstStyle/>
          <a:p>
            <a:r>
              <a:rPr lang="zh-CN" altLang="en-US" sz="1600" dirty="0">
                <a:latin typeface="Arial"/>
                <a:ea typeface="Microsoft YaHei"/>
              </a:rPr>
              <a:t>Teaching line, not a question slide.</a:t>
            </a:r>
            <a:endParaRPr lang="zh-CN" sz="1600"/>
          </a:p>
          <a:p>
            <a:r>
              <a:rPr lang="zh-CN" altLang="en-US" sz="1600" dirty="0">
                <a:latin typeface="Arial"/>
                <a:ea typeface="Microsoft YaHei"/>
              </a:rPr>
              <a:t>答案在 classwork3_answers.pdf（同版面，红色答案）。</a:t>
            </a:r>
            <a:endParaRPr lang="zh-CN" sz="1600"/>
          </a:p>
          <a:p>
            <a:r>
              <a:rPr lang="zh-CN" altLang="en-US" sz="1600" dirty="0">
                <a:latin typeface="Arial"/>
                <a:ea typeface="Microsoft YaHei"/>
              </a:rPr>
              <a:t>A1 </a:t>
            </a:r>
            <mc:AlternateContent xmlns:mc="http://schemas.openxmlformats.org/markup-compatibility/2006">
              <mc:Choice xmlns:a14="http://schemas.microsoft.com/office/drawing/2010/main" Requires="a14">
                <a14:m>
                  <m:oMath xmlns:m="http://schemas.openxmlformats.org/officeDocument/2006/math">
                    <m:f>
                      <m:fPr>
                        <m:type m:val="bar"/>
                      </m:fPr>
                      <m:num>
                        <m:r>
                          <a:rPr lang="en-US" sz="1600" i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sz="1600" i="0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</mc:Choice>
              <mc:Fallback>
                <a:r>
                  <a:rPr lang="zh-CN" altLang="en-US" sz="1600" dirty="0">
                    <a:latin typeface="Arial"/>
                    <a:ea typeface="Microsoft YaHei"/>
                  </a:rPr>
                  <a:t>(1)/(2)</a:t>
                </a:r>
              </mc:Fallback>
            </mc:AlternateContent>
            <a:r>
              <a:rPr lang="zh-CN" altLang="en-US" sz="1600" dirty="0">
                <a:latin typeface="Arial"/>
                <a:ea typeface="Microsoft YaHei"/>
              </a:rPr>
              <a:t>、</a:t>
            </a:r>
            <mc:AlternateContent xmlns:mc="http://schemas.openxmlformats.org/markup-compatibility/2006">
              <mc:Choice xmlns:a14="http://schemas.microsoft.com/office/drawing/2010/main"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sz="1600" i="0"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</mc:Choice>
              <mc:Fallback>
                <a:r>
                  <a:rPr lang="zh-CN" altLang="en-US" sz="1600" dirty="0">
                    <a:latin typeface="Arial"/>
                    <a:ea typeface="Microsoft YaHei"/>
                  </a:rPr>
                  <a:t>-4</a:t>
                </a:r>
              </mc:Fallback>
            </mc:AlternateContent>
            <a:r>
              <a:rPr lang="zh-CN" altLang="en-US" sz="1600" dirty="0">
                <a:latin typeface="Arial"/>
                <a:ea typeface="Microsoft YaHei"/>
              </a:rPr>
              <a:t>；A2 7、</a:t>
            </a:r>
            <mc:AlternateContent xmlns:mc="http://schemas.openxmlformats.org/markup-compatibility/2006">
              <mc:Choice xmlns:a14="http://schemas.microsoft.com/office/drawing/2010/main"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sz="1600" i="0"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</mc:Choice>
              <mc:Fallback>
                <a:r>
                  <a:rPr lang="zh-CN" altLang="en-US" sz="1600" dirty="0">
                    <a:latin typeface="Arial"/>
                    <a:ea typeface="Microsoft YaHei"/>
                  </a:rPr>
                  <a:t>-4</a:t>
                </a:r>
              </mc:Fallback>
            </mc:AlternateContent>
            <a:r>
              <a:rPr lang="zh-CN" altLang="en-US" sz="1600" dirty="0">
                <a:latin typeface="Arial"/>
                <a:ea typeface="Microsoft YaHei"/>
              </a:rPr>
              <a:t>；A3 </a:t>
            </a:r>
            <mc:AlternateContent xmlns:mc="http://schemas.openxmlformats.org/markup-compatibility/2006">
              <mc:Choice xmlns:a14="http://schemas.microsoft.com/office/drawing/2010/main" Requires="a14">
                <a14:m>
                  <m:oMath xmlns:m="http://schemas.openxmlformats.org/officeDocument/2006/math">
                    <m:r>
                      <a:rPr lang="en-US" sz="1600" i="0">
                        <a:latin typeface="Cambria Math" panose="02040503050406030204" pitchFamily="18" charset="0"/>
                      </a:rPr>
                      <m:t>0.869</m:t>
                    </m:r>
                  </m:oMath>
                </a14:m>
              </mc:Choice>
              <mc:Fallback>
                <a:r>
                  <a:rPr lang="zh-CN" altLang="en-US" sz="1600" dirty="0">
                    <a:latin typeface="Arial"/>
                    <a:ea typeface="Microsoft YaHei"/>
                  </a:rPr>
                  <a:t>0.869</a:t>
                </a:r>
              </mc:Fallback>
            </mc:AlternateContent>
            <a:r>
              <a:rPr lang="zh-CN" altLang="en-US" sz="1600" dirty="0">
                <a:latin typeface="Arial"/>
                <a:ea typeface="Microsoft YaHei"/>
              </a:rPr>
              <a:t>、</a:t>
            </a:r>
            <mc:AlternateContent xmlns:mc="http://schemas.openxmlformats.org/markup-compatibility/2006">
              <mc:Choice xmlns:a14="http://schemas.microsoft.com/office/drawing/2010/main"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sz="1600" i="0">
                        <a:latin typeface="Cambria Math" panose="02040503050406030204" pitchFamily="18" charset="0"/>
                      </a:rPr>
                      <m:t>1.535</m:t>
                    </m:r>
                  </m:oMath>
                </a14:m>
              </mc:Choice>
              <mc:Fallback>
                <a:r>
                  <a:rPr lang="zh-CN" altLang="en-US" sz="1600" dirty="0">
                    <a:latin typeface="Arial"/>
                    <a:ea typeface="Microsoft YaHei"/>
                  </a:rPr>
                  <a:t>-1.535</a:t>
                </a:r>
              </mc:Fallback>
            </mc:AlternateContent>
            <a:r>
              <a:rPr lang="zh-CN" altLang="en-US" sz="1600" dirty="0">
                <a:latin typeface="Arial"/>
                <a:ea typeface="Microsoft YaHei"/>
              </a:rPr>
              <a:t>；A4 </a:t>
            </a:r>
            <mc:AlternateContent xmlns:mc="http://schemas.openxmlformats.org/markup-compatibility/2006">
              <mc:Choice xmlns:a14="http://schemas.microsoft.com/office/drawing/2010/main"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sz="1600" i="0">
                        <a:latin typeface="Cambria Math" panose="02040503050406030204" pitchFamily="18" charset="0"/>
                      </a:rPr>
                      <m:t>12</m:t>
                    </m:r>
                  </m:oMath>
                </a14:m>
              </mc:Choice>
              <mc:Fallback>
                <a:r>
                  <a:rPr lang="zh-CN" altLang="en-US" sz="1600" dirty="0">
                    <a:latin typeface="Arial"/>
                    <a:ea typeface="Microsoft YaHei"/>
                  </a:rPr>
                  <a:t>-12</a:t>
                </a:r>
              </mc:Fallback>
            </mc:AlternateContent>
            <a:r>
              <a:rPr lang="zh-CN" altLang="en-US" sz="1600" dirty="0">
                <a:latin typeface="Arial"/>
                <a:ea typeface="Microsoft YaHei"/>
              </a:rPr>
              <a:t>，没有实根；A5 </a:t>
            </a:r>
            <mc:AlternateContent xmlns:mc="http://schemas.openxmlformats.org/markup-compatibility/2006">
              <mc:Choice xmlns:a14="http://schemas.microsoft.com/office/drawing/2010/main" Requires="a14">
                <a14:m>
                  <m:oMath xmlns:m="http://schemas.openxmlformats.org/officeDocument/2006/math">
                    <m:r>
                      <a:rPr lang="en-US" sz="1600" i="0">
                        <a:latin typeface="Cambria Math" panose="02040503050406030204" pitchFamily="18" charset="0"/>
                      </a:rPr>
                      <m:t>3</m:t>
                    </m:r>
                    <m:sSup>
                      <m:e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x</m:t>
                        </m:r>
                      </m:e>
                      <m:sup>
                        <m:r>
                          <a:rPr lang="en-US" sz="1600" i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1600" i="1">
                        <a:latin typeface="Cambria Math" panose="02040503050406030204" pitchFamily="18" charset="0"/>
                      </a:rPr>
                      <m:t>x</m:t>
                    </m:r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sz="1600" i="0"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1600" i="0"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</mc:Choice>
              <mc:Fallback>
                <a:r>
                  <a:rPr lang="zh-CN" altLang="en-US" sz="1600" dirty="0">
                    <a:latin typeface="Arial"/>
                    <a:ea typeface="Microsoft YaHei"/>
                  </a:rPr>
                  <a:t>3x^2 + x - 2 = 0</a:t>
                </a:r>
              </mc:Fallback>
            </mc:AlternateContent>
            <a:endParaRPr lang="zh-CN" sz="1600"/>
          </a:p>
          <a:p>
            <a:r>
              <a:rPr lang="zh-CN" altLang="en-US" sz="1600" dirty="0">
                <a:latin typeface="Arial"/>
                <a:ea typeface="Microsoft YaHei"/>
              </a:rPr>
              <a:t>B1 </a:t>
            </a:r>
            <mc:AlternateContent xmlns:mc="http://schemas.openxmlformats.org/markup-compatibility/2006">
              <mc:Choice xmlns:a14="http://schemas.microsoft.com/office/drawing/2010/main" Requires="a14">
                <a14:m>
                  <m:oMath xmlns:m="http://schemas.openxmlformats.org/officeDocument/2006/math">
                    <m:r>
                      <a:rPr lang="en-US" sz="1600" i="1">
                        <a:latin typeface="Cambria Math" panose="02040503050406030204" pitchFamily="18" charset="0"/>
                      </a:rPr>
                      <m:t>k</m:t>
                    </m:r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</a:rPr>
                      <m:t>±</m:t>
                    </m:r>
                    <m:r>
                      <a:rPr lang="en-US" sz="1600" i="0">
                        <a:latin typeface="Cambria Math" panose="02040503050406030204" pitchFamily="18" charset="0"/>
                      </a:rPr>
                      <m:t>12</m:t>
                    </m:r>
                  </m:oMath>
                </a14:m>
              </mc:Choice>
              <mc:Fallback>
                <a:r>
                  <a:rPr lang="zh-CN" altLang="en-US" sz="1600" dirty="0">
                    <a:latin typeface="Arial"/>
                    <a:ea typeface="Microsoft YaHei"/>
                  </a:rPr>
                  <a:t>k = ± 12</a:t>
                </a:r>
              </mc:Fallback>
            </mc:AlternateContent>
            <a:r>
              <a:rPr lang="zh-CN" altLang="en-US" sz="1600" dirty="0">
                <a:latin typeface="Arial"/>
                <a:ea typeface="Microsoft YaHei"/>
              </a:rPr>
              <a:t>；B2 </a:t>
            </a:r>
            <mc:AlternateContent xmlns:mc="http://schemas.openxmlformats.org/markup-compatibility/2006">
              <mc:Choice xmlns:a14="http://schemas.microsoft.com/office/drawing/2010/main" Requires="a14">
                <a14:m>
                  <m:oMath xmlns:m="http://schemas.openxmlformats.org/officeDocument/2006/math">
                    <m:r>
                      <a:rPr lang="en-US" sz="1600" i="1">
                        <a:latin typeface="Cambria Math" panose="02040503050406030204" pitchFamily="18" charset="0"/>
                      </a:rPr>
                      <m:t>p</m:t>
                    </m:r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US" sz="1600" i="0">
                        <a:latin typeface="Cambria Math" panose="02040503050406030204" pitchFamily="18" charset="0"/>
                      </a:rPr>
                      <m:t>16</m:t>
                    </m:r>
                  </m:oMath>
                </a14:m>
              </mc:Choice>
              <mc:Fallback>
                <a:r>
                  <a:rPr lang="zh-CN" altLang="en-US" sz="1600" dirty="0">
                    <a:latin typeface="Arial"/>
                    <a:ea typeface="Microsoft YaHei"/>
                  </a:rPr>
                  <a:t>p &lt; 16</a:t>
                </a:r>
              </mc:Fallback>
            </mc:AlternateContent>
            <a:r>
              <a:rPr lang="zh-CN" altLang="en-US" sz="1600" dirty="0">
                <a:latin typeface="Arial"/>
                <a:ea typeface="Microsoft YaHei"/>
              </a:rPr>
              <a:t>；B3 </a:t>
            </a:r>
            <mc:AlternateContent xmlns:mc="http://schemas.openxmlformats.org/markup-compatibility/2006">
              <mc:Choice xmlns:a14="http://schemas.microsoft.com/office/drawing/2010/main" Requires="a14">
                <a14:m>
                  <m:oMath xmlns:m="http://schemas.openxmlformats.org/officeDocument/2006/math">
                    <m:r>
                      <a:rPr lang="en-US" sz="1600" i="1">
                        <a:latin typeface="Cambria Math" panose="02040503050406030204" pitchFamily="18" charset="0"/>
                      </a:rPr>
                      <m:t>y</m:t>
                    </m:r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1600" i="0"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x</m:t>
                        </m:r>
                      </m:e>
                      <m:sup>
                        <m:r>
                          <a:rPr lang="en-US" sz="1600" i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1600" i="0">
                        <a:latin typeface="Cambria Math" panose="02040503050406030204" pitchFamily="18" charset="0"/>
                      </a:rPr>
                      <m:t>2</m:t>
                    </m:r>
                    <m:r>
                      <a:rPr lang="en-US" sz="1600" i="1">
                        <a:latin typeface="Cambria Math" panose="02040503050406030204" pitchFamily="18" charset="0"/>
                      </a:rPr>
                      <m:t>x</m:t>
                    </m:r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sz="1600" i="0">
                        <a:latin typeface="Cambria Math" panose="02040503050406030204" pitchFamily="18" charset="0"/>
                      </a:rPr>
                      <m:t>12</m:t>
                    </m:r>
                  </m:oMath>
                </a14:m>
              </mc:Choice>
              <mc:Fallback>
                <a:r>
                  <a:rPr lang="zh-CN" altLang="en-US" sz="1600" dirty="0">
                    <a:latin typeface="Arial"/>
                    <a:ea typeface="Microsoft YaHei"/>
                  </a:rPr>
                  <a:t>y = 2x^2 + 2x - 12</a:t>
                </a:r>
              </mc:Fallback>
            </mc:AlternateContent>
            <a:endParaRPr lang="zh-CN" sz="1600"/>
          </a:p>
          <a:p>
            <a:r>
              <a:rPr lang="zh-CN" altLang="en-US" sz="1600" dirty="0">
                <a:latin typeface="Arial"/>
                <a:ea typeface="Microsoft YaHei"/>
              </a:rPr>
              <a:t>C：</a:t>
            </a:r>
            <mc:AlternateContent xmlns:mc="http://schemas.openxmlformats.org/markup-compatibility/2006">
              <mc:Choice xmlns:a14="http://schemas.microsoft.com/office/drawing/2010/main" Requires="a14">
                <a14:m>
                  <m:oMath xmlns:m="http://schemas.openxmlformats.org/officeDocument/2006/math">
                    <m:r>
                      <a:rPr lang="en-US" sz="1600" i="1">
                        <a:latin typeface="Cambria Math" panose="02040503050406030204" pitchFamily="18" charset="0"/>
                      </a:rPr>
                      <m:t>Δ</m:t>
                    </m:r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d>
                          <m:dPr>
                            <m:begChr m:val="("/>
                            <m:endChr m:val=")"/>
                            <m:sepChr m:val=""/>
                            <m:grow/>
                          </m:dPr>
                          <m:e>
                            <m:r>
                              <a:rPr lang="en-US" sz="1600" i="1">
                                <a:latin typeface="Cambria Math" panose="02040503050406030204" pitchFamily="18" charset="0"/>
                              </a:rPr>
                              <m:t>k</m:t>
                            </m:r>
                            <m:r>
                              <m:rPr>
                                <m:sty m:val="p"/>
                              </m:rPr>
                              <a:rPr lang="en-US" sz="1600" i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sz="1600" i="0"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d>
                      </m:e>
                      <m:sup>
                        <m:r>
                          <a:rPr lang="en-US" sz="1600" i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</a:rPr>
                      <m:t>≥</m:t>
                    </m:r>
                    <m:r>
                      <a:rPr lang="en-US" sz="1600" i="0"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</mc:Choice>
              <mc:Fallback>
                <a:r>
                  <a:rPr lang="zh-CN" altLang="en-US" sz="1600" dirty="0">
                    <a:latin typeface="Arial"/>
                    <a:ea typeface="Microsoft YaHei"/>
                  </a:rPr>
                  <a:t> = (k - 3)^2 ≥ 0</a:t>
                </a:r>
              </mc:Fallback>
            </mc:AlternateContent>
            <a:r>
              <a:rPr lang="zh-CN" altLang="en-US" sz="1600" dirty="0">
                <a:latin typeface="Arial"/>
                <a:ea typeface="Microsoft YaHei"/>
              </a:rPr>
              <a:t>；</a:t>
            </a:r>
            <mc:AlternateContent xmlns:mc="http://schemas.openxmlformats.org/markup-compatibility/2006">
              <mc:Choice xmlns:a14="http://schemas.microsoft.com/office/drawing/2010/main" Requires="a14">
                <a14:m>
                  <m:oMath xmlns:m="http://schemas.openxmlformats.org/officeDocument/2006/math">
                    <m:r>
                      <a:rPr lang="en-US" sz="1600" i="1">
                        <a:latin typeface="Cambria Math" panose="02040503050406030204" pitchFamily="18" charset="0"/>
                      </a:rPr>
                      <m:t>k</m:t>
                    </m:r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1600" i="0"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</mc:Choice>
              <mc:Fallback>
                <a:r>
                  <a:rPr lang="zh-CN" altLang="en-US" sz="1600" dirty="0">
                    <a:latin typeface="Arial"/>
                    <a:ea typeface="Microsoft YaHei"/>
                  </a:rPr>
                  <a:t>k = 3</a:t>
                </a:r>
              </mc:Fallback>
            </mc:AlternateContent>
            <a:r>
              <a:rPr lang="zh-CN" altLang="en-US" sz="1600" dirty="0">
                <a:latin typeface="Arial"/>
                <a:ea typeface="Microsoft YaHei"/>
              </a:rPr>
              <a:t> 时相等</a:t>
            </a:r>
            <a:endParaRPr lang="zh-CN" sz="1600"/>
          </a:p>
          <a:p>
            <a:r>
              <a:rPr lang="zh-CN" altLang="en-US" sz="1600" dirty="0">
                <a:latin typeface="Arial"/>
                <a:ea typeface="Microsoft YaHei"/>
              </a:rPr>
              <a:t>Extension：</a:t>
            </a:r>
            <mc:AlternateContent xmlns:mc="http://schemas.openxmlformats.org/markup-compatibility/2006">
              <mc:Choice xmlns:a14="http://schemas.microsoft.com/office/drawing/2010/main" Requires="a14">
                <a14:m>
                  <m:oMath xmlns:m="http://schemas.openxmlformats.org/officeDocument/2006/math">
                    <m:r>
                      <a:rPr lang="en-US" sz="1600" i="1">
                        <a:latin typeface="Cambria Math" panose="02040503050406030204" pitchFamily="18" charset="0"/>
                      </a:rPr>
                      <m:t>x</m:t>
                    </m:r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</a:rPr>
                      <m:t>±</m:t>
                    </m:r>
                    <m:r>
                      <a:rPr lang="en-US" sz="1600" i="0"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</mc:Choice>
              <mc:Fallback>
                <a:r>
                  <a:rPr lang="zh-CN" altLang="en-US" sz="1600" dirty="0">
                    <a:latin typeface="Arial"/>
                    <a:ea typeface="Microsoft YaHei"/>
                  </a:rPr>
                  <a:t>x = ± 1</a:t>
                </a:r>
              </mc:Fallback>
            </mc:AlternateContent>
            <a:r>
              <a:rPr lang="zh-CN" altLang="en-US" sz="1600" dirty="0">
                <a:latin typeface="Arial"/>
                <a:ea typeface="Microsoft YaHei"/>
              </a:rPr>
              <a:t> 或 </a:t>
            </a:r>
            <mc:AlternateContent xmlns:mc="http://schemas.openxmlformats.org/markup-compatibility/2006">
              <mc:Choice xmlns:a14="http://schemas.microsoft.com/office/drawing/2010/main"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</a:rPr>
                      <m:t>±</m:t>
                    </m:r>
                    <m:r>
                      <a:rPr lang="en-US" sz="1600" i="0"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</mc:Choice>
              <mc:Fallback>
                <a:r>
                  <a:rPr lang="zh-CN" altLang="en-US" sz="1600" dirty="0">
                    <a:latin typeface="Arial"/>
                    <a:ea typeface="Microsoft YaHei"/>
                  </a:rPr>
                  <a:t>± 2</a:t>
                </a:r>
              </mc:Fallback>
            </mc:AlternateContent>
            <a:endParaRPr lang="zh-CN" sz="160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>
            <a:noAutofit/>
          </a:bodyPr>
          <a:lstStyle/>
          <a:p>
            <a:r>
              <a:rPr lang="zh-CN" altLang="en-US" sz="1600" dirty="0">
                <a:latin typeface="Arial"/>
                <a:ea typeface="Microsoft YaHei"/>
              </a:rPr>
              <a:t>(b) </a:t>
            </a:r>
            <mc:AlternateContent xmlns:mc="http://schemas.openxmlformats.org/markup-compatibility/2006">
              <mc:Choice xmlns:a14="http://schemas.microsoft.com/office/drawing/2010/main" Requires="a14">
                <a14:m>
                  <m:oMath xmlns:m="http://schemas.openxmlformats.org/officeDocument/2006/math">
                    <m:r>
                      <a:rPr lang="en-US" sz="1600" i="0">
                        <a:latin typeface="Cambria Math" panose="02040503050406030204" pitchFamily="18" charset="0"/>
                      </a:rPr>
                      <m:t>3</m:t>
                    </m:r>
                    <m:sSup>
                      <m:e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x</m:t>
                        </m:r>
                      </m:e>
                      <m:sup>
                        <m:r>
                          <a:rPr lang="en-US" sz="1600" i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sz="1600" i="0">
                        <a:latin typeface="Cambria Math" panose="02040503050406030204" pitchFamily="18" charset="0"/>
                      </a:rPr>
                      <m:t>10</m:t>
                    </m:r>
                    <m:r>
                      <a:rPr lang="en-US" sz="1600" i="1">
                        <a:latin typeface="Cambria Math" panose="02040503050406030204" pitchFamily="18" charset="0"/>
                      </a:rPr>
                      <m:t>x</m:t>
                    </m:r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sz="1600" i="0">
                        <a:latin typeface="Cambria Math" panose="02040503050406030204" pitchFamily="18" charset="0"/>
                      </a:rPr>
                      <m:t>8</m:t>
                    </m:r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1600" i="0"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</mc:Choice>
              <mc:Fallback>
                <a:r>
                  <a:rPr lang="zh-CN" altLang="en-US" sz="1600" dirty="0">
                    <a:latin typeface="Arial"/>
                    <a:ea typeface="Microsoft YaHei"/>
                  </a:rPr>
                  <a:t>3x^2 - 10x - 8 = 0</a:t>
                </a:r>
              </mc:Fallback>
            </mc:AlternateContent>
            <a:endParaRPr lang="zh-CN" sz="1600"/>
          </a:p>
          <a:p>
            <a:r>
              <a:rPr lang="zh-CN" altLang="en-US" sz="1600" dirty="0">
                <a:latin typeface="Arial"/>
                <a:ea typeface="Microsoft YaHei"/>
              </a:rPr>
              <a:t>Short solution:</a:t>
            </a:r>
            <a:endParaRPr lang="zh-CN" sz="1600"/>
          </a:p>
          <a:p>
            <a:r>
              <a:rPr lang="zh-CN" altLang="en-US" sz="1600" dirty="0">
                <a:latin typeface="Arial"/>
                <a:ea typeface="Microsoft YaHei"/>
              </a:rPr>
              <a:t>(b) </a:t>
            </a:r>
            <mc:AlternateContent xmlns:mc="http://schemas.openxmlformats.org/markup-compatibility/2006">
              <mc:Choice xmlns:a14="http://schemas.microsoft.com/office/drawing/2010/main" Requires="a14">
                <a14:m>
                  <m:oMath xmlns:m="http://schemas.openxmlformats.org/officeDocument/2006/math">
                    <m:d>
                      <m:dPr>
                        <m:begChr m:val="("/>
                        <m:endChr m:val=")"/>
                        <m:sepChr m:val=""/>
                        <m:grow/>
                      </m:dPr>
                      <m:e>
                        <m:r>
                          <a:rPr lang="en-US" sz="1600" i="0"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x</m:t>
                        </m:r>
                        <m:r>
                          <m:rPr>
                            <m:sty m:val="p"/>
                          </m:rPr>
                          <a:rPr lang="en-US" sz="1600" i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sz="1600" i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d>
                    <m:d>
                      <m:dPr>
                        <m:begChr m:val="("/>
                        <m:endChr m:val=")"/>
                        <m:sepChr m:val=""/>
                        <m:grow/>
                      </m:dPr>
                      <m:e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x</m:t>
                        </m:r>
                        <m:r>
                          <m:rPr>
                            <m:sty m:val="p"/>
                          </m:rPr>
                          <a:rPr lang="en-US" sz="1600" i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sz="1600" i="0">
                            <a:latin typeface="Cambria Math" panose="02040503050406030204" pitchFamily="18" charset="0"/>
                          </a:rPr>
                          <m:t>4</m:t>
                        </m:r>
                      </m:e>
                    </m:d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1600" i="0"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</mc:Choice>
              <mc:Fallback>
                <a:r>
                  <a:rPr lang="zh-CN" altLang="en-US" sz="1600" dirty="0">
                    <a:latin typeface="Arial"/>
                    <a:ea typeface="Microsoft YaHei"/>
                  </a:rPr>
                  <a:t>(3x + 2)(x - 4) = 0</a:t>
                </a:r>
              </mc:Fallback>
            </mc:AlternateContent>
            <a:endParaRPr lang="zh-CN" sz="1600"/>
          </a:p>
          <a:p>
            <a:r>
              <a:rPr lang="zh-CN" altLang="en-US" sz="1600" dirty="0">
                <a:latin typeface="Arial"/>
                <a:ea typeface="Microsoft YaHei"/>
              </a:rPr>
              <a:t>评分：系数不是整数、或因式形式错但展开一致，只算 u；正确方程是 r</a:t>
            </a:r>
            <a:endParaRPr lang="zh-CN" sz="1600"/>
          </a:p>
          <a:p>
            <a:r>
              <a:rPr lang="zh-CN" altLang="en-US" sz="1600" dirty="0">
                <a:latin typeface="Arial"/>
                <a:ea typeface="Microsoft YaHei"/>
              </a:rPr>
              <a:t>Watch for:</a:t>
            </a:r>
            <a:endParaRPr lang="zh-CN" sz="1600"/>
          </a:p>
          <a:p>
            <mc:AlternateContent xmlns:mc="http://schemas.openxmlformats.org/markup-compatibility/2006">
              <mc:Choice xmlns:a14="http://schemas.microsoft.com/office/drawing/2010/main"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</m:fPr>
                      <m:num>
                        <m:r>
                          <a:rPr lang="en-US" sz="1600" i="0"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US" sz="1600" i="0"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</mc:Choice>
              <mc:Fallback>
                <a:r>
                  <a:rPr lang="zh-CN" altLang="en-US" sz="1600" dirty="0">
                    <a:latin typeface="Arial"/>
                    <a:ea typeface="Microsoft YaHei"/>
                  </a:rPr>
                  <a:t>-(2)/(3)</a:t>
                </a:r>
              </mc:Fallback>
            </mc:AlternateContent>
            <a:r>
              <a:rPr lang="zh-CN" altLang="en-US" sz="1600" dirty="0">
                <a:latin typeface="Arial"/>
                <a:ea typeface="Microsoft YaHei"/>
              </a:rPr>
              <a:t> 给 </a:t>
            </a:r>
            <mc:AlternateContent xmlns:mc="http://schemas.openxmlformats.org/markup-compatibility/2006">
              <mc:Choice xmlns:a14="http://schemas.microsoft.com/office/drawing/2010/main" Requires="a14">
                <a14:m>
                  <m:oMath xmlns:m="http://schemas.openxmlformats.org/officeDocument/2006/math">
                    <m:d>
                      <m:dPr>
                        <m:begChr m:val="("/>
                        <m:endChr m:val=")"/>
                        <m:sepChr m:val=""/>
                        <m:grow/>
                      </m:dPr>
                      <m:e>
                        <m:r>
                          <a:rPr lang="en-US" sz="1600" i="0"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x</m:t>
                        </m:r>
                        <m:r>
                          <m:rPr>
                            <m:sty m:val="p"/>
                          </m:rPr>
                          <a:rPr lang="en-US" sz="1600" i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sz="1600" i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d>
                  </m:oMath>
                </a14:m>
              </mc:Choice>
              <mc:Fallback>
                <a:r>
                  <a:rPr lang="zh-CN" altLang="en-US" sz="1600" dirty="0">
                    <a:latin typeface="Arial"/>
                    <a:ea typeface="Microsoft YaHei"/>
                  </a:rPr>
                  <a:t>(3x + 2)</a:t>
                </a:r>
              </mc:Fallback>
            </mc:AlternateContent>
            <a:r>
              <a:rPr lang="zh-CN" altLang="en-US" sz="1600" dirty="0">
                <a:latin typeface="Arial"/>
                <a:ea typeface="Microsoft YaHei"/>
              </a:rPr>
              <a:t>（L17）</a:t>
            </a:r>
            <a:endParaRPr lang="zh-CN" sz="160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>
            <a:noAutofit/>
          </a:bodyPr>
          <a:lstStyle/>
          <a:p>
            <a:r>
              <a:rPr lang="zh-CN" altLang="en-US" sz="1600" dirty="0">
                <a:latin typeface="Arial"/>
                <a:ea typeface="Microsoft YaHei"/>
              </a:rPr>
              <a:t>(c) </a:t>
            </a:r>
            <mc:AlternateContent xmlns:mc="http://schemas.openxmlformats.org/markup-compatibility/2006">
              <mc:Choice xmlns:a14="http://schemas.microsoft.com/office/drawing/2010/main" Requires="a14">
                <a14:m>
                  <m:oMath xmlns:m="http://schemas.openxmlformats.org/officeDocument/2006/math">
                    <m:d>
                      <m:dPr>
                        <m:begChr m:val="("/>
                        <m:endChr m:val=")"/>
                        <m:sepChr m:val=""/>
                        <m:grow/>
                      </m:dPr>
                      <m:e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x</m:t>
                        </m:r>
                        <m:r>
                          <m:rPr>
                            <m:sty m:val="p"/>
                          </m:rPr>
                          <a:rPr lang="en-US" sz="1600" i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k</m:t>
                        </m:r>
                      </m:e>
                    </m:d>
                    <m:d>
                      <m:dPr>
                        <m:begChr m:val="("/>
                        <m:endChr m:val=")"/>
                        <m:sepChr m:val=""/>
                        <m:grow/>
                      </m:dPr>
                      <m:e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x</m:t>
                        </m:r>
                        <m:r>
                          <m:rPr>
                            <m:sty m:val="p"/>
                          </m:rPr>
                          <a:rPr lang="en-US" sz="1600" i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sz="1600" i="0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k</m:t>
                        </m:r>
                      </m:e>
                    </m:d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1600" i="0"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</mc:Choice>
              <mc:Fallback>
                <a:r>
                  <a:rPr lang="zh-CN" altLang="en-US" sz="1600" dirty="0">
                    <a:latin typeface="Arial"/>
                    <a:ea typeface="Microsoft YaHei"/>
                  </a:rPr>
                  <a:t>(x - k)(x - 2k) = 0</a:t>
                </a:r>
              </mc:Fallback>
            </mc:AlternateContent>
            <a:r>
              <a:rPr lang="zh-CN" altLang="en-US" sz="1600" dirty="0">
                <a:latin typeface="Arial"/>
                <a:ea typeface="Microsoft YaHei"/>
              </a:rPr>
              <a:t>, so the solutions are </a:t>
            </a:r>
            <mc:AlternateContent xmlns:mc="http://schemas.openxmlformats.org/markup-compatibility/2006">
              <mc:Choice xmlns:a14="http://schemas.microsoft.com/office/drawing/2010/main" Requires="a14">
                <a14:m>
                  <m:oMath xmlns:m="http://schemas.openxmlformats.org/officeDocument/2006/math">
                    <m:r>
                      <a:rPr lang="en-US" sz="1600" i="1">
                        <a:latin typeface="Cambria Math" panose="02040503050406030204" pitchFamily="18" charset="0"/>
                      </a:rPr>
                      <m:t>k</m:t>
                    </m:r>
                  </m:oMath>
                </a14:m>
              </mc:Choice>
              <mc:Fallback>
                <a:r>
                  <a:rPr lang="zh-CN" altLang="en-US" sz="1600" dirty="0">
                    <a:latin typeface="Arial"/>
                    <a:ea typeface="Microsoft YaHei"/>
                  </a:rPr>
                  <a:t>k</a:t>
                </a:r>
              </mc:Fallback>
            </mc:AlternateContent>
            <a:r>
              <a:rPr lang="zh-CN" altLang="en-US" sz="1600" dirty="0">
                <a:latin typeface="Arial"/>
                <a:ea typeface="Microsoft YaHei"/>
              </a:rPr>
              <a:t> and </a:t>
            </a:r>
            <mc:AlternateContent xmlns:mc="http://schemas.openxmlformats.org/markup-compatibility/2006">
              <mc:Choice xmlns:a14="http://schemas.microsoft.com/office/drawing/2010/main" Requires="a14">
                <a14:m>
                  <m:oMath xmlns:m="http://schemas.openxmlformats.org/officeDocument/2006/math">
                    <m:r>
                      <a:rPr lang="en-US" sz="1600" i="0">
                        <a:latin typeface="Cambria Math" panose="02040503050406030204" pitchFamily="18" charset="0"/>
                      </a:rPr>
                      <m:t>2</m:t>
                    </m:r>
                    <m:r>
                      <a:rPr lang="en-US" sz="1600" i="1">
                        <a:latin typeface="Cambria Math" panose="02040503050406030204" pitchFamily="18" charset="0"/>
                      </a:rPr>
                      <m:t>k</m:t>
                    </m:r>
                  </m:oMath>
                </a14:m>
              </mc:Choice>
              <mc:Fallback>
                <a:r>
                  <a:rPr lang="zh-CN" altLang="en-US" sz="1600" dirty="0">
                    <a:latin typeface="Arial"/>
                    <a:ea typeface="Microsoft YaHei"/>
                  </a:rPr>
                  <a:t>2k</a:t>
                </a:r>
              </mc:Fallback>
            </mc:AlternateContent>
            <a:r>
              <a:rPr lang="zh-CN" altLang="en-US" sz="1600" dirty="0">
                <a:latin typeface="Arial"/>
                <a:ea typeface="Microsoft YaHei"/>
              </a:rPr>
              <a:t>: one is twice the other</a:t>
            </a:r>
            <a:endParaRPr lang="zh-CN" sz="1600"/>
          </a:p>
          <a:p>
            <a:r>
              <a:rPr lang="zh-CN" altLang="en-US" sz="1600" dirty="0">
                <a:latin typeface="Arial"/>
                <a:ea typeface="Microsoft YaHei"/>
              </a:rPr>
              <a:t>Short solution:</a:t>
            </a:r>
            <a:endParaRPr lang="zh-CN" sz="1600"/>
          </a:p>
          <a:p>
            <a:r>
              <a:rPr lang="zh-CN" altLang="en-US" sz="1600" dirty="0">
                <a:latin typeface="Arial"/>
                <a:ea typeface="Microsoft YaHei"/>
              </a:rPr>
              <a:t>(c) 或者：</a:t>
            </a:r>
            <mc:AlternateContent xmlns:mc="http://schemas.openxmlformats.org/markup-compatibility/2006">
              <mc:Choice xmlns:a14="http://schemas.microsoft.com/office/drawing/2010/main" Requires="a14">
                <a14:m>
                  <m:oMath xmlns:m="http://schemas.openxmlformats.org/officeDocument/2006/math">
                    <m:r>
                      <a:rPr lang="en-US" sz="1600" i="1">
                        <a:latin typeface="Cambria Math" panose="02040503050406030204" pitchFamily="18" charset="0"/>
                      </a:rPr>
                      <m:t>Δ</m:t>
                    </m:r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1600" i="0">
                        <a:latin typeface="Cambria Math" panose="02040503050406030204" pitchFamily="18" charset="0"/>
                      </a:rPr>
                      <m:t>9</m:t>
                    </m:r>
                    <m:sSup>
                      <m:e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k</m:t>
                        </m:r>
                      </m:e>
                      <m:sup>
                        <m:r>
                          <a:rPr lang="en-US" sz="1600" i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sz="1600" i="0">
                        <a:latin typeface="Cambria Math" panose="02040503050406030204" pitchFamily="18" charset="0"/>
                      </a:rPr>
                      <m:t>8</m:t>
                    </m:r>
                    <m:sSup>
                      <m:e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k</m:t>
                        </m:r>
                      </m:e>
                      <m:sup>
                        <m:r>
                          <a:rPr lang="en-US" sz="1600" i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k</m:t>
                        </m:r>
                      </m:e>
                      <m:sup>
                        <m:r>
                          <a:rPr lang="en-US" sz="1600" i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</mc:Choice>
              <mc:Fallback>
                <a:r>
                  <a:rPr lang="zh-CN" altLang="en-US" sz="1600" dirty="0">
                    <a:latin typeface="Arial"/>
                    <a:ea typeface="Microsoft YaHei"/>
                  </a:rPr>
                  <a:t> = 9k^2 - 8k^2 = k^2</a:t>
                </a:r>
              </mc:Fallback>
            </mc:AlternateContent>
            <a:r>
              <a:rPr lang="zh-CN" altLang="en-US" sz="1600" dirty="0">
                <a:latin typeface="Arial"/>
                <a:ea typeface="Microsoft YaHei"/>
              </a:rPr>
              <a:t>，</a:t>
            </a:r>
            <mc:AlternateContent xmlns:mc="http://schemas.openxmlformats.org/markup-compatibility/2006">
              <mc:Choice xmlns:a14="http://schemas.microsoft.com/office/drawing/2010/main" Requires="a14">
                <a14:m>
                  <m:oMath xmlns:m="http://schemas.openxmlformats.org/officeDocument/2006/math">
                    <m:r>
                      <a:rPr lang="en-US" sz="1600" i="1">
                        <a:latin typeface="Cambria Math" panose="02040503050406030204" pitchFamily="18" charset="0"/>
                      </a:rPr>
                      <m:t>x</m:t>
                    </m:r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</m:fPr>
                      <m:num>
                        <m:r>
                          <a:rPr lang="en-US" sz="1600" i="0"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k</m:t>
                        </m:r>
                        <m:r>
                          <m:rPr>
                            <m:sty m:val="p"/>
                          </m:rPr>
                          <a:rPr lang="en-US" sz="1600" i="0">
                            <a:latin typeface="Cambria Math" panose="02040503050406030204" pitchFamily="18" charset="0"/>
                          </a:rPr>
                          <m:t>±</m:t>
                        </m:r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k</m:t>
                        </m:r>
                      </m:num>
                      <m:den>
                        <m:r>
                          <a:rPr lang="en-US" sz="1600" i="0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</mc:Choice>
              <mc:Fallback>
                <a:r>
                  <a:rPr lang="zh-CN" altLang="en-US" sz="1600" dirty="0">
                    <a:latin typeface="Arial"/>
                    <a:ea typeface="Microsoft YaHei"/>
                  </a:rPr>
                  <a:t>x = (3k ± k)/(2)</a:t>
                </a:r>
              </mc:Fallback>
            </mc:AlternateContent>
            <a:endParaRPr lang="zh-CN" sz="1600"/>
          </a:p>
          <a:p>
            <a:r>
              <a:rPr lang="zh-CN" altLang="en-US" sz="1600" dirty="0">
                <a:latin typeface="Arial"/>
                <a:ea typeface="Microsoft YaHei"/>
              </a:rPr>
              <a:t>评分：分解出方程或算出判别式是 u；有效过程加结论是 r</a:t>
            </a:r>
            <a:endParaRPr lang="zh-CN" sz="1600"/>
          </a:p>
          <a:p>
            <a:r>
              <a:rPr lang="zh-CN" altLang="en-US" sz="1600" dirty="0">
                <a:latin typeface="Arial"/>
                <a:ea typeface="Microsoft YaHei"/>
              </a:rPr>
              <a:t>Watch for:</a:t>
            </a:r>
            <a:endParaRPr lang="zh-CN" sz="1600"/>
          </a:p>
          <a:p>
            <a:r>
              <a:rPr lang="zh-CN" altLang="en-US" sz="1600" dirty="0">
                <a:latin typeface="Arial"/>
                <a:ea typeface="Microsoft YaHei"/>
              </a:rPr>
              <a:t>最后一句结论不能省</a:t>
            </a:r>
            <a:endParaRPr lang="zh-CN" sz="160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>
            <a:noAutofit/>
          </a:bodyPr>
          <a:lstStyle/>
          <a:p>
            <a:r>
              <a:rPr lang="zh-CN" altLang="en-US" sz="1600" dirty="0">
                <a:latin typeface="Arial"/>
                <a:ea typeface="Microsoft YaHei"/>
              </a:rPr>
              <a:t>(a) </a:t>
            </a:r>
            <mc:AlternateContent xmlns:mc="http://schemas.openxmlformats.org/markup-compatibility/2006">
              <mc:Choice xmlns:a14="http://schemas.microsoft.com/office/drawing/2010/main" Requires="a14">
                <a14:m>
                  <m:oMath xmlns:m="http://schemas.openxmlformats.org/officeDocument/2006/math">
                    <m:r>
                      <a:rPr lang="en-US" sz="1600" i="1">
                        <a:latin typeface="Cambria Math" panose="02040503050406030204" pitchFamily="18" charset="0"/>
                      </a:rPr>
                      <m:t>a</m:t>
                    </m:r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1600" i="0">
                        <a:latin typeface="Cambria Math" panose="02040503050406030204" pitchFamily="18" charset="0"/>
                      </a:rPr>
                      <m:t>21</m:t>
                    </m:r>
                  </m:oMath>
                </a14:m>
              </mc:Choice>
              <mc:Fallback>
                <a:r>
                  <a:rPr lang="zh-CN" altLang="en-US" sz="1600" dirty="0">
                    <a:latin typeface="Arial"/>
                    <a:ea typeface="Microsoft YaHei"/>
                  </a:rPr>
                  <a:t>a = 21</a:t>
                </a:r>
              </mc:Fallback>
            </mc:AlternateContent>
            <a:r>
              <a:rPr lang="zh-CN" altLang="en-US" sz="1600" dirty="0">
                <a:latin typeface="Arial"/>
                <a:ea typeface="Microsoft YaHei"/>
              </a:rPr>
              <a:t>, </a:t>
            </a:r>
            <mc:AlternateContent xmlns:mc="http://schemas.openxmlformats.org/markup-compatibility/2006">
              <mc:Choice xmlns:a14="http://schemas.microsoft.com/office/drawing/2010/main" Requires="a14">
                <a14:m>
                  <m:oMath xmlns:m="http://schemas.openxmlformats.org/officeDocument/2006/math">
                    <m:r>
                      <a:rPr lang="en-US" sz="1600" i="1">
                        <a:latin typeface="Cambria Math" panose="02040503050406030204" pitchFamily="18" charset="0"/>
                      </a:rPr>
                      <m:t>b</m:t>
                    </m:r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sz="1600" i="0"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</mc:Choice>
              <mc:Fallback>
                <a:r>
                  <a:rPr lang="zh-CN" altLang="en-US" sz="1600" dirty="0">
                    <a:latin typeface="Arial"/>
                    <a:ea typeface="Microsoft YaHei"/>
                  </a:rPr>
                  <a:t>b = -1</a:t>
                </a:r>
              </mc:Fallback>
            </mc:AlternateContent>
            <a:r>
              <a:rPr lang="zh-CN" altLang="en-US" sz="1600" dirty="0">
                <a:latin typeface="Arial"/>
                <a:ea typeface="Microsoft YaHei"/>
              </a:rPr>
              <a:t>, </a:t>
            </a:r>
            <mc:AlternateContent xmlns:mc="http://schemas.openxmlformats.org/markup-compatibility/2006">
              <mc:Choice xmlns:a14="http://schemas.microsoft.com/office/drawing/2010/main" Requires="a14">
                <a14:m>
                  <m:oMath xmlns:m="http://schemas.openxmlformats.org/officeDocument/2006/math">
                    <m:r>
                      <a:rPr lang="en-US" sz="1600" i="1">
                        <a:latin typeface="Cambria Math" panose="02040503050406030204" pitchFamily="18" charset="0"/>
                      </a:rPr>
                      <m:t>c</m:t>
                    </m:r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sz="1600" i="0"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</mc:Choice>
              <mc:Fallback>
                <a:r>
                  <a:rPr lang="zh-CN" altLang="en-US" sz="1600" dirty="0">
                    <a:latin typeface="Arial"/>
                    <a:ea typeface="Microsoft YaHei"/>
                  </a:rPr>
                  <a:t>c = -2</a:t>
                </a:r>
              </mc:Fallback>
            </mc:AlternateContent>
            <a:endParaRPr lang="zh-CN" sz="1600"/>
          </a:p>
          <a:p>
            <a:r>
              <a:rPr lang="zh-CN" altLang="en-US" sz="1600" dirty="0">
                <a:latin typeface="Arial"/>
                <a:ea typeface="Microsoft YaHei"/>
              </a:rPr>
              <a:t>Short solution:</a:t>
            </a:r>
            <a:endParaRPr lang="zh-CN" sz="1600"/>
          </a:p>
          <a:p>
            <a:r>
              <a:rPr lang="zh-CN" altLang="en-US" sz="1600" dirty="0">
                <a:latin typeface="Arial"/>
                <a:ea typeface="Microsoft YaHei"/>
              </a:rPr>
              <a:t>(a) </a:t>
            </a:r>
            <mc:AlternateContent xmlns:mc="http://schemas.openxmlformats.org/markup-compatibility/2006">
              <mc:Choice xmlns:a14="http://schemas.microsoft.com/office/drawing/2010/main" Requires="a14">
                <a14:m>
                  <m:oMath xmlns:m="http://schemas.openxmlformats.org/officeDocument/2006/math">
                    <m:d>
                      <m:dPr>
                        <m:begChr m:val="("/>
                        <m:endChr m:val=")"/>
                        <m:sepChr m:val=""/>
                        <m:grow/>
                      </m:dPr>
                      <m:e>
                        <m:r>
                          <a:rPr lang="en-US" sz="1600" i="0"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x</m:t>
                        </m:r>
                        <m:r>
                          <m:rPr>
                            <m:sty m:val="p"/>
                          </m:rPr>
                          <a:rPr lang="en-US" sz="1600" i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sz="1600" i="0"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  <m:d>
                      <m:dPr>
                        <m:begChr m:val="("/>
                        <m:endChr m:val=")"/>
                        <m:sepChr m:val=""/>
                        <m:grow/>
                      </m:dPr>
                      <m:e>
                        <m:r>
                          <a:rPr lang="en-US" sz="1600" i="0">
                            <a:latin typeface="Cambria Math" panose="02040503050406030204" pitchFamily="18" charset="0"/>
                          </a:rPr>
                          <m:t>7</m:t>
                        </m:r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x</m:t>
                        </m:r>
                        <m:r>
                          <m:rPr>
                            <m:sty m:val="p"/>
                          </m:rPr>
                          <a:rPr lang="en-US" sz="1600" i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sz="1600" i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d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1600" i="0">
                        <a:latin typeface="Cambria Math" panose="02040503050406030204" pitchFamily="18" charset="0"/>
                      </a:rPr>
                      <m:t>21</m:t>
                    </m:r>
                    <m:sSup>
                      <m:e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x</m:t>
                        </m:r>
                      </m:e>
                      <m:sup>
                        <m:r>
                          <a:rPr lang="en-US" sz="1600" i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sz="1600" i="1">
                        <a:latin typeface="Cambria Math" panose="02040503050406030204" pitchFamily="18" charset="0"/>
                      </a:rPr>
                      <m:t>x</m:t>
                    </m:r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sz="1600" i="0"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</mc:Choice>
              <mc:Fallback>
                <a:r>
                  <a:rPr lang="zh-CN" altLang="en-US" sz="1600" dirty="0">
                    <a:latin typeface="Arial"/>
                    <a:ea typeface="Microsoft YaHei"/>
                  </a:rPr>
                  <a:t>(3x - 1)(7x + 2) = 21x^2 - x - 2</a:t>
                </a:r>
              </mc:Fallback>
            </mc:AlternateContent>
            <a:r>
              <a:rPr lang="zh-CN" altLang="en-US" sz="1600" dirty="0">
                <a:latin typeface="Arial"/>
                <a:ea typeface="Microsoft YaHei"/>
              </a:rPr>
              <a:t>；评分：correct values of </a:t>
            </a:r>
            <mc:AlternateContent xmlns:mc="http://schemas.openxmlformats.org/markup-compatibility/2006">
              <mc:Choice xmlns:a14="http://schemas.microsoft.com/office/drawing/2010/main" Requires="a14">
                <a14:m>
                  <m:oMath xmlns:m="http://schemas.openxmlformats.org/officeDocument/2006/math">
                    <m:r>
                      <a:rPr lang="en-US" sz="1600" i="1">
                        <a:latin typeface="Cambria Math" panose="02040503050406030204" pitchFamily="18" charset="0"/>
                      </a:rPr>
                      <m:t>a</m:t>
                    </m:r>
                  </m:oMath>
                </a14:m>
              </mc:Choice>
              <mc:Fallback>
                <a:r>
                  <a:rPr lang="zh-CN" altLang="en-US" sz="1600" dirty="0">
                    <a:latin typeface="Arial"/>
                    <a:ea typeface="Microsoft YaHei"/>
                  </a:rPr>
                  <a:t>a</a:t>
                </a:r>
              </mc:Fallback>
            </mc:AlternateContent>
            <a:r>
              <a:rPr lang="zh-CN" altLang="en-US" sz="1600" dirty="0">
                <a:latin typeface="Arial"/>
                <a:ea typeface="Microsoft YaHei"/>
              </a:rPr>
              <a:t>, </a:t>
            </a:r>
            <mc:AlternateContent xmlns:mc="http://schemas.openxmlformats.org/markup-compatibility/2006">
              <mc:Choice xmlns:a14="http://schemas.microsoft.com/office/drawing/2010/main" Requires="a14">
                <a14:m>
                  <m:oMath xmlns:m="http://schemas.openxmlformats.org/officeDocument/2006/math">
                    <m:r>
                      <a:rPr lang="en-US" sz="1600" i="1">
                        <a:latin typeface="Cambria Math" panose="02040503050406030204" pitchFamily="18" charset="0"/>
                      </a:rPr>
                      <m:t>b</m:t>
                    </m:r>
                  </m:oMath>
                </a14:m>
              </mc:Choice>
              <mc:Fallback>
                <a:r>
                  <a:rPr lang="zh-CN" altLang="en-US" sz="1600" dirty="0">
                    <a:latin typeface="Arial"/>
                    <a:ea typeface="Microsoft YaHei"/>
                  </a:rPr>
                  <a:t>b</a:t>
                </a:r>
              </mc:Fallback>
            </mc:AlternateContent>
            <a:r>
              <a:rPr lang="zh-CN" altLang="en-US" sz="1600" dirty="0">
                <a:latin typeface="Arial"/>
                <a:ea typeface="Microsoft YaHei"/>
              </a:rPr>
              <a:t>, </a:t>
            </a:r>
            <mc:AlternateContent xmlns:mc="http://schemas.openxmlformats.org/markup-compatibility/2006">
              <mc:Choice xmlns:a14="http://schemas.microsoft.com/office/drawing/2010/main" Requires="a14">
                <a14:m>
                  <m:oMath xmlns:m="http://schemas.openxmlformats.org/officeDocument/2006/math">
                    <m:r>
                      <a:rPr lang="en-US" sz="1600" i="1">
                        <a:latin typeface="Cambria Math" panose="02040503050406030204" pitchFamily="18" charset="0"/>
                      </a:rPr>
                      <m:t>c</m:t>
                    </m:r>
                  </m:oMath>
                </a14:m>
              </mc:Choice>
              <mc:Fallback>
                <a:r>
                  <a:rPr lang="zh-CN" altLang="en-US" sz="1600" dirty="0">
                    <a:latin typeface="Arial"/>
                    <a:ea typeface="Microsoft YaHei"/>
                  </a:rPr>
                  <a:t>c</a:t>
                </a:r>
              </mc:Fallback>
            </mc:AlternateContent>
            <a:r>
              <a:rPr lang="zh-CN" altLang="en-US" sz="1600" dirty="0">
                <a:latin typeface="Arial"/>
                <a:ea typeface="Microsoft YaHei"/>
              </a:rPr>
              <a:t> (u)</a:t>
            </a:r>
            <a:endParaRPr lang="zh-CN" sz="1600"/>
          </a:p>
          <a:p>
            <a:r>
              <a:rPr lang="zh-CN" altLang="en-US" sz="1600" dirty="0">
                <a:latin typeface="Arial"/>
                <a:ea typeface="Microsoft YaHei"/>
              </a:rPr>
              <a:t>Watch for:</a:t>
            </a:r>
            <a:endParaRPr lang="zh-CN" sz="1600"/>
          </a:p>
          <a:p>
            <mc:AlternateContent xmlns:mc="http://schemas.openxmlformats.org/markup-compatibility/2006">
              <mc:Choice xmlns:a14="http://schemas.microsoft.com/office/drawing/2010/main" Requires="a14">
                <a14:m>
                  <m:oMath xmlns:m="http://schemas.openxmlformats.org/officeDocument/2006/math">
                    <m:r>
                      <a:rPr lang="en-US" sz="1600" i="1">
                        <a:latin typeface="Cambria Math" panose="02040503050406030204" pitchFamily="18" charset="0"/>
                      </a:rPr>
                      <m:t>a</m:t>
                    </m:r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sz="1600" i="0">
                        <a:latin typeface="Cambria Math" panose="02040503050406030204" pitchFamily="18" charset="0"/>
                      </a:rPr>
                      <m:t>21</m:t>
                    </m:r>
                  </m:oMath>
                </a14:m>
              </mc:Choice>
              <mc:Fallback>
                <a:r>
                  <a:rPr lang="zh-CN" altLang="en-US" sz="1600" dirty="0">
                    <a:latin typeface="Arial"/>
                    <a:ea typeface="Microsoft YaHei"/>
                  </a:rPr>
                  <a:t>a = -21</a:t>
                </a:r>
              </mc:Fallback>
            </mc:AlternateContent>
            <a:r>
              <a:rPr lang="zh-CN" altLang="en-US" sz="1600" dirty="0">
                <a:latin typeface="Arial"/>
                <a:ea typeface="Microsoft YaHei"/>
              </a:rPr>
              <a:t>, </a:t>
            </a:r>
            <mc:AlternateContent xmlns:mc="http://schemas.openxmlformats.org/markup-compatibility/2006">
              <mc:Choice xmlns:a14="http://schemas.microsoft.com/office/drawing/2010/main" Requires="a14">
                <a14:m>
                  <m:oMath xmlns:m="http://schemas.openxmlformats.org/officeDocument/2006/math">
                    <m:r>
                      <a:rPr lang="en-US" sz="1600" i="1">
                        <a:latin typeface="Cambria Math" panose="02040503050406030204" pitchFamily="18" charset="0"/>
                      </a:rPr>
                      <m:t>b</m:t>
                    </m:r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1600" i="0"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</mc:Choice>
              <mc:Fallback>
                <a:r>
                  <a:rPr lang="zh-CN" altLang="en-US" sz="1600" dirty="0">
                    <a:latin typeface="Arial"/>
                    <a:ea typeface="Microsoft YaHei"/>
                  </a:rPr>
                  <a:t>b = 1</a:t>
                </a:r>
              </mc:Fallback>
            </mc:AlternateContent>
            <a:r>
              <a:rPr lang="zh-CN" altLang="en-US" sz="1600" dirty="0">
                <a:latin typeface="Arial"/>
                <a:ea typeface="Microsoft YaHei"/>
              </a:rPr>
              <a:t>, </a:t>
            </a:r>
            <mc:AlternateContent xmlns:mc="http://schemas.openxmlformats.org/markup-compatibility/2006">
              <mc:Choice xmlns:a14="http://schemas.microsoft.com/office/drawing/2010/main" Requires="a14">
                <a14:m>
                  <m:oMath xmlns:m="http://schemas.openxmlformats.org/officeDocument/2006/math">
                    <m:r>
                      <a:rPr lang="en-US" sz="1600" i="1">
                        <a:latin typeface="Cambria Math" panose="02040503050406030204" pitchFamily="18" charset="0"/>
                      </a:rPr>
                      <m:t>c</m:t>
                    </m:r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1600" i="0"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</mc:Choice>
              <mc:Fallback>
                <a:r>
                  <a:rPr lang="zh-CN" altLang="en-US" sz="1600" dirty="0">
                    <a:latin typeface="Arial"/>
                    <a:ea typeface="Microsoft YaHei"/>
                  </a:rPr>
                  <a:t>c = 2</a:t>
                </a:r>
              </mc:Fallback>
            </mc:AlternateContent>
            <a:r>
              <a:rPr lang="zh-CN" altLang="en-US" sz="1600" dirty="0">
                <a:latin typeface="Arial"/>
                <a:ea typeface="Microsoft YaHei"/>
              </a:rPr>
              <a:t> 也对（两边乘 </a:t>
            </a:r>
            <mc:AlternateContent xmlns:mc="http://schemas.openxmlformats.org/markup-compatibility/2006">
              <mc:Choice xmlns:a14="http://schemas.microsoft.com/office/drawing/2010/main"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sz="1600" i="0"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</mc:Choice>
              <mc:Fallback>
                <a:r>
                  <a:rPr lang="zh-CN" altLang="en-US" sz="1600" dirty="0">
                    <a:latin typeface="Arial"/>
                    <a:ea typeface="Microsoft YaHei"/>
                  </a:rPr>
                  <a:t>-1</a:t>
                </a:r>
              </mc:Fallback>
            </mc:AlternateContent>
            <a:r>
              <a:rPr lang="zh-CN" altLang="en-US" sz="1600" dirty="0">
                <a:latin typeface="Arial"/>
                <a:ea typeface="Microsoft YaHei"/>
              </a:rPr>
              <a:t>）</a:t>
            </a:r>
            <a:endParaRPr lang="zh-CN" sz="1600"/>
          </a:p>
          <a:p>
            <mc:AlternateContent xmlns:mc="http://schemas.openxmlformats.org/markup-compatibility/2006">
              <mc:Choice xmlns:a14="http://schemas.microsoft.com/office/drawing/2010/main" Requires="a14">
                <a14:m>
                  <m:oMath xmlns:m="http://schemas.openxmlformats.org/officeDocument/2006/math">
                    <m:f>
                      <m:fPr>
                        <m:type m:val="bar"/>
                      </m:fPr>
                      <m:num>
                        <m:r>
                          <m:rPr>
                            <m:sty m:val="p"/>
                          </m:rPr>
                          <a:rPr lang="en-US" sz="1600" i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sz="1600" i="0"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US" sz="1600" i="0">
                            <a:latin typeface="Cambria Math" panose="02040503050406030204" pitchFamily="18" charset="0"/>
                          </a:rPr>
                          <m:t>7</m:t>
                        </m:r>
                      </m:den>
                    </m:f>
                  </m:oMath>
                </a14:m>
              </mc:Choice>
              <mc:Fallback>
                <a:r>
                  <a:rPr lang="zh-CN" altLang="en-US" sz="1600" dirty="0">
                    <a:latin typeface="Arial"/>
                    <a:ea typeface="Microsoft YaHei"/>
                  </a:rPr>
                  <a:t>(-2)/(7)</a:t>
                </a:r>
              </mc:Fallback>
            </mc:AlternateContent>
            <a:r>
              <a:rPr lang="zh-CN" altLang="en-US" sz="1600" dirty="0">
                <a:latin typeface="Arial"/>
                <a:ea typeface="Microsoft YaHei"/>
              </a:rPr>
              <a:t> 给 </a:t>
            </a:r>
            <mc:AlternateContent xmlns:mc="http://schemas.openxmlformats.org/markup-compatibility/2006">
              <mc:Choice xmlns:a14="http://schemas.microsoft.com/office/drawing/2010/main" Requires="a14">
                <a14:m>
                  <m:oMath xmlns:m="http://schemas.openxmlformats.org/officeDocument/2006/math">
                    <m:d>
                      <m:dPr>
                        <m:begChr m:val="("/>
                        <m:endChr m:val=")"/>
                        <m:sepChr m:val=""/>
                        <m:grow/>
                      </m:dPr>
                      <m:e>
                        <m:r>
                          <a:rPr lang="en-US" sz="1600" i="0">
                            <a:latin typeface="Cambria Math" panose="02040503050406030204" pitchFamily="18" charset="0"/>
                          </a:rPr>
                          <m:t>7</m:t>
                        </m:r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x</m:t>
                        </m:r>
                        <m:r>
                          <m:rPr>
                            <m:sty m:val="p"/>
                          </m:rPr>
                          <a:rPr lang="en-US" sz="1600" i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sz="1600" i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d>
                  </m:oMath>
                </a14:m>
              </mc:Choice>
              <mc:Fallback>
                <a:r>
                  <a:rPr lang="zh-CN" altLang="en-US" sz="1600" dirty="0">
                    <a:latin typeface="Arial"/>
                    <a:ea typeface="Microsoft YaHei"/>
                  </a:rPr>
                  <a:t>(7x + 2)</a:t>
                </a:r>
              </mc:Fallback>
            </mc:AlternateContent>
            <a:r>
              <a:rPr lang="zh-CN" altLang="en-US" sz="1600" dirty="0">
                <a:latin typeface="Arial"/>
                <a:ea typeface="Microsoft YaHei"/>
              </a:rPr>
              <a:t>（L17）</a:t>
            </a:r>
            <a:endParaRPr lang="zh-CN" sz="160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>
            <a:noAutofit/>
          </a:bodyPr>
          <a:lstStyle/>
          <a:p>
            <a:r>
              <a:rPr lang="zh-CN" altLang="en-US" sz="1600" dirty="0">
                <a:latin typeface="Arial"/>
                <a:ea typeface="Microsoft YaHei"/>
              </a:rPr>
              <a:t>(i) 88</a:t>
            </a:r>
            <a:endParaRPr lang="zh-CN" sz="1600"/>
          </a:p>
          <a:p>
            <a:r>
              <a:rPr lang="zh-CN" altLang="en-US" sz="1600" dirty="0">
                <a:latin typeface="Arial"/>
                <a:ea typeface="Microsoft YaHei"/>
              </a:rPr>
              <a:t>(ii) </a:t>
            </a:r>
            <mc:AlternateContent xmlns:mc="http://schemas.openxmlformats.org/markup-compatibility/2006">
              <mc:Choice xmlns:a14="http://schemas.microsoft.com/office/drawing/2010/main" Requires="a14">
                <a14:m>
                  <m:oMath xmlns:m="http://schemas.openxmlformats.org/officeDocument/2006/math">
                    <m:r>
                      <a:rPr lang="en-US" sz="1600" i="1">
                        <a:latin typeface="Cambria Math" panose="02040503050406030204" pitchFamily="18" charset="0"/>
                      </a:rPr>
                      <m:t>k</m:t>
                    </m:r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1600" i="0">
                        <a:latin typeface="Cambria Math" panose="02040503050406030204" pitchFamily="18" charset="0"/>
                      </a:rPr>
                      <m:t>18</m:t>
                    </m:r>
                  </m:oMath>
                </a14:m>
              </mc:Choice>
              <mc:Fallback>
                <a:r>
                  <a:rPr lang="zh-CN" altLang="en-US" sz="1600" dirty="0">
                    <a:latin typeface="Arial"/>
                    <a:ea typeface="Microsoft YaHei"/>
                  </a:rPr>
                  <a:t>k = 18</a:t>
                </a:r>
              </mc:Fallback>
            </mc:AlternateContent>
            <a:endParaRPr lang="zh-CN" sz="1600"/>
          </a:p>
          <a:p>
            <a:r>
              <a:rPr lang="zh-CN" altLang="en-US" sz="1600" dirty="0">
                <a:latin typeface="Arial"/>
                <a:ea typeface="Microsoft YaHei"/>
              </a:rPr>
              <a:t>Short solution:</a:t>
            </a:r>
            <a:endParaRPr lang="zh-CN" sz="1600"/>
          </a:p>
          <a:p>
            <a:r>
              <a:rPr lang="zh-CN" altLang="en-US" sz="1600" dirty="0">
                <a:latin typeface="Arial"/>
                <a:ea typeface="Microsoft YaHei"/>
              </a:rPr>
              <a:t>(i) </a:t>
            </a:r>
            <mc:AlternateContent xmlns:mc="http://schemas.openxmlformats.org/markup-compatibility/2006">
              <mc:Choice xmlns:a14="http://schemas.microsoft.com/office/drawing/2010/main" Requires="a14">
                <a14:m>
                  <m:oMath xmlns:m="http://schemas.openxmlformats.org/officeDocument/2006/math">
                    <m:sSup>
                      <m:e>
                        <m:d>
                          <m:dPr>
                            <m:begChr m:val="("/>
                            <m:endChr m:val=")"/>
                            <m:sepChr m:val=""/>
                            <m:grow/>
                          </m:dPr>
                          <m:e>
                            <m:r>
                              <m:rPr>
                                <m:sty m:val="p"/>
                              </m:rPr>
                              <a:rPr lang="en-US" sz="1600" i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sz="1600" i="0">
                                <a:latin typeface="Cambria Math" panose="02040503050406030204" pitchFamily="18" charset="0"/>
                              </a:rPr>
                              <m:t>12</m:t>
                            </m:r>
                          </m:e>
                        </m:d>
                      </m:e>
                      <m:sup>
                        <m:r>
                          <a:rPr lang="en-US" sz="1600" i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sz="1600" i="0">
                        <a:latin typeface="Cambria Math" panose="02040503050406030204" pitchFamily="18" charset="0"/>
                      </a:rPr>
                      <m:t>4</m:t>
                    </m:r>
                    <m:d>
                      <m:dPr>
                        <m:begChr m:val="("/>
                        <m:endChr m:val=")"/>
                        <m:sepChr m:val=""/>
                        <m:grow/>
                      </m:dPr>
                      <m:e>
                        <m:r>
                          <a:rPr lang="en-US" sz="1600" i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d>
                    <m:d>
                      <m:dPr>
                        <m:begChr m:val="("/>
                        <m:endChr m:val=")"/>
                        <m:sepChr m:val=""/>
                        <m:grow/>
                      </m:dPr>
                      <m:e>
                        <m:r>
                          <a:rPr lang="en-US" sz="1600" i="0">
                            <a:latin typeface="Cambria Math" panose="02040503050406030204" pitchFamily="18" charset="0"/>
                          </a:rPr>
                          <m:t>7</m:t>
                        </m:r>
                      </m:e>
                    </m:d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1600" i="0">
                        <a:latin typeface="Cambria Math" panose="02040503050406030204" pitchFamily="18" charset="0"/>
                      </a:rPr>
                      <m:t>144</m:t>
                    </m:r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sz="1600" i="0">
                        <a:latin typeface="Cambria Math" panose="02040503050406030204" pitchFamily="18" charset="0"/>
                      </a:rPr>
                      <m:t>56</m:t>
                    </m:r>
                  </m:oMath>
                </a14:m>
              </mc:Choice>
              <mc:Fallback>
                <a:r>
                  <a:rPr lang="zh-CN" altLang="en-US" sz="1600" dirty="0">
                    <a:latin typeface="Arial"/>
                    <a:ea typeface="Microsoft YaHei"/>
                  </a:rPr>
                  <a:t>(-12)^2 - 4(2)(7) = 144 - 56</a:t>
                </a:r>
              </mc:Fallback>
            </mc:AlternateContent>
            <a:r>
              <a:rPr lang="zh-CN" altLang="en-US" sz="1600" dirty="0">
                <a:latin typeface="Arial"/>
                <a:ea typeface="Microsoft YaHei"/>
              </a:rPr>
              <a:t> (u)</a:t>
            </a:r>
            <a:endParaRPr lang="zh-CN" sz="1600"/>
          </a:p>
          <a:p>
            <a:r>
              <a:rPr lang="zh-CN" altLang="en-US" sz="1600" dirty="0">
                <a:latin typeface="Arial"/>
                <a:ea typeface="Microsoft YaHei"/>
              </a:rPr>
              <a:t>(ii) </a:t>
            </a:r>
            <mc:AlternateContent xmlns:mc="http://schemas.openxmlformats.org/markup-compatibility/2006">
              <mc:Choice xmlns:a14="http://schemas.microsoft.com/office/drawing/2010/main" Requires="a14">
                <a14:m>
                  <m:oMath xmlns:m="http://schemas.openxmlformats.org/officeDocument/2006/math">
                    <m:sSup>
                      <m:e>
                        <m:d>
                          <m:dPr>
                            <m:begChr m:val="("/>
                            <m:endChr m:val=")"/>
                            <m:sepChr m:val=""/>
                            <m:grow/>
                          </m:dPr>
                          <m:e>
                            <m:r>
                              <m:rPr>
                                <m:sty m:val="p"/>
                              </m:rPr>
                              <a:rPr lang="en-US" sz="1600" i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sz="1600" i="0">
                                <a:latin typeface="Cambria Math" panose="02040503050406030204" pitchFamily="18" charset="0"/>
                              </a:rPr>
                              <m:t>12</m:t>
                            </m:r>
                          </m:e>
                        </m:d>
                      </m:e>
                      <m:sup>
                        <m:r>
                          <a:rPr lang="en-US" sz="1600" i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sz="1600" i="0">
                        <a:latin typeface="Cambria Math" panose="02040503050406030204" pitchFamily="18" charset="0"/>
                      </a:rPr>
                      <m:t>4</m:t>
                    </m:r>
                    <m:d>
                      <m:dPr>
                        <m:begChr m:val="("/>
                        <m:endChr m:val=")"/>
                        <m:sepChr m:val=""/>
                        <m:grow/>
                      </m:dPr>
                      <m:e>
                        <m:r>
                          <a:rPr lang="en-US" sz="1600" i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d>
                    <m:d>
                      <m:dPr>
                        <m:begChr m:val="("/>
                        <m:endChr m:val=")"/>
                        <m:sepChr m:val=""/>
                        <m:grow/>
                      </m:dPr>
                      <m:e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k</m:t>
                        </m:r>
                      </m:e>
                    </m:d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1600" i="0"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</mc:Choice>
              <mc:Fallback>
                <a:r>
                  <a:rPr lang="zh-CN" altLang="en-US" sz="1600" dirty="0">
                    <a:latin typeface="Arial"/>
                    <a:ea typeface="Microsoft YaHei"/>
                  </a:rPr>
                  <a:t>(-12)^2 - 4(2)(k) = 0</a:t>
                </a:r>
              </mc:Fallback>
            </mc:AlternateContent>
            <a:r>
              <a:rPr lang="zh-CN" altLang="en-US" sz="1600" dirty="0">
                <a:latin typeface="Arial"/>
                <a:ea typeface="Microsoft YaHei"/>
              </a:rPr>
              <a:t>，</a:t>
            </a:r>
            <mc:AlternateContent xmlns:mc="http://schemas.openxmlformats.org/markup-compatibility/2006">
              <mc:Choice xmlns:a14="http://schemas.microsoft.com/office/drawing/2010/main" Requires="a14">
                <a14:m>
                  <m:oMath xmlns:m="http://schemas.openxmlformats.org/officeDocument/2006/math">
                    <m:r>
                      <a:rPr lang="en-US" sz="1600" i="0">
                        <a:latin typeface="Cambria Math" panose="02040503050406030204" pitchFamily="18" charset="0"/>
                      </a:rPr>
                      <m:t>8</m:t>
                    </m:r>
                    <m:r>
                      <a:rPr lang="en-US" sz="1600" i="1">
                        <a:latin typeface="Cambria Math" panose="02040503050406030204" pitchFamily="18" charset="0"/>
                      </a:rPr>
                      <m:t>k</m:t>
                    </m:r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1600" i="0">
                        <a:latin typeface="Cambria Math" panose="02040503050406030204" pitchFamily="18" charset="0"/>
                      </a:rPr>
                      <m:t>144</m:t>
                    </m:r>
                  </m:oMath>
                </a14:m>
              </mc:Choice>
              <mc:Fallback>
                <a:r>
                  <a:rPr lang="zh-CN" altLang="en-US" sz="1600" dirty="0">
                    <a:latin typeface="Arial"/>
                    <a:ea typeface="Microsoft YaHei"/>
                  </a:rPr>
                  <a:t>8k = 144</a:t>
                </a:r>
              </mc:Fallback>
            </mc:AlternateContent>
            <a:r>
              <a:rPr lang="zh-CN" altLang="en-US" sz="1600" dirty="0">
                <a:latin typeface="Arial"/>
                <a:ea typeface="Microsoft YaHei"/>
              </a:rPr>
              <a:t>：代入是 u，正确的 </a:t>
            </a:r>
            <mc:AlternateContent xmlns:mc="http://schemas.openxmlformats.org/markup-compatibility/2006">
              <mc:Choice xmlns:a14="http://schemas.microsoft.com/office/drawing/2010/main" Requires="a14">
                <a14:m>
                  <m:oMath xmlns:m="http://schemas.openxmlformats.org/officeDocument/2006/math">
                    <m:r>
                      <a:rPr lang="en-US" sz="1600" i="1">
                        <a:latin typeface="Cambria Math" panose="02040503050406030204" pitchFamily="18" charset="0"/>
                      </a:rPr>
                      <m:t>k</m:t>
                    </m:r>
                  </m:oMath>
                </a14:m>
              </mc:Choice>
              <mc:Fallback>
                <a:r>
                  <a:rPr lang="zh-CN" altLang="en-US" sz="1600" dirty="0">
                    <a:latin typeface="Arial"/>
                    <a:ea typeface="Microsoft YaHei"/>
                  </a:rPr>
                  <a:t>k</a:t>
                </a:r>
              </mc:Fallback>
            </mc:AlternateContent>
            <a:r>
              <a:rPr lang="zh-CN" altLang="en-US" sz="1600" dirty="0">
                <a:latin typeface="Arial"/>
                <a:ea typeface="Microsoft YaHei"/>
              </a:rPr>
              <a:t> 是 r</a:t>
            </a:r>
            <a:endParaRPr lang="zh-CN" sz="1600"/>
          </a:p>
          <a:p>
            <a:r>
              <a:rPr lang="zh-CN" altLang="en-US" sz="1600" dirty="0">
                <a:latin typeface="Arial"/>
                <a:ea typeface="Microsoft YaHei"/>
              </a:rPr>
              <a:t>Watch for:</a:t>
            </a:r>
            <a:endParaRPr lang="zh-CN" sz="1600"/>
          </a:p>
          <a:p>
            <a:r>
              <a:rPr lang="zh-CN" altLang="en-US" sz="1600" dirty="0">
                <a:latin typeface="Arial"/>
                <a:ea typeface="Microsoft YaHei"/>
              </a:rPr>
              <a:t>exactly one solution 是 </a:t>
            </a:r>
            <mc:AlternateContent xmlns:mc="http://schemas.openxmlformats.org/markup-compatibility/2006">
              <mc:Choice xmlns:a14="http://schemas.microsoft.com/office/drawing/2010/main"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1600" i="0"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</mc:Choice>
              <mc:Fallback>
                <a:r>
                  <a:rPr lang="zh-CN" altLang="en-US" sz="1600" dirty="0">
                    <a:latin typeface="Arial"/>
                    <a:ea typeface="Microsoft YaHei"/>
                  </a:rPr>
                  <a:t>= 0</a:t>
                </a:r>
              </mc:Fallback>
            </mc:AlternateContent>
            <a:r>
              <a:rPr lang="zh-CN" altLang="en-US" sz="1600" dirty="0">
                <a:latin typeface="Arial"/>
                <a:ea typeface="Microsoft YaHei"/>
              </a:rPr>
              <a:t>（L20）</a:t>
            </a:r>
            <a:endParaRPr lang="zh-CN" sz="160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>
            <a:noAutofit/>
          </a:bodyPr>
          <a:lstStyle/>
          <a:p>
            <a:r>
              <a:rPr lang="zh-CN" altLang="en-US" sz="1600" dirty="0">
                <a:latin typeface="Arial"/>
                <a:ea typeface="Microsoft YaHei"/>
              </a:rPr>
              <a:t>Teaching line, not a question slide.</a:t>
            </a:r>
            <a:endParaRPr lang="zh-CN" sz="1600"/>
          </a:p>
          <a:p>
            <a:r>
              <a:rPr lang="zh-CN" altLang="en-US" sz="1600" dirty="0">
                <a:latin typeface="Arial"/>
                <a:ea typeface="Microsoft YaHei"/>
              </a:rPr>
              <a:t>讲义上有 L17–L21 的完整说明</a:t>
            </a:r>
            <a:endParaRPr lang="zh-CN" sz="1600"/>
          </a:p>
          <a:p>
            <a:r>
              <a:rPr lang="zh-CN" altLang="en-US" sz="1600" dirty="0">
                <a:latin typeface="Arial"/>
                <a:ea typeface="Microsoft YaHei"/>
              </a:rPr>
              <a:t>让学生对照 Classwork 和 Practice set 的错，说出是哪一个 L</a:t>
            </a:r>
            <a:endParaRPr lang="zh-CN" sz="160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>
            <a:noAutofit/>
          </a:bodyPr>
          <a:lstStyle/>
          <a:p>
            <a:r>
              <a:rPr lang="zh-CN" altLang="en-US" sz="1600" dirty="0">
                <a:latin typeface="Arial"/>
                <a:ea typeface="Microsoft YaHei"/>
              </a:rPr>
              <a:t>Teaching line, not a question slide.</a:t>
            </a:r>
            <a:endParaRPr lang="zh-CN" sz="1600"/>
          </a:p>
          <a:p>
            <a:r>
              <a:rPr lang="zh-CN" altLang="en-US" sz="1600" dirty="0">
                <a:latin typeface="Arial"/>
                <a:ea typeface="Microsoft YaHei"/>
              </a:rPr>
              <a:t>让学生说出三种判别式情况对应的图</a:t>
            </a:r>
            <a:endParaRPr lang="zh-CN" sz="160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>
            <a:noAutofit/>
          </a:bodyPr>
          <a:lstStyle/>
          <a:p>
            <a:r>
              <a:rPr lang="zh-CN" altLang="en-US" sz="1600" dirty="0">
                <a:latin typeface="Arial"/>
                <a:ea typeface="Microsoft YaHei"/>
              </a:rPr>
              <a:t>Teaching line, not a question slide.</a:t>
            </a:r>
            <a:endParaRPr lang="zh-CN" sz="1600"/>
          </a:p>
          <a:p>
            <a:r>
              <a:rPr lang="zh-CN" altLang="en-US" sz="1600" dirty="0">
                <a:latin typeface="Arial"/>
                <a:ea typeface="Microsoft YaHei"/>
              </a:rPr>
              <a:t>答案在 hw3_answers.pdf；每题的 (e) 是 Excellence 题</a:t>
            </a:r>
            <a:endParaRPr lang="zh-CN" sz="1600"/>
          </a:p>
          <a:p>
            <a:r>
              <a:rPr lang="zh-CN" altLang="en-US" sz="1600" dirty="0">
                <a:latin typeface="Arial"/>
                <a:ea typeface="Microsoft YaHei"/>
              </a:rPr>
              <a:t>下节课开头 5 分钟对答案</a:t>
            </a:r>
            <a:endParaRPr lang="zh-CN" sz="160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Relationship Id="rId3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Relationship Id="rId3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Relationship Id="rId3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Relationship Id="rId3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Relationship Id="rId3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Relationship Id="rId3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Relationship Id="rId3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png"/><Relationship Id="rId3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png"/><Relationship Id="rId3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png"/><Relationship Id="rId3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png"/><Relationship Id="rId3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png"/><Relationship Id="rId3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png"/><Relationship Id="rId3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png"/><Relationship Id="rId3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6.png"/><Relationship Id="rId3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.png"/><Relationship Id="rId3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8.png"/><Relationship Id="rId3" Type="http://schemas.openxmlformats.org/officeDocument/2006/relationships/notesSlide" Target="../notesSlides/notesSlide28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9.png"/><Relationship Id="rId3" Type="http://schemas.openxmlformats.org/officeDocument/2006/relationships/notesSlide" Target="../notesSlides/notesSlide29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0.png"/><Relationship Id="rId3" Type="http://schemas.openxmlformats.org/officeDocument/2006/relationships/notesSlide" Target="../notesSlides/notesSlide30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1.png"/><Relationship Id="rId3" Type="http://schemas.openxmlformats.org/officeDocument/2006/relationships/notesSlide" Target="../notesSlides/notesSlide31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2.png"/><Relationship Id="rId3" Type="http://schemas.openxmlformats.org/officeDocument/2006/relationships/notesSlide" Target="../notesSlides/notesSlide32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3.png"/><Relationship Id="rId3" Type="http://schemas.openxmlformats.org/officeDocument/2006/relationships/notesSlide" Target="../notesSlides/notesSlide33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4.png"/><Relationship Id="rId3" Type="http://schemas.openxmlformats.org/officeDocument/2006/relationships/notesSlide" Target="../notesSlides/notesSlide3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