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Timing: Do Now 10 min, three rounds about 20 min each, timed practice sheet 30 min, wrap-up 5 min.</a:t>
            </a:r>
            <a:endParaRPr lang="en-US" sz="1600" dirty="0"/>
          </a:p>
          <a:p>
            <a:r>
              <a:rPr lang="en-US" sz="1600" dirty="0"/>
              <a:t>The handout is the exam guide: point to it throughout.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(dy)/(dx)=6x+5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(3, −11)</a:t>
                </a:r>
              </mc:Fallback>
            </mc:AlternateContent>
            <a:r>
              <a:rPr lang="en-US" sz="1600" dirty="0"/>
              <a:t>, minimum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f(x)=4x^(2)−3x+5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a minimum (a turning point)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expand: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3x^(2)+5x−2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4x−12=0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en-US" sz="1600" dirty="0"/>
                  <a:t>y=18−36+7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y''=4&gt;0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4x^(2)−3x+c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4−3+c=6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Q3 forgetting to find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c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Diagnostic:</a:t>
            </a:r>
            <a:endParaRPr lang="en-US" sz="1600" dirty="0"/>
          </a:p>
          <a:p>
            <a:r>
              <a:rPr lang="en-US" sz="1600" dirty="0"/>
              <a:t>one question per lesson (1, 2, 4, 3): a wrong answer shows which lesson to revisit in round 1</a:t>
            </a:r>
            <a:endParaRPr lang="en-US" sz="1600" dirty="0"/>
          </a:p>
          <a:p>
            <a:r>
              <a:rPr lang="en-US" sz="1600" dirty="0"/>
              <a:t>Q4 wrong: Lesson 3 needs a quick recap with the translation table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The method chooser on handout page 1 is the reference for round 1.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1 differentiate, substitute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x=4</a:t>
                </a:r>
              </mc:Fallback>
            </mc:AlternateContent>
            <a:r>
              <a:rPr lang="en-US" sz="1600" dirty="0"/>
              <a:t> into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f'(x)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2 point from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</m:oMath>
                </a14:m>
              </mc:Choice>
              <mc:Fallback>
                <a:r>
                  <a:rPr lang="en-US" sz="1600" dirty="0"/>
                  <a:t>f</a:t>
                </a:r>
              </mc:Fallback>
            </mc:AlternateContent>
            <a:r>
              <a:rPr lang="en-US" sz="1600" dirty="0"/>
              <a:t>, gradient from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, then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</mc:Choice>
              <mc:Fallback>
                <a:r>
                  <a:rPr lang="en-US" sz="1600" dirty="0"/>
                  <a:t>y−y_1=m(x−x_1)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h'=0</a:t>
                </a:r>
              </mc:Fallback>
            </mc:AlternateContent>
            <a:r>
              <a:rPr lang="en-US" sz="1600" dirty="0"/>
              <a:t>, solve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</m:oMath>
                </a14:m>
              </mc:Choice>
              <mc:Fallback>
                <a:r>
                  <a:rPr lang="en-US" sz="1600" dirty="0"/>
                  <a:t>t</a:t>
                </a:r>
              </mc:Fallback>
            </mc:AlternateContent>
            <a:r>
              <a:rPr lang="en-US" sz="1600" dirty="0"/>
              <a:t>, substitute into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</m:oMath>
                </a14:m>
              </mc:Choice>
              <mc:Fallback>
                <a:r>
                  <a:rPr lang="en-US" sz="1600" dirty="0"/>
                  <a:t>h</a:t>
                </a:r>
              </mc:Fallback>
            </mc:AlternateContent>
            <a:r>
              <a:rPr lang="en-US" sz="1600" dirty="0"/>
              <a:t>, justify with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</m:oMath>
                </a14:m>
              </mc:Choice>
              <mc:Fallback>
                <a:r>
                  <a:rPr lang="en-US" sz="1600" dirty="0"/>
                  <a:t>h''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4 anti-differentiate,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+c</a:t>
                </a:r>
              </mc:Fallback>
            </mc:AlternateContent>
            <a:r>
              <a:rPr lang="en-US" sz="1600" dirty="0"/>
              <a:t>, substitute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(2, 5)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5 solve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f'(x)&lt;0</a:t>
                </a:r>
              </mc:Fallback>
            </mc:AlternateContent>
            <a:r>
              <a:rPr lang="en-US" sz="1600" dirty="0"/>
              <a:t>: an interval</a:t>
            </a:r>
            <a:endParaRPr lang="en-US" sz="1600" dirty="0"/>
          </a:p>
          <a:p>
            <a:r>
              <a:rPr lang="en-US" sz="1600" dirty="0"/>
              <a:t>6 anti-differentiate twice (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</m:oMath>
                </a14:m>
              </mc:Choice>
              <mc:Fallback>
                <a:r>
                  <a:rPr lang="en-US" sz="1600" dirty="0"/>
                  <a:t>a→ v→ s</a:t>
                </a:r>
              </mc:Fallback>
            </mc:AlternateContent>
            <a:r>
              <a:rPr lang="en-US" sz="1600" dirty="0"/>
              <a:t>), a constant each time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say the method aloud; the student points to the matching row of the chooser</a:t>
            </a:r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item 6 is distance, so check whether the car turns round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19</m:t>
                    </m:r>
                  </m:oMath>
                </a14:m>
              </mc:Choice>
              <mc:Fallback>
                <a:r>
                  <a:rPr lang="en-US" sz="1600" dirty="0"/>
                  <a:t>19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f(x)=4x^(3)−6x+5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2\ m s^(−2)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(dy)/(dx)=6x^(2)−5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6(4)−5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en-US" sz="1600" dirty="0"/>
                  <a:t>4x^(3)−6x+c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4−6+c=3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</m:oMath>
                </a14:m>
              </mc:Choice>
              <mc:Fallback>
                <a:r>
                  <a:rPr lang="en-US" sz="1600" dirty="0"/>
                  <a:t>a=6−2t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24</m:t>
                    </m:r>
                  </m:oMath>
                </a14:m>
              </mc:Choice>
              <mc:Fallback>
                <a:r>
                  <a:rPr lang="en-US" sz="1600" dirty="0"/>
                  <a:t>6(−2)^(2)=24</a:t>
                </a:r>
              </mc:Fallback>
            </mc:AlternateContent>
            <a:r>
              <a:rPr lang="en-US" sz="1600" dirty="0"/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24</m:t>
                    </m:r>
                  </m:oMath>
                </a14:m>
              </mc:Choice>
              <mc:Fallback>
                <a:r>
                  <a:rPr lang="en-US" sz="1600" dirty="0"/>
                  <a:t>−24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differentiate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</m:oMath>
                </a14:m>
              </mc:Choice>
              <mc:Fallback>
                <a:r>
                  <a:rPr lang="en-US" sz="1600" dirty="0"/>
                  <a:t>v</a:t>
                </a:r>
              </mc:Fallback>
            </mc:AlternateContent>
            <a:r>
              <a:rPr lang="en-US" sz="1600" dirty="0"/>
              <a:t> once, not twice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a=2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b=−6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Q4 point: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a+b=−4</a:t>
                </a:r>
              </mc:Fallback>
            </mc:AlternateContent>
            <a:r>
              <a:rPr lang="en-US" sz="1600" dirty="0"/>
              <a:t>; turning point: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3a+b=0</a:t>
                </a:r>
              </mc:Fallback>
            </mc:AlternateContent>
            <a:r>
              <a:rPr lang="en-US" sz="1600" dirty="0"/>
              <a:t>; subtract: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2a=4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using only “gradient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=0</a:t>
                </a:r>
              </mc:Fallback>
            </mc:AlternateContent>
            <a:r>
              <a:rPr lang="en-US" sz="1600" dirty="0"/>
              <a:t>” and guessing the second letter</a:t>
            </a:r>
            <a:endParaRPr lang="en-US" sz="1600" dirty="0"/>
          </a:p>
          <a:p>
            <a:r>
              <a:rPr lang="en-US" sz="1600" dirty="0"/>
              <a:t>Merit marker: both conditions written as labelled equations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p=−4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q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en-US" sz="1600" dirty="0"/>
                  <a:t>q=9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200</m:t>
                    </m:r>
                  </m:oMath>
                </a14:m>
              </mc:Choice>
              <mc:Fallback>
                <a:r>
                  <a:rPr lang="en-US" sz="1600" dirty="0"/>
                  <a:t>200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200</m:t>
                    </m:r>
                  </m:oMath>
                </a14:m>
              </mc:Choice>
              <mc:Fallback>
                <a:r>
                  <a:rPr lang="en-US" sz="1600" dirty="0"/>
                  <a:t>−200</a:t>
                </a:r>
              </mc:Fallback>
            </mc:AlternateContent>
            <a:r>
              <a:rPr lang="en-US" sz="1600" dirty="0"/>
              <a:t> visitors per hour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≈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14.3</m:t>
                    </m:r>
                  </m:oMath>
                </a14:m>
              </mc:Choice>
              <mc:Fallback>
                <a:r>
                  <a:rPr lang="en-US" sz="1600" dirty="0"/>
                  <a:t>3+8√2≈14.3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</mc:Choice>
              <mc:Fallback>
                <a:r>
                  <a:rPr lang="en-US" sz="1600" dirty="0"/>
                  <a:t>x=√2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gradient: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4+p=0</a:t>
                </a:r>
              </mc:Fallback>
            </mc:AlternateContent>
            <a:r>
              <a:rPr lang="en-US" sz="1600" dirty="0"/>
              <a:t>; point: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q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4+2p+q=5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600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3200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25t^(2)−600t+3200=0</a:t>
                </a:r>
              </mc:Fallback>
            </mc:AlternateContent>
            <a:r>
              <a:rPr lang="en-US" sz="1600" dirty="0"/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en-US" sz="1600" dirty="0"/>
                  <a:t>t=8</a:t>
                </a:r>
              </mc:Fallback>
            </mc:AlternateContent>
            <a:r>
              <a:rPr lang="en-US" sz="1600" dirty="0"/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16</m:t>
                    </m:r>
                  </m:oMath>
                </a14:m>
              </mc:Choice>
              <mc:Fallback>
                <a:r>
                  <a:rPr lang="en-US" sz="1600" dirty="0"/>
                  <a:t>16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600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50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</m:oMath>
                </a14:m>
              </mc:Choice>
              <mc:Fallback>
                <a:r>
                  <a:rPr lang="en-US" sz="1600" dirty="0"/>
                  <a:t>V'=600−50t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f'=12−6x^(2)=0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</mc:Choice>
              <mc:Fallback>
                <a:r>
                  <a:rPr lang="en-US" sz="1600" dirty="0"/>
                  <a:t>x=√2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f''=−12x&lt;0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Q2 two times give two rates: increasing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en-US" sz="1600" dirty="0"/>
                  <a:t>t=8</a:t>
                </a:r>
              </mc:Fallback>
            </mc:AlternateContent>
            <a:r>
              <a:rPr lang="en-US" sz="1600" dirty="0"/>
              <a:t>, decreasing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16</m:t>
                    </m:r>
                  </m:oMath>
                </a14:m>
              </mc:Choice>
              <mc:Fallback>
                <a:r>
                  <a:rPr lang="en-US" sz="1600" dirty="0"/>
                  <a:t>t=16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reject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</mc:Choice>
              <mc:Fallback>
                <a:r>
                  <a:rPr lang="en-US" sz="1600" dirty="0"/>
                  <a:t>x=−√2</a:t>
                </a:r>
              </mc:Fallback>
            </mc:AlternateContent>
            <a:r>
              <a:rPr lang="en-US" sz="1600" dirty="0"/>
              <a:t> because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≥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x≥0</a:t>
                </a:r>
              </mc:Fallback>
            </mc:AlternateContent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108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108\ cm^(3)</a:t>
                </a:r>
              </mc:Fallback>
            </mc:AlternateContent>
            <a:r>
              <a:rPr lang="en-US" sz="1600" dirty="0"/>
              <a:t> (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x=6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h=3</a:t>
                </a:r>
              </mc:Fallback>
            </mc:AlternateContent>
            <a:r>
              <a:rPr lang="en-US" sz="1600" dirty="0"/>
              <a:t>)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108</m:t>
                    </m:r>
                  </m:oMath>
                </a14:m>
              </mc:Choice>
              <mc:Fallback>
                <a:r>
                  <a:rPr lang="en-US" sz="1600" dirty="0"/>
                  <a:t>x^(2)+4xh=108</a:t>
                </a:r>
              </mc:Fallback>
            </mc:AlternateContent>
            <a:r>
              <a:rPr lang="en-US" sz="1600" dirty="0"/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108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mc:Choice>
              <mc:Fallback>
                <a:r>
                  <a:rPr lang="en-US" sz="1600" dirty="0"/>
                  <a:t>h=\dfrac108−x^(2)4x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27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V=x^(2)h=27x−(1)/(4)x^(3)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V'=27−(3)/(4)x^(2)=0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x=6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V''=−(3)/(2)x=−9&lt;0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an open box has one base, not two: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</m:oMath>
                </a14:m>
              </mc:Choice>
              <mc:Fallback>
                <a:r>
                  <a:rPr lang="en-US" sz="1600" dirty="0"/>
                  <a:t>x^(2)+4xh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the answer is the volume,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r>
              <a:rPr lang="en-US" sz="1600" dirty="0"/>
              <a:t> (L3)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cut it in the middle (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24</m:t>
                    </m:r>
                  </m:oMath>
                </a14:m>
              </mc:Choice>
              <mc:Fallback>
                <a:r>
                  <a:rPr lang="en-US" sz="1600" dirty="0"/>
                  <a:t>24</a:t>
                </a:r>
              </mc:Fallback>
            </mc:AlternateContent>
            <a:r>
              <a:rPr lang="en-US" sz="1600" dirty="0"/>
              <a:t> cm each); minimum total area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72\ cm^(2)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turning points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±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en-US" sz="1600" dirty="0"/>
                  <a:t>x=± a</a:t>
                </a:r>
              </mc:Fallback>
            </mc:AlternateContent>
            <a:r>
              <a:rPr lang="en-US" sz="1600" dirty="0"/>
              <a:t>; difference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4a^(3)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pieces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48−x</a:t>
                </a:r>
              </mc:Fallback>
            </mc:AlternateContent>
            <a:r>
              <a:rPr lang="en-US" sz="1600" dirty="0"/>
              <a:t>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48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d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</mc:Choice>
              <mc:Fallback>
                <a:r>
                  <a:rPr lang="en-US" sz="1600" dirty="0"/>
                  <a:t>A=\dfracx^(2)16+\dfrac(48−x)^(2)16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A'=(x)/(8)−(48−x)/(8)=0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A''=(1)/(4)&gt;0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y'=3x^(2)−3a^(2)=0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y(−a)=2a^(3)</a:t>
                </a:r>
              </mc:Fallback>
            </mc:AlternateContent>
            <a:r>
              <a:rPr lang="en-US" sz="1600" dirty="0"/>
              <a:t> (max),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y(a)=−2a^(3)</a:t>
                </a:r>
              </mc:Fallback>
            </mc:AlternateContent>
            <a:r>
              <a:rPr lang="en-US" sz="1600" dirty="0"/>
              <a:t> (min)</a:t>
            </a:r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Q1 the side of each square is a quarter of its piece</a:t>
            </a:r>
            <a:endParaRPr lang="en-US" sz="1600" dirty="0"/>
          </a:p>
          <a:p>
            <a:r>
              <a:rPr lang="en-US" sz="1600" dirty="0"/>
              <a:t>Q2 Excellence: keep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en-US" sz="1600" dirty="0"/>
                  <a:t>a</a:t>
                </a:r>
              </mc:Fallback>
            </mc:AlternateContent>
            <a:r>
              <a:rPr lang="en-US" sz="1600" dirty="0"/>
              <a:t> as a letter all the way; justify which is the maximum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Full list L1 to L6 in the handout; ask which one the student is most likely to make under time pressure.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Ask the student to say each line back before looking at the screen.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4</a:t>
                </a:r>
              </mc:Fallback>
            </mc:AlternateContent>
            <a:r>
              <a:rPr lang="en-US" sz="1600" dirty="0"/>
              <a:t>; 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17</m:t>
                    </m:r>
                  </m:oMath>
                </a14:m>
              </mc:Choice>
              <mc:Fallback>
                <a:r>
                  <a:rPr lang="en-US" sz="1600" dirty="0"/>
                  <a:t>y=7x−17</a:t>
                </a:r>
              </mc:Fallback>
            </mc:AlternateContent>
            <a:r>
              <a:rPr lang="en-US" sz="1600" dirty="0"/>
              <a:t>; (c)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c=5</a:t>
                </a:r>
              </mc:Fallback>
            </mc:AlternateContent>
            <a:r>
              <a:rPr lang="en-US" sz="1600" dirty="0"/>
              <a:t>; (d)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0&lt;x&lt;4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0.5</m:t>
                    </m:r>
                  </m:oMath>
                </a14:m>
              </mc:Choice>
              <mc:Fallback>
                <a:r>
                  <a:rPr lang="en-US" sz="1600" dirty="0"/>
                  <a:t>t=0.5</a:t>
                </a:r>
              </mc:Fallback>
            </mc:AlternateContent>
            <a:r>
              <a:rPr lang="en-US" sz="1600" dirty="0"/>
              <a:t> s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t=2</a:t>
                </a:r>
              </mc:Fallback>
            </mc:AlternateContent>
            <a:r>
              <a:rPr lang="en-US" sz="1600" dirty="0"/>
              <a:t> s; 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36</m:t>
                    </m:r>
                  </m:oMath>
                </a14:m>
              </mc:Choice>
              <mc:Fallback>
                <a:r>
                  <a:rPr lang="en-US" sz="1600" dirty="0"/>
                  <a:t>36</a:t>
                </a:r>
              </mc:Fallback>
            </mc:AlternateContent>
            <a:r>
              <a:rPr lang="en-US" sz="1600" dirty="0"/>
              <a:t> m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192</m:t>
                    </m:r>
                  </m:oMath>
                </a14:m>
              </mc:Choice>
              <mc:Fallback>
                <a:r>
                  <a:rPr lang="en-US" sz="1600" dirty="0"/>
                  <a:t>k=192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f'(x)=4x^(3)−6x+2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x=−1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Q1 (b) point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(3, 4)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en-US" sz="1600" dirty="0"/>
                  <a:t>m=4(3)−5=7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Q1 (d)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3x^(2)−12x=3x(x−4)&lt;0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30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v=12t^(2)−30t+12=6(2t−1)(t−2)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≥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v≥0</a:t>
                </a:r>
              </mc:Fallback>
            </mc:AlternateContent>
            <a:r>
              <a:rPr lang="en-US" sz="1600" dirty="0"/>
              <a:t>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0≤ t≤6</a:t>
                </a:r>
              </mc:Fallback>
            </mc:AlternateContent>
            <a:r>
              <a:rPr lang="en-US" sz="1600" dirty="0"/>
              <a:t>, so highest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t=6</a:t>
                </a:r>
              </mc:Fallback>
            </mc:AlternateContent>
            <a:r>
              <a:rPr lang="en-US" sz="1600" dirty="0"/>
              <a:t>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s=3t^(2)−(1)/(3)t^(3)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growing fastest when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P'</a:t>
                </a:r>
              </mc:Fallback>
            </mc:AlternateContent>
            <a:r>
              <a:rPr lang="en-US" sz="1600" dirty="0"/>
              <a:t> is a maximum: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P''=2k−24t^(2)=0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t=4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Q2 (b) the maximum is at the end of the interval, where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v=0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check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‴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P'''&lt;0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P'(4)&gt;0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Full working: practice answer version (tutor's working, not an official mark scheme)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Answers: homework answer version (tutor's working, not an official mark scheme).</a:t>
            </a:r>
            <a:endParaRPr lang="en-US" sz="1600" dirty="0"/>
          </a:p>
          <a:p>
            <a:r>
              <a:rPr lang="en-US" sz="1600" dirty="0"/>
              <a:t>Mark Questions 7 to 9 together with the student next lesson; they are the longest exam-style questions in the unit.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