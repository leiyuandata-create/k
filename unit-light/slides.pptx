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本课 105 分钟，全单元复习，面向年底考试（A、M、E 评分）。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时间分配：Do Now 0:00–0:07；一个核心思想 0:07–0:10；Block 1 0:10–0:22；Block 2 0:22–0:43（含 In-class A）；Block 3 0:43–1:05（含 In-class B）；Block 4 1:05–1:24（含 In-class C）；Block 5 1:24–1:41（含 In-class D）；收尾 1:41–1:45。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发三份纸：Handout、In-class work、Homework（下课收回）。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Beyond Year 9 两页（折射率和透镜成像）只讲不考；时间不够就直接跳过。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Q1 light reflector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translucent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black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Q4 35°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Q5 towards the normal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月亮不发光，只反射太阳光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光能透过但被散射，后面的物体看起来模糊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绿叶只反射绿光；红光里没有绿光，全部被吸收，没有光进入眼睛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Q4 反射定律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i = r</a:t>
                </a:r>
              </mc:Fallback>
            </mc:AlternateContent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Q5 进入光速更慢的介质，偏向法线（Slower Towards Normal）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学生常答“红色”或“棕色”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Q4 如果答 55°，说明把角度从镜面量起（L1）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Diagnostic: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答“光源”：来源和反射体没分清，Block 1 多花 2 分钟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答错：物体颜色的规则不清楚，Block 2 重点讲“反射自己的颜色、吸收其它颜色”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Q5 答“away”：折射方向记反了，Block 4 先讲速度再讲方向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0:07–0:10。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核心句：光沿直线传播；碰到东西后，只有四种结果：反射、吸收、透射、折射。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本单元每道题都在问两件事：光发生了什么？光接下来去哪儿？先画光线，再解释。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让学生用这张图说一遍“我们为什么能看见这本书”：光源发光，光沿直线到书，书反射一部分，反射光进入眼睛。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强调：光要“进入眼睛”，不是眼睛“发出”光线。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0:10–0:12。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问学生：萤火虫（glow-worm）、手机屏幕、自行车反光片分别是哪一类？反光片是 reflector，它只是反射车灯的光。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补一句：白天月亮看起来更暗，是因为天空本身很亮，不是因为月亮会发光。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0:12–0:14。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transparent：光几乎全部直线透过，看得清（窗玻璃、清水）。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translucent：光能透过但被散射，看起来模糊（烘焙纸、磨砂玻璃、牛奶瓶）。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opaque：光不能透过，被吸收或反射（木头、墙、纸板）。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快问：隐形眼镜？（transparent）毛衣？（opaque）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0:14–0:16。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三个性质要能直接背出来，常考“State two properties of light”。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真空：太阳和地球之间没有空气，但阳光能到达地球；声音需要粒子，所以不能在真空中传播。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光在玻璃中约 200 000 km/s，在钻石中约 125 000 km/s，变慢了但仍然很快。这个速度变化就是后面折射的原因。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0:16–0:19。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影子：不透明物体挡住了光。因为光沿直线传播，影子的形状和物体相似。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umbra：所有光都被挡住，全黑、边缘清晰。penumbra：只挡住一部分光，较浅、边缘模糊，只有光源比较大时才出现。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画法：用尺子，从光源边缘经过物体边缘画直线到屏幕，加箭头（L7）。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让学生指出：右图中屏幕上哪一段能看到光源的一部分？（penumbra 那段）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150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000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000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150 000 000 km</a:t>
                </a:r>
              </mc:Fallback>
            </mc:AlternateContent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the shadow gets smaller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light travels much faster than sound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距离 = 速度 × 时间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300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000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500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150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000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000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= 300 000 × 500 = 150 000 000 km</a:t>
                </a:r>
              </mc:Fallback>
            </mc:AlternateContent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光沿直线传播；球离墙越近，从灯发出、经过球边缘的光线到达墙之前散开得越少，所以影子变小（也更接近球的实际大小）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两者同时发生；光速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300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000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300 000 km/s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，声速约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0.34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0.34 km/s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，光先到达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300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000</m:t>
                        </m:r>
                      </m:den>
                    </m:f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(500)/(300 000)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 是把公式用反了；数字太小要警觉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只写“变小”不解释得不到 M；要提到“直线传播”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“光先发生”是错的：两者同时发生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0:22–0:26。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白光是七种颜色的混合，记忆口诀 Richard Of York Gave Battle In Vain。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眼睛里有三种视锥细胞，分别对红、绿、蓝敏感，所以光的三原色是红、绿、蓝。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两种原色混合得到二次色：红加绿是黄，红加蓝是品红（magenta），绿加蓝是青（cyan）；三种等量混合是白。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重要陷阱（L3）：红、黄、蓝是颜料三原色，不是光的三原色；红光加绿光是黄色，不是棕色。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可以让学生用手机放大镜看屏幕像素：只有红、绿、蓝三种小点。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Q1 black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红苹果只反射红光；蓝光里没有红光，蓝光被吸收，没有光进入眼睛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先让学生猜，再翻到下一页用图解释；常见错误答案是“紫色”（把颜料混合的想法带进来）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0:26–0:30。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规则：物体反射自己的颜色，吸收其它所有颜色。白色物体反射所有颜色，黑色物体吸收所有颜色。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如果照射的光里没有物体自己的颜色，就没有光被反射，物体看起来是黑色。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Write it in this order（红苹果在蓝光下为什么是黑色）：1 苹果只反射红光，吸收其它颜色；2 蓝光里没有红光；3 蓝光被吸收，没有光反射进入眼睛；4 所以看起来是黑色。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这四步就是 M 到 E 的完整因果链。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追问：黄色的香蕉在红光下是什么颜色？（红色：黄色物体反射红光和绿光）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0:30–0:32。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滤光片只让自己颜色的光通过（transmit），吸收其它颜色。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红色滤光片不是给白光“加上红色”，而是把其它颜色都吸收掉（L4）。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红色滤光片后面再放绿色滤光片：只有红光到达绿色滤光片，红光被吸收，没有光出来。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联系手册上的 physics sign 活动：戴红蓝眼镜看字，字母颜色会“消失”。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Q1 yellow; then white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red shirt with black stripes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no light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红加绿是黄；再加蓝，三原色都有，是白色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白色部分反射照到它的红光，看起来是红色；蓝色条纹只反射蓝光，红光被吸收，看起来是黑色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蓝色滤光片只让蓝光通过；红色滤光片吸收蓝光，所以没有光出来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答“棕色”是把颜料混合的想法带进来（L3）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常见错误：说衬衫“还是白色”；物体颜色取决于照射的光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答“紫色”：以为滤光片会混合颜色（L4）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A1 straight rays from the lamp to the top and bottom edges of the ball, continued to the screen; region between them behind the ball shaded and labelled umbra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A2 green; blue; black; green; black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A3 magenta; cyan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A1 小光源只有 umbra，没有 penumbra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A2 按“反射自己的颜色”逐行判断：黄色香蕉反射红光和绿光，所以在绿光下是绿色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A1 光线要画成切过球的上下边缘的直线，要有箭头（L7）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A2 黑鞋在任何光下都是黑色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完整答案见 inclass_answers.pdf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0:43–0:47。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法线：在入射点垂直于镜面（90 度）的虚线。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入射角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i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：入射光线和法线的夹角；反射角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r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：反射光线和法线的夹角。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反射定律：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i = r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最常见丢分（L1）：从镜面量角度。如果题目给的是光线和镜面的夹角，先用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90°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 减去它。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Q1 75°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角度从法线量起：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i = 90° - 15° = 75°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，所以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r = 75°</a:t>
                </a:r>
              </mc:Fallback>
            </mc:AlternateContent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答 15° 就是 L1：直接用了和镜面的夹角；让学生在图上画出法线再量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0:47–0:52。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平面镜成像五个特点：大小相同；像在镜后，和物体到镜面距离相同；正立；左右相反（laterally inverted）；虚像。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定位像的简便方法：先量物体到镜面的距离，在镜后同样距离处画像；再从物体画两条光线到镜面，反射光线往回延长（虚线）交于像。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L2：像在镜子“后面”，不是在镜面上。人离镜子 2 m，离自己的像 4 m。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L7：镜子后面的线必须是虚线，真实光线要有箭头。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0:52–0:54。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实像：光线真的会聚在那里，能在屏幕上成像（投影仪、眼睛的视网膜）。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虚像：光线只是看起来从那里来，不能在屏幕上成像（平面镜、放大镜）。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为什么救护车车头的字是反的：前车司机从后视镜里看，镜子左右相反，就正过来了。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可以请学生举起右手：镜子里的像举的是哪只手？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0:54–0:56。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光以 45° 入射角射到上面的镜子，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i = r = 45°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，所以光转了 90°，沿管子向下；在下面的镜子再转 90°，进入眼睛。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用途：潜艇、在人群后面看表演、看墙外。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拓展（E 级）：经过两次反射，像是正立的，而且不是左右相反的。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其它用途：万花筒（多面镜子多次反射）、牙医的镜子、后视镜。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Q1 3.0 m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so drivers in front read it the right way round in their mirrors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no: it is a virtual image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像在镜后 1.5 m，学生在镜前 1.5 m，合计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3.0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1.5 + 1.5 = 3.0 m</a:t>
                </a:r>
              </mc:Fallback>
            </mc:AlternateContent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平面镜的像左右相反（laterally inverted），反写的字在镜中变成正的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反射光线并没有真正在镜后会聚，只是看起来从那里来，所以是虚像，不能成在屏幕上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答 1.5 m 是 L2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只答 “no” 不解释，拿不到 M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B1 normal drawn at 90°;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i = 60°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r = 60°</a:t>
                </a:r>
              </mc:Fallback>
            </mc:AlternateContent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B2 A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'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B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'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C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'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 the same distance behind the mirror; two reflected rays reach the eye, extended back as dotted lines to A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'</a:t>
                </a:r>
              </mc:Fallback>
            </mc:AlternateContent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B3 two parallel mirrors at 45°; ray turns 90° at each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B1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i = 90° - 30° = 60°</a:t>
                </a:r>
              </mc:Fallback>
            </mc:AlternateContent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B2 每个点沿垂直于镜面的方向，在镜后等距处找到像点；再从像 A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'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 向眼睛连直线，与镜面的交点就是反射点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B1 L1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B2 像的三角形要画成虚线，镜后的延长线是虚线（L7）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完整答案见 inclass_answers.pdf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1:05–1:09。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折射：光从一种介质进入另一种介质时方向改变，原因是速度改变（L6：答案里一定要有 speed）。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进入更慢（光密）的介质，比如空气到玻璃或水：偏向法线。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进入更快的介质，比如玻璃到空气：偏离法线。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沿法线入射：速度变了但不弯折。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手册里的口诀：Strawberries Taste Nice，Slower Towards Normal。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类比：一辆车斜着从柏油路开进沙地，先进沙地的那个轮子先变慢，车就转向。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1:09–1:11。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进入玻璃块偏向法线；出来时偏离法线；出射光线和入射光线平行，只是向旁边平移了一段。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画图要求：两个面上都画法线（虚线）；光线有箭头；用尺子。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提问：为什么出射光线和入射光线平行？两个面平行，进去和出来的弯折刚好抵消。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1:11–1:12。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对准半圆块的圆心射入：光在平面处折射；在圆弧面上光线沿半径，也就是沿法线，所以不弯折。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这是手册里做实验时用半圆块的原因：只在一个面上看折射，量角度更方便。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Q1 below where the fish appears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鱼的光从水进入空气时偏离法线；眼睛沿直线往回看，看到的像比真实的鱼更高、更靠近水面；真实的鱼在看到的位置下方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先让学生猜，再翻到下一页用图解释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1:12–1:15。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Write it in this order：1 鱼的光从水射入空气；2 速度变快，偏离法线；3 大脑认为光沿直线传播，把光线沿直线往回延长（虚线）；4 光线好像来自更高的一点：看到的是更靠近水面的虚像。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所以泳池看起来比实际浅；吸管在水面处看起来是弯的；叉鱼要往看到的位置下方叉。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这四步是 E 级答案的骨架：光怎样走、为什么、我们看到什么。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1:15–1:17。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色散：白光分成各种颜色。在棱镜里不同颜色的光速度不同，所以折射程度不同。紫光偏折最多，红光最少。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彩虹：阳光在雨滴里折射并色散。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图中颜色的散开是夸大的，为了看得清楚。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1:17–1:19，可跳过。不在 Year 9 考试范围内，作业里也没有。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折射率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c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v</m:t>
                        </m:r>
                      </m:den>
                    </m:f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n = (c)/(v)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：真空光速和介质中光速之比。玻璃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300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200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000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1.5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n = (300 000)/(200 000) = 1.5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斯涅尔定律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b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n1 sin θ1 = n2 sin θ2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，角度从法线量起。进入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n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 更大的介质，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sin θ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 变小，角度变小，就是“偏向法线”。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口头问：钻石和玻璃，哪个让光弯得更多？（钻石，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</mc:Choice>
              <mc:Fallback>
                <a:r>
                  <a:rPr lang="zh-CN" sz="1600" dirty="0">
                    <a:latin typeface="Arial"/>
                    <a:ea typeface="Microsoft YaHei"/>
                  </a:rPr>
                  <a:t>n</a:t>
                </a:r>
              </mc:Fallback>
            </mc:AlternateContent>
            <a:r>
              <a:rPr lang="zh-CN" sz="1600" dirty="0">
                <a:latin typeface="Arial"/>
                <a:ea typeface="Microsoft YaHei"/>
              </a:rPr>
              <a:t> 更大）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Year 9 可能还没学 sin，只讲定性即可。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Q1 it slows down but does not bend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light from the coin is refracted away from the normal at the water surface, over the rim into the eye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violet most; red least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沿法线入射，速度改变但方向不变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光从水进入空气速度变快、偏离法线，光线向下弯折，越过杯沿进入眼睛；大脑沿直线往回看，看到硬币的像比实际位置高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不同颜色在玻璃中速度不同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学生常说“没有折射”，更准确的说法是速度变了但不弯折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E 级要同时有“速度变快”“偏离法线”“沿直线往回看”三个环节（L6）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C1 normal at both faces; towards the normal inside; leaves parallel to the incident ray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C2 ray from fish to surface, bends away from the normal to the eye; dotted back-extension; image above the fish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C3 P is red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C1 入射角 35°，玻璃内约 22°，出射仍是 35°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C3 红光偏折最少，所以是偏离原方向最少的那条 P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C2 光线方向是从鱼到眼睛，箭头不能画反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完整答案见 inclass_answers.pdf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1:24–1:27。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cornea：透明的保护层，光折射最多的地方。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iris：有颜色的肌肉，控制瞳孔大小。pupil：让光进入的孔。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lens：凸透镜，微调焦距，肌肉可以让它变厚或变薄。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retina：感光细胞，把光变成电信号。optic nerve：把信号送到大脑。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blind spot：视神经离开眼睛的地方，没有感光细胞，所以成不了像。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让学生不看图说出每部分的功能，再遮住标签指认。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1:27–1:29。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L8：是虹膜（iris）的肌肉改变瞳孔（pupil）大小，瞳孔自己不会变。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暗处瞳孔变大，让更多光进入；亮处瞳孔变小，保护视网膜。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视网膜上的像是实像、倒立的，大脑把它转正。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Write it in this order（眼睛如何成像）：光经角膜和瞳孔进入；角膜和凸透镜把光折射、会聚；在视网膜上形成实像；视网膜把信号经视神经送到大脑。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1:29–1:31。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凸透镜使平行光线会聚（converge）到焦点 F。焦距：透镜中心到 F 的距离。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透镜越厚（越弯），光偏折越多，焦点越靠近透镜，焦距越短。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经过透镜中心的光线不偏折。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放大镜在阳光下点燃纸：太阳光是平行光，会聚在焦点，把纸放在焦点上，能量集中在一个小点上。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1:31–1:33。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近视（short-sightedness，myopia）：看近处清楚，看远处模糊。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原因：眼睛会聚光太快（晶状体太强或眼球太长），焦点落在视网膜前面。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矫正：凹透镜（concave，diverging），先让光线稍微散开，焦点就后移到视网膜上。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1:33–1:34。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远视（long-sightedness，hypermetropia）：看远处清楚，看近处模糊。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原因：眼睛会聚光太慢，焦点落在视网膜后面。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矫正：凸透镜（convex，converging），先帮眼睛会聚一些。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记法：近视用凹，远视用凸。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1:34–1:35，可跳过。不在考试范围内，作业里也没有。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凸透镜三条特殊光线：平行于主轴的光线折射后经过 F；经过透镜中心的光线不偏折；经过 F 的光线折射后平行于主轴。三条线的交点就是像。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成像规律（手册 Beyond Year 9 表格）：物体在 2F 以外，像在 F 和 2F 之间，倒立、缩小、实像（眼睛、相机）；在 2F，等大；在 F 和 2F 之间，放大（投影仪）；在 F 上不成像；在 F 以内，正立、放大、虚像（放大镜）。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1:35–1:36，可跳过。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放大镜：物体在焦点以内，折射后的光线发散，大脑沿直线往回延长（虚线），得到正立、放大的虚像，和物体在同一侧。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凹透镜：平行光线发散，好像来自前面的焦点 F；成像总是正立、缩小、虚像。这就是近视眼镜。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Q1 the pupil gets bigger; the iris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short-sightedness (myopia); a concave lens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the thick lens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虹膜的肌肉让瞳孔变大，让更多光进入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看近清楚、看远模糊是近视；焦点在视网膜前，用凹透镜发散光线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Q3 越厚越弯，光偏折越多，焦点越近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Q1 L8：说“瞳孔自己变大”不够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Q2 近视、远视和凹、凸透镜常被配反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D1 A cornea, B iris, C pupil, D lens, E retina, F optic nerve, G blind spot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D2 three rays converge at F; focal length from the lens centre to F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D3 there are no light-sensitive cells where the optic nerve leaves the eye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D2 中间那条光线不偏折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D1 iris 和 pupil 容易写反（L8）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完整答案见 inclass_answers.pdf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1:41–1:43。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L1 角度从法线量，不是从镜面量。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L2 像在镜后同样距离处。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L3 红光加绿光是黄色，光的三原色是红绿蓝。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L5 进入更慢的介质偏向法线。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L6 折射的原因一定要写“速度改变”，否则到不了 M。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L7 光线要有箭头，虚像和延长线用虚线，要用尺子。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L4、L8 见 Handout 最后一页。让学生自己说出每条在今天哪道题出现过。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1:43–1:44。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让学生用自己的话把四句总结各说一遍。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提醒 A、M、E 解释题的链条：光发生了什么，为什么（速度、吸收、反射、定律），结果我们看到了什么。Handout 第 11 节有同一题三个等级的范例。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时间 1:44–1:45。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作业约 45 分钟：A 部分 8 题（Achieved），B 部分 6 题（Merit、Excellence）。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作业不包括折射率计算和透镜成像性质，这些超出了年底考试要求。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答案见 hw1_answers.pdf（只有答案，不附原题）。</a:t>
            </a:r>
            <a:endParaRPr lang="zh-CN" sz="1600"/>
          </a:p>
          <a:p>
            <a:r>
              <a:rPr lang="zh-CN" sz="1600" dirty="0">
                <a:latin typeface="Arial"/>
                <a:ea typeface="Microsoft YaHei"/>
              </a:rPr>
              <a:t>下课前收回所有纸质材料，拍下白板。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