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两小时考前冲刺，一对一，投屏远距离。学生基础好，节奏可以快。</a:t>
            </a:r>
            <a:endParaRPr lang="zh-CN" sz="1600"/>
          </a:p>
          <a:p>
            <a:r>
              <a:rPr lang="zh-CN" sz="1600" dirty="0">
                <a:latin typeface="Arial"/>
                <a:ea typeface="Microsoft YaHei"/>
              </a:rPr>
              <a:t>时间表：Lesson 1 Green Machines 0:00–0:50；Lesson 2 Metallic materials 0:50–1:40；Mini mock 1:40–1:57；作业 1:57–2:00。</a:t>
            </a:r>
            <a:endParaRPr lang="zh-CN" sz="1600"/>
          </a:p>
          <a:p>
            <a:r>
              <a:rPr lang="zh-CN" sz="1600" dirty="0">
                <a:latin typeface="Arial"/>
                <a:ea typeface="Microsoft YaHei"/>
              </a:rPr>
              <a:t>开课前发纸：Classwork (Part A–F) 和 Mini mock 先发 Classwork，Mini mock 到 1:40 再发；Homework 两份下课时发。全部下课收回。</a:t>
            </a:r>
            <a:endParaRPr lang="zh-CN" sz="1600"/>
          </a:p>
          <a:p>
            <a:r>
              <a:rPr lang="zh-CN" sz="1600" dirty="0">
                <a:latin typeface="Arial"/>
                <a:ea typeface="Microsoft YaHei"/>
              </a:rPr>
              <a:t>评分语言统一用 A / M / E：A 写出事实，M 把原因连上，E 把整条链写完整并用数据或对比。</a:t>
            </a:r>
            <a:endParaRPr lang="zh-CN" sz="1600"/>
          </a:p>
          <a:p>
            <a:r>
              <a:rPr lang="zh-CN" sz="1600" dirty="0">
                <a:latin typeface="Arial"/>
                <a:ea typeface="Microsoft YaHei"/>
              </a:rPr>
              <a:t>课件页脚的页码指她的两本 booklet：Green Machines p.X 和 Metals p.X。</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0:00–0:02。</a:t>
            </a:r>
            <a:endParaRPr lang="zh-CN" sz="1600"/>
          </a:p>
          <a:p>
            <a:r>
              <a:rPr lang="zh-CN" sz="1600" dirty="0">
                <a:latin typeface="Arial"/>
                <a:ea typeface="Microsoft YaHei"/>
              </a:rPr>
              <a:t>告诉她这一小时的三段：Loop 1 reproduction，Loop 2 photosynthesis and respiration，Loop 3 transport。每段结尾 2–3 道 Practice，最后 10 分钟做 Classwork Part A–C。</a:t>
            </a:r>
            <a:endParaRPr lang="zh-CN" sz="1600"/>
          </a:p>
          <a:p>
            <a:r>
              <a:rPr lang="zh-CN" sz="1600" dirty="0">
                <a:latin typeface="Arial"/>
                <a:ea typeface="Microsoft YaHei"/>
              </a:rPr>
              <a:t>她这本 booklet 基本都写了，所以今天不是重新教，而是把答案写到 M 和 E。</a:t>
            </a:r>
            <a:endParaRPr lang="zh-CN" sz="1600"/>
          </a:p>
          <a:p>
            <a:r>
              <a:rPr lang="zh-CN" sz="1600" dirty="0">
                <a:latin typeface="Arial"/>
                <a:ea typeface="Microsoft YaHei"/>
              </a:rPr>
              <a:t>Say it:</a:t>
            </a:r>
            <a:endParaRPr lang="zh-CN" sz="1600"/>
          </a:p>
          <a:p>
            <a:r>
              <a:rPr lang="zh-CN" sz="1600" dirty="0">
                <a:latin typeface="Arial"/>
                <a:ea typeface="Microsoft YaHei"/>
              </a:rPr>
              <a:t>photosynthesis = foh-toh-SIN-thuh-sis</a:t>
            </a:r>
            <a:endParaRPr lang="zh-CN" sz="1600"/>
          </a:p>
          <a:p>
            <a:r>
              <a:rPr lang="zh-CN" sz="1600" dirty="0">
                <a:latin typeface="Arial"/>
                <a:ea typeface="Microsoft YaHei"/>
              </a:rPr>
              <a:t>respiration = res-pih-RAY-shun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anther</a:t>
            </a:r>
            <a:endParaRPr lang="zh-CN" sz="1600"/>
          </a:p>
          <a:p>
            <a:r>
              <a:rPr lang="zh-CN" sz="1600" dirty="0">
                <a:latin typeface="Arial"/>
                <a:ea typeface="Microsoft YaHei"/>
              </a:rPr>
              <a:t>Q2 fertilisation</a:t>
            </a:r>
            <a:endParaRPr lang="zh-CN" sz="1600"/>
          </a:p>
          <a:p>
            <a:r>
              <a:rPr lang="zh-CN" sz="1600" dirty="0">
                <a:latin typeface="Arial"/>
                <a:ea typeface="Microsoft YaHei"/>
              </a:rPr>
              <a:t>Q3 water, warmth, oxygen</a:t>
            </a:r>
            <a:endParaRPr lang="zh-CN" sz="1600"/>
          </a:p>
          <a:p>
            <a:r>
              <a:rPr lang="zh-CN" sz="1600" dirty="0">
                <a:latin typeface="Arial"/>
                <a:ea typeface="Microsoft YaHei"/>
              </a:rPr>
              <a:t>Q4 carbon dioxide</a:t>
            </a:r>
            <a:endParaRPr lang="zh-CN" sz="1600"/>
          </a:p>
          <a:p>
            <a:r>
              <a:rPr lang="zh-CN" sz="1600" dirty="0">
                <a:latin typeface="Arial"/>
                <a:ea typeface="Microsoft YaHei"/>
              </a:rPr>
              <a:t>Q5 xylem</a:t>
            </a:r>
            <a:endParaRPr lang="zh-CN" sz="1600"/>
          </a:p>
          <a:p>
            <a:r>
              <a:rPr lang="zh-CN" sz="1600" dirty="0">
                <a:latin typeface="Arial"/>
                <a:ea typeface="Microsoft YaHei"/>
              </a:rPr>
              <a:t>Short solution:</a:t>
            </a:r>
            <a:endParaRPr lang="zh-CN" sz="1600"/>
          </a:p>
          <a:p>
            <a:r>
              <a:rPr lang="zh-CN" sz="1600" dirty="0">
                <a:latin typeface="Arial"/>
                <a:ea typeface="Microsoft YaHei"/>
              </a:rPr>
              <a:t>Q1 anther 在 filament 顶端，两者合起来是 stamen</a:t>
            </a:r>
            <a:endParaRPr lang="zh-CN" sz="1600"/>
          </a:p>
          <a:p>
            <a:r>
              <a:rPr lang="zh-CN" sz="1600" dirty="0">
                <a:latin typeface="Arial"/>
                <a:ea typeface="Microsoft YaHei"/>
              </a:rPr>
              <a:t>Q2 pollen 从 anther 到 stigma 是 pollination；两个 nucleus 融合才叫 fertilisation</a:t>
            </a:r>
            <a:endParaRPr lang="zh-CN" sz="1600"/>
          </a:p>
          <a:p>
            <a:r>
              <a:rPr lang="zh-CN" sz="1600" dirty="0">
                <a:latin typeface="Arial"/>
                <a:ea typeface="Microsoft YaHei"/>
              </a:rPr>
              <a:t>Watch for:</a:t>
            </a:r>
            <a:endParaRPr lang="zh-CN" sz="1600"/>
          </a:p>
          <a:p>
            <a:r>
              <a:rPr lang="zh-CN" sz="1600" dirty="0">
                <a:latin typeface="Arial"/>
                <a:ea typeface="Microsoft YaHei"/>
              </a:rPr>
              <a:t>Q2 答 pollination 说明两个词混了，这是她最容易丢的定义分</a:t>
            </a:r>
            <a:endParaRPr lang="zh-CN" sz="1600"/>
          </a:p>
          <a:p>
            <a:r>
              <a:rPr lang="zh-CN" sz="1600" dirty="0">
                <a:latin typeface="Arial"/>
                <a:ea typeface="Microsoft YaHei"/>
              </a:rPr>
              <a:t>Q5 答 “veins” 不够，要写 xylem</a:t>
            </a:r>
            <a:endParaRPr lang="zh-CN" sz="1600"/>
          </a:p>
          <a:p>
            <a:r>
              <a:rPr lang="zh-CN" sz="1600" dirty="0">
                <a:latin typeface="Arial"/>
                <a:ea typeface="Microsoft YaHei"/>
              </a:rPr>
              <a:t>Diagnostic:</a:t>
            </a:r>
            <a:endParaRPr lang="zh-CN" sz="1600"/>
          </a:p>
          <a:p>
            <a:r>
              <a:rPr lang="zh-CN" sz="1600" dirty="0">
                <a:latin typeface="Arial"/>
                <a:ea typeface="Microsoft YaHei"/>
              </a:rPr>
              <a:t>Q2 错：Loop 1 的 “From pollen to seed” 多花 1 分钟</a:t>
            </a:r>
            <a:endParaRPr lang="zh-CN" sz="1600"/>
          </a:p>
          <a:p>
            <a:r>
              <a:rPr lang="zh-CN" sz="1600" dirty="0">
                <a:latin typeface="Arial"/>
                <a:ea typeface="Microsoft YaHei"/>
              </a:rPr>
              <a:t>Q4 答 oxygen：把 photosynthesis 和 respiration 的方程式记反了，Loop 2 先讲方程式</a:t>
            </a:r>
            <a:endParaRPr lang="zh-CN" sz="1600"/>
          </a:p>
          <a:p>
            <a:r>
              <a:rPr lang="zh-CN" sz="1600" dirty="0">
                <a:latin typeface="Arial"/>
                <a:ea typeface="Microsoft YaHei"/>
              </a:rPr>
              <a:t>Q5 答 phloem：xylem 和 phloem 混淆，Loop 3 的 Quick review 先做</a:t>
            </a:r>
            <a:endParaRPr lang="zh-CN" sz="1600"/>
          </a:p>
          <a:p>
            <a:r>
              <a:rPr lang="zh-CN" sz="1600" dirty="0">
                <a:latin typeface="Arial"/>
                <a:ea typeface="Microsoft YaHei"/>
              </a:rPr>
              <a:t>Say it:</a:t>
            </a:r>
            <a:endParaRPr lang="zh-CN" sz="1600"/>
          </a:p>
          <a:p>
            <a:r>
              <a:rPr lang="zh-CN" sz="1600" dirty="0">
                <a:latin typeface="Arial"/>
                <a:ea typeface="Microsoft YaHei"/>
              </a:rPr>
              <a:t>pollination = pol-ih-NAY-shun</a:t>
            </a:r>
            <a:endParaRPr lang="zh-CN" sz="1600"/>
          </a:p>
          <a:p>
            <a:r>
              <a:rPr lang="zh-CN" sz="1600" dirty="0">
                <a:latin typeface="Arial"/>
                <a:ea typeface="Microsoft YaHei"/>
              </a:rPr>
              <a:t>fertilisation = fer-tih-ly-ZAY-shun</a:t>
            </a:r>
            <a:endParaRPr lang="zh-CN" sz="1600"/>
          </a:p>
          <a:p>
            <a:r>
              <a:rPr lang="zh-CN" sz="1600" dirty="0">
                <a:latin typeface="Arial"/>
                <a:ea typeface="Microsoft YaHei"/>
              </a:rPr>
              <a:t>ovule = OV-yool</a:t>
            </a:r>
            <a:endParaRPr lang="zh-CN" sz="1600"/>
          </a:p>
          <a:p>
            <a:r>
              <a:rPr lang="zh-CN" sz="1600" dirty="0">
                <a:latin typeface="Arial"/>
                <a:ea typeface="Microsoft YaHei"/>
              </a:rPr>
              <a:t>germinate = JER-mih-nayt</a:t>
            </a:r>
            <a:endParaRPr lang="zh-CN" sz="1600"/>
          </a:p>
          <a:p>
            <a:r>
              <a:rPr lang="zh-CN" sz="1600" dirty="0">
                <a:latin typeface="Arial"/>
                <a:ea typeface="Microsoft YaHei"/>
              </a:rPr>
              <a:t>xylem = ZY-lum</a:t>
            </a:r>
            <a:endParaRPr lang="zh-CN" sz="1600"/>
          </a:p>
          <a:p>
            <a:r>
              <a:rPr lang="zh-CN" sz="1600" dirty="0">
                <a:latin typeface="Arial"/>
                <a:ea typeface="Microsoft YaHei"/>
              </a:rPr>
              <a:t>phloem = FLOH-um</a:t>
            </a:r>
            <a:endParaRPr lang="zh-CN" sz="1600"/>
          </a:p>
          <a:p>
            <a:r>
              <a:rPr lang="zh-CN" sz="1600" dirty="0">
                <a:latin typeface="Arial"/>
                <a:ea typeface="Microsoft YaHei"/>
              </a:rPr>
              <a:t>stamen = STAY-mun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0:02–0:03。</a:t>
            </a:r>
            <a:endParaRPr lang="zh-CN" sz="1600"/>
          </a:p>
          <a:p>
            <a:r>
              <a:rPr lang="zh-CN" sz="1600" dirty="0">
                <a:latin typeface="Arial"/>
                <a:ea typeface="Microsoft YaHei"/>
              </a:rPr>
              <a:t>MAKE food = photosynthesis (叶子) ；MOVE materials = transport：water 走 xylem，glucose 走 phloem；MAKE new plants = reproduction：flower、seed、germination。</a:t>
            </a:r>
            <a:endParaRPr lang="zh-CN" sz="1600"/>
          </a:p>
          <a:p>
            <a:r>
              <a:rPr lang="zh-CN" sz="1600" dirty="0">
                <a:latin typeface="Arial"/>
                <a:ea typeface="Microsoft YaHei"/>
              </a:rPr>
              <a:t>问她：“testing a leaf for starch 属于哪一个？” 答：MAKE food，因为 starch 是储存起来的 glucose。</a:t>
            </a:r>
            <a:endParaRPr lang="zh-CN" sz="1600"/>
          </a:p>
          <a:p>
            <a:r>
              <a:rPr lang="zh-CN" sz="1600" dirty="0">
                <a:latin typeface="Arial"/>
                <a:ea typeface="Microsoft YaHei"/>
              </a:rPr>
              <a:t>考试时先判断是哪一件事，再用那一块的术语，答案就不会跑题。</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A stigma, B style, C ovary, D anther, E filament, F sepal</a:t>
            </a:r>
            <a:endParaRPr lang="zh-CN" sz="1600"/>
          </a:p>
          <a:p>
            <a:r>
              <a:rPr lang="zh-CN" sz="1600" dirty="0">
                <a:latin typeface="Arial"/>
                <a:ea typeface="Microsoft YaHei"/>
              </a:rPr>
              <a:t>2. anther and filament (D and E)</a:t>
            </a:r>
            <a:endParaRPr lang="zh-CN" sz="1600"/>
          </a:p>
          <a:p>
            <a:r>
              <a:rPr lang="zh-CN" sz="1600" dirty="0">
                <a:latin typeface="Arial"/>
                <a:ea typeface="Microsoft YaHei"/>
              </a:rPr>
              <a:t>3. stigma, style and ovary (A, B and C)</a:t>
            </a:r>
            <a:endParaRPr lang="zh-CN" sz="1600"/>
          </a:p>
          <a:p>
            <a:r>
              <a:rPr lang="zh-CN" sz="1600" dirty="0">
                <a:latin typeface="Arial"/>
                <a:ea typeface="Microsoft YaHei"/>
              </a:rPr>
              <a:t>4. the ovary (C)</a:t>
            </a:r>
            <a:endParaRPr lang="zh-CN" sz="1600"/>
          </a:p>
          <a:p>
            <a:r>
              <a:rPr lang="zh-CN" sz="1600" dirty="0">
                <a:latin typeface="Arial"/>
                <a:ea typeface="Microsoft YaHei"/>
              </a:rPr>
              <a:t>Short solution:</a:t>
            </a:r>
            <a:endParaRPr lang="zh-CN" sz="1600"/>
          </a:p>
          <a:p>
            <a:r>
              <a:rPr lang="zh-CN" sz="1600" dirty="0">
                <a:latin typeface="Arial"/>
                <a:ea typeface="Microsoft YaHei"/>
              </a:rPr>
              <a:t>4. fertilisation 之后 ovary wall 变成 fruit，里面的 ovule 变成 seed</a:t>
            </a:r>
            <a:endParaRPr lang="zh-CN" sz="1600"/>
          </a:p>
          <a:p>
            <a:r>
              <a:rPr lang="zh-CN" sz="1600" dirty="0">
                <a:latin typeface="Arial"/>
                <a:ea typeface="Microsoft YaHei"/>
              </a:rPr>
              <a:t>Watch for:</a:t>
            </a:r>
            <a:endParaRPr lang="zh-CN" sz="1600"/>
          </a:p>
          <a:p>
            <a:r>
              <a:rPr lang="zh-CN" sz="1600" dirty="0">
                <a:latin typeface="Arial"/>
                <a:ea typeface="Microsoft YaHei"/>
              </a:rPr>
              <a:t>1. sepal 和 petal 不要混：sepal 在花的最外面最下面，花还是花苞时保护它</a:t>
            </a:r>
            <a:endParaRPr lang="zh-CN" sz="1600"/>
          </a:p>
          <a:p>
            <a:r>
              <a:rPr lang="zh-CN" sz="1600" dirty="0">
                <a:latin typeface="Arial"/>
                <a:ea typeface="Microsoft YaHei"/>
              </a:rPr>
              <a:t>3. carpel 也叫 pistil，两个名字都可以</a:t>
            </a:r>
            <a:endParaRPr lang="zh-CN" sz="1600"/>
          </a:p>
          <a:p>
            <a:r>
              <a:rPr lang="zh-CN" sz="1600" dirty="0">
                <a:latin typeface="Arial"/>
                <a:ea typeface="Microsoft YaHei"/>
              </a:rPr>
              <a:t>Say it:</a:t>
            </a:r>
            <a:endParaRPr lang="zh-CN" sz="1600"/>
          </a:p>
          <a:p>
            <a:r>
              <a:rPr lang="zh-CN" sz="1600" dirty="0">
                <a:latin typeface="Arial"/>
                <a:ea typeface="Microsoft YaHei"/>
              </a:rPr>
              <a:t>sepal = SEE-pul</a:t>
            </a:r>
            <a:endParaRPr lang="zh-CN" sz="1600"/>
          </a:p>
          <a:p>
            <a:r>
              <a:rPr lang="zh-CN" sz="1600" dirty="0">
                <a:latin typeface="Arial"/>
                <a:ea typeface="Microsoft YaHei"/>
              </a:rPr>
              <a:t>carpel = KAR-pul</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0:05–0:07。</a:t>
            </a:r>
            <a:endParaRPr lang="zh-CN" sz="1600"/>
          </a:p>
          <a:p>
            <a:r>
              <a:rPr lang="zh-CN" sz="1600" dirty="0">
                <a:latin typeface="Arial"/>
                <a:ea typeface="Microsoft YaHei"/>
              </a:rPr>
              <a:t>空格答案：Asexual 一栏 one parent / no gametes / identical (clones)；Sexual 一栏 offspring show variation / flowers and seeds。</a:t>
            </a:r>
            <a:endParaRPr lang="zh-CN" sz="1600"/>
          </a:p>
          <a:p>
            <a:r>
              <a:rPr lang="zh-CN" sz="1600" dirty="0">
                <a:latin typeface="Arial"/>
                <a:ea typeface="Microsoft YaHei"/>
              </a:rPr>
              <a:t>问题答案：asexual reproduction，因为只有 one parent，没有 gametes，plantlets 和 parent plant identical (clones)。</a:t>
            </a:r>
            <a:endParaRPr lang="zh-CN" sz="1600"/>
          </a:p>
          <a:p>
            <a:r>
              <a:rPr lang="zh-CN" sz="1600" dirty="0">
                <a:latin typeface="Arial"/>
                <a:ea typeface="Microsoft YaHei"/>
              </a:rPr>
              <a:t>她在 booklet p.4 把 “This specific process involves gametes” 也打了勾，这是 L2：asexual 一定没有 gametes。</a:t>
            </a:r>
            <a:endParaRPr lang="zh-CN" sz="1600"/>
          </a:p>
          <a:p>
            <a:r>
              <a:rPr lang="zh-CN" sz="1600" dirty="0">
                <a:latin typeface="Arial"/>
                <a:ea typeface="Microsoft YaHei"/>
              </a:rPr>
              <a:t>Say it:</a:t>
            </a:r>
            <a:endParaRPr lang="zh-CN" sz="1600"/>
          </a:p>
          <a:p>
            <a:r>
              <a:rPr lang="zh-CN" sz="1600" dirty="0">
                <a:latin typeface="Arial"/>
                <a:ea typeface="Microsoft YaHei"/>
              </a:rPr>
              <a:t>asexual = ay-SEK-shoo-ul</a:t>
            </a:r>
            <a:endParaRPr lang="zh-CN" sz="1600"/>
          </a:p>
          <a:p>
            <a:r>
              <a:rPr lang="zh-CN" sz="1600" dirty="0">
                <a:latin typeface="Arial"/>
                <a:ea typeface="Microsoft YaHei"/>
              </a:rPr>
              <a:t>gametes = GAM-eets</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0:07–0:08。</a:t>
            </a:r>
            <a:endParaRPr lang="zh-CN" sz="1600"/>
          </a:p>
          <a:p>
            <a:r>
              <a:rPr lang="zh-CN" sz="1600" dirty="0">
                <a:latin typeface="Arial"/>
                <a:ea typeface="Microsoft YaHei"/>
              </a:rPr>
              <a:t>空格：different (show variation) / survive the change (resist the disease) / reproduce / continues。</a:t>
            </a:r>
            <a:endParaRPr lang="zh-CN" sz="1600"/>
          </a:p>
          <a:p>
            <a:r>
              <a:rPr lang="zh-CN" sz="1600" dirty="0">
                <a:latin typeface="Arial"/>
                <a:ea typeface="Microsoft YaHei"/>
              </a:rPr>
              <a:t>问题答案：the plants are clones with the same genetic material，所以如果一株会得这种病，所有植株都会得，没有一株有抵抗力。</a:t>
            </a:r>
            <a:endParaRPr lang="zh-CN" sz="1600"/>
          </a:p>
          <a:p>
            <a:r>
              <a:rPr lang="zh-CN" sz="1600" dirty="0">
                <a:latin typeface="Arial"/>
                <a:ea typeface="Microsoft YaHei"/>
              </a:rPr>
              <a:t>这是 Explain 长答题的标准链条。她 booklet p.7 写 “helps the species to live”，只到 A。要拿 E 必须写出 “some survive → reproduce → species continues”，并且和 asexual 对比。</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0:08–0:10。</a:t>
            </a:r>
            <a:endParaRPr lang="zh-CN" sz="1600"/>
          </a:p>
          <a:p>
            <a:r>
              <a:rPr lang="zh-CN" sz="1600" dirty="0">
                <a:latin typeface="Arial"/>
                <a:ea typeface="Microsoft YaHei"/>
              </a:rPr>
              <a:t>顺序：F, B, A, E, D, C。</a:t>
            </a:r>
            <a:endParaRPr lang="zh-CN" sz="1600"/>
          </a:p>
          <a:p>
            <a:r>
              <a:rPr lang="zh-CN" sz="1600" dirty="0">
                <a:latin typeface="Arial"/>
                <a:ea typeface="Microsoft YaHei"/>
              </a:rPr>
              <a:t>Pollination = F 和 B (pollen 从 anther 到 stigma) 。Fertilisation = D (两个 nucleus 融合，形成 zygote) 。</a:t>
            </a:r>
            <a:endParaRPr lang="zh-CN" sz="1600"/>
          </a:p>
          <a:p>
            <a:r>
              <a:rPr lang="zh-CN" sz="1600" dirty="0">
                <a:latin typeface="Arial"/>
                <a:ea typeface="Microsoft YaHei"/>
              </a:rPr>
              <a:t>提醒 L1：pollen 落在 stigma 上还不是 fertilisation。</a:t>
            </a:r>
            <a:endParaRPr lang="zh-CN" sz="1600"/>
          </a:p>
          <a:p>
            <a:r>
              <a:rPr lang="zh-CN" sz="1600" dirty="0">
                <a:latin typeface="Arial"/>
                <a:ea typeface="Microsoft YaHei"/>
              </a:rPr>
              <a:t>D 之后 zygote 长成 embryo，在 seed 里面。</a:t>
            </a:r>
            <a:endParaRPr lang="zh-CN" sz="1600"/>
          </a:p>
          <a:p>
            <a:r>
              <a:rPr lang="zh-CN" sz="1600" dirty="0">
                <a:latin typeface="Arial"/>
                <a:ea typeface="Microsoft YaHei"/>
              </a:rPr>
              <a:t>Say it:</a:t>
            </a:r>
            <a:endParaRPr lang="zh-CN" sz="1600"/>
          </a:p>
          <a:p>
            <a:r>
              <a:rPr lang="zh-CN" sz="1600" dirty="0">
                <a:latin typeface="Arial"/>
                <a:ea typeface="Microsoft YaHei"/>
              </a:rPr>
              <a:t>micropyle = MY-kroh-pile</a:t>
            </a:r>
            <a:endParaRPr lang="zh-CN" sz="1600"/>
          </a:p>
          <a:p>
            <a:r>
              <a:rPr lang="zh-CN" sz="1600" dirty="0">
                <a:latin typeface="Arial"/>
                <a:ea typeface="Microsoft YaHei"/>
              </a:rPr>
              <a:t>zygote = ZY-goht</a:t>
            </a:r>
            <a:endParaRPr lang="zh-CN" sz="1600"/>
          </a:p>
          <a:p>
            <a:r>
              <a:rPr lang="zh-CN" sz="1600" dirty="0">
                <a:latin typeface="Arial"/>
                <a:ea typeface="Microsoft YaHei"/>
              </a:rPr>
              <a:t>embryo = EM-bree-oh</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0:10–0:12。</a:t>
            </a:r>
            <a:endParaRPr lang="zh-CN" sz="1600"/>
          </a:p>
          <a:p>
            <a:r>
              <a:rPr lang="zh-CN" sz="1600" dirty="0">
                <a:latin typeface="Arial"/>
                <a:ea typeface="Microsoft YaHei"/>
              </a:rPr>
              <a:t>空格：large, brightly coloured, scented, with nectar / large and feathery, hanging outside / firmly attached inside the flower / small, light, made in huge amounts。</a:t>
            </a:r>
            <a:endParaRPr lang="zh-CN" sz="1600"/>
          </a:p>
          <a:p>
            <a:r>
              <a:rPr lang="zh-CN" sz="1600" dirty="0">
                <a:latin typeface="Arial"/>
                <a:ea typeface="Microsoft YaHei"/>
              </a:rPr>
              <a:t>问题答案：so the wind can blow the pollen away from the anthers。只写 “they hang outside” 是 A；写出 “so the wind can carry the pollen” 才是 M。</a:t>
            </a:r>
            <a:endParaRPr lang="zh-CN" sz="1600"/>
          </a:p>
          <a:p>
            <a:r>
              <a:rPr lang="zh-CN" sz="1600" dirty="0">
                <a:latin typeface="Arial"/>
                <a:ea typeface="Microsoft YaHei"/>
              </a:rPr>
              <a:t>这是 L3：每个 feature 后面都要加 “so that ...”。</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runners have no gametes: the new plant is identical to the parent, a clone (L2)</a:t>
            </a:r>
            <a:endParaRPr lang="zh-CN" sz="1600"/>
          </a:p>
          <a:p>
            <a:r>
              <a:rPr lang="zh-CN" sz="1600" dirty="0">
                <a:latin typeface="Arial"/>
                <a:ea typeface="Microsoft YaHei"/>
              </a:rPr>
              <a:t>2. pollen is carried from the anther to the stigma, not the other way (L1)</a:t>
            </a:r>
            <a:endParaRPr lang="zh-CN" sz="1600"/>
          </a:p>
          <a:p>
            <a:r>
              <a:rPr lang="zh-CN" sz="1600" dirty="0">
                <a:latin typeface="Arial"/>
                <a:ea typeface="Microsoft YaHei"/>
              </a:rPr>
              <a:t>3. that transfer is pollination, not fertilisation (L1)</a:t>
            </a:r>
            <a:endParaRPr lang="zh-CN" sz="1600"/>
          </a:p>
          <a:p>
            <a:r>
              <a:rPr lang="zh-CN" sz="1600" dirty="0">
                <a:latin typeface="Arial"/>
                <a:ea typeface="Microsoft YaHei"/>
              </a:rPr>
              <a:t>Short solution:</a:t>
            </a:r>
            <a:endParaRPr lang="zh-CN" sz="1600"/>
          </a:p>
          <a:p>
            <a:r>
              <a:rPr lang="zh-CN" sz="1600" dirty="0">
                <a:latin typeface="Arial"/>
                <a:ea typeface="Microsoft YaHei"/>
              </a:rPr>
              <a:t>Runners are asexual: one parent, no gametes, so the new plants are identical to the parent. Flowers: pollen is carried from the anther to the stigma (pollination); the pollen nucleus fuses with the ovule nucleus (fertilisation). The seeds show variation because two parents are involved.</a:t>
            </a:r>
            <a:endParaRPr lang="zh-CN" sz="1600"/>
          </a:p>
          <a:p>
            <a:r>
              <a:rPr lang="zh-CN" sz="1600" dirty="0">
                <a:latin typeface="Arial"/>
                <a:ea typeface="Microsoft YaHei"/>
              </a:rPr>
              <a:t>Watch for:</a:t>
            </a:r>
            <a:endParaRPr lang="zh-CN" sz="1600"/>
          </a:p>
          <a:p>
            <a:r>
              <a:rPr lang="zh-CN" sz="1600" dirty="0">
                <a:latin typeface="Arial"/>
                <a:ea typeface="Microsoft YaHei"/>
              </a:rPr>
              <a:t>最后一句是对的。让她先判断每一句，而不是看到 Sam 就全部改掉。</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P testa, Q plumule, R radicle, S cotyledon</a:t>
            </a:r>
            <a:endParaRPr lang="zh-CN" sz="1600"/>
          </a:p>
          <a:p>
            <a:r>
              <a:rPr lang="zh-CN" sz="1600" dirty="0">
                <a:latin typeface="Arial"/>
                <a:ea typeface="Microsoft YaHei"/>
              </a:rPr>
              <a:t>2. water, warmth, oxygen</a:t>
            </a:r>
            <a:endParaRPr lang="zh-CN" sz="1600"/>
          </a:p>
          <a:p>
            <a:r>
              <a:rPr lang="zh-CN" sz="1600" dirty="0">
                <a:latin typeface="Arial"/>
                <a:ea typeface="Microsoft YaHei"/>
              </a:rPr>
              <a:t>3. so the new plant does not compete with the parent for light, water, minerals and space</a:t>
            </a:r>
            <a:endParaRPr lang="zh-CN" sz="1600"/>
          </a:p>
          <a:p>
            <a:r>
              <a:rPr lang="zh-CN" sz="1600" dirty="0">
                <a:latin typeface="Arial"/>
                <a:ea typeface="Microsoft YaHei"/>
              </a:rPr>
              <a:t>Short solution:</a:t>
            </a:r>
            <a:endParaRPr lang="zh-CN" sz="1600"/>
          </a:p>
          <a:p>
            <a:r>
              <a:rPr lang="zh-CN" sz="1600" dirty="0">
                <a:latin typeface="Arial"/>
                <a:ea typeface="Microsoft YaHei"/>
              </a:rPr>
              <a:t>1. testa 是保护种子的硬外皮，water 让它变软；radicle 向下长成 root，固定植物并吸水；plumule 向上长成 shoot；cotyledon 是 food store，在叶子能 photosynthesise 之前提供能量</a:t>
            </a:r>
            <a:endParaRPr lang="zh-CN" sz="1600"/>
          </a:p>
          <a:p>
            <a:r>
              <a:rPr lang="zh-CN" sz="1600" dirty="0">
                <a:latin typeface="Arial"/>
                <a:ea typeface="Microsoft YaHei"/>
              </a:rPr>
              <a:t>2. oxygen 用于 respiration，释放生长需要的能量</a:t>
            </a:r>
            <a:endParaRPr lang="zh-CN" sz="1600"/>
          </a:p>
          <a:p>
            <a:r>
              <a:rPr lang="zh-CN" sz="1600" dirty="0">
                <a:latin typeface="Arial"/>
                <a:ea typeface="Microsoft YaHei"/>
              </a:rPr>
              <a:t>Watch for:</a:t>
            </a:r>
            <a:endParaRPr lang="zh-CN" sz="1600"/>
          </a:p>
          <a:p>
            <a:r>
              <a:rPr lang="zh-CN" sz="1600" dirty="0">
                <a:latin typeface="Arial"/>
                <a:ea typeface="Microsoft YaHei"/>
              </a:rPr>
              <a:t>1. booklet 印的是 “Radical”，考试要拼 radicle</a:t>
            </a:r>
            <a:endParaRPr lang="zh-CN" sz="1600"/>
          </a:p>
          <a:p>
            <a:r>
              <a:rPr lang="zh-CN" sz="1600" dirty="0">
                <a:latin typeface="Arial"/>
                <a:ea typeface="Microsoft YaHei"/>
              </a:rPr>
              <a:t>3. 只写 “to spread out” 是 A；要写出 competition 和资源名称</a:t>
            </a:r>
            <a:endParaRPr lang="zh-CN" sz="1600"/>
          </a:p>
          <a:p>
            <a:r>
              <a:rPr lang="zh-CN" sz="1600" dirty="0">
                <a:latin typeface="Arial"/>
                <a:ea typeface="Microsoft YaHei"/>
              </a:rPr>
              <a:t>Say it:</a:t>
            </a:r>
            <a:endParaRPr lang="zh-CN" sz="1600"/>
          </a:p>
          <a:p>
            <a:r>
              <a:rPr lang="zh-CN" sz="1600" dirty="0">
                <a:latin typeface="Arial"/>
                <a:ea typeface="Microsoft YaHei"/>
              </a:rPr>
              <a:t>plumule = PLOO-myool</a:t>
            </a:r>
            <a:endParaRPr lang="zh-CN" sz="1600"/>
          </a:p>
          <a:p>
            <a:r>
              <a:rPr lang="zh-CN" sz="1600" dirty="0">
                <a:latin typeface="Arial"/>
                <a:ea typeface="Microsoft YaHei"/>
              </a:rPr>
              <a:t>radicle = RAD-ih-kul</a:t>
            </a:r>
            <a:endParaRPr lang="zh-CN" sz="1600"/>
          </a:p>
          <a:p>
            <a:r>
              <a:rPr lang="zh-CN" sz="1600" dirty="0">
                <a:latin typeface="Arial"/>
                <a:ea typeface="Microsoft YaHei"/>
              </a:rPr>
              <a:t>cotyledon = kot-ih-LEE-dun</a:t>
            </a:r>
            <a:endParaRPr lang="zh-CN" sz="1600"/>
          </a:p>
          <a:p>
            <a:r>
              <a:rPr lang="zh-CN" sz="1600" dirty="0">
                <a:latin typeface="Arial"/>
                <a:ea typeface="Microsoft YaHei"/>
              </a:rPr>
              <a:t>dispersed = dis-PERST</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insect-pollinated: large white petals and scent attract insects; nectar is food for insects</a:t>
            </a:r>
            <a:endParaRPr lang="zh-CN" sz="1600"/>
          </a:p>
          <a:p>
            <a:r>
              <a:rPr lang="zh-CN" sz="1600" dirty="0">
                <a:latin typeface="Arial"/>
                <a:ea typeface="Microsoft YaHei"/>
              </a:rPr>
              <a:t>Q2 cuttings are asexual, so the new plants are identical to the best bush and keep its features; seeds come from sexual reproduction and show variation</a:t>
            </a:r>
            <a:endParaRPr lang="zh-CN" sz="1600"/>
          </a:p>
          <a:p>
            <a:r>
              <a:rPr lang="zh-CN" sz="1600" dirty="0">
                <a:latin typeface="Arial"/>
                <a:ea typeface="Microsoft YaHei"/>
              </a:rPr>
              <a:t>Q3 only B germinates; D has no oxygen, so the seed cannot respire to release energy for growth</a:t>
            </a:r>
            <a:endParaRPr lang="zh-CN" sz="1600"/>
          </a:p>
          <a:p>
            <a:r>
              <a:rPr lang="zh-CN" sz="1600" dirty="0">
                <a:latin typeface="Arial"/>
                <a:ea typeface="Microsoft YaHei"/>
              </a:rPr>
              <a:t>Short solution:</a:t>
            </a:r>
            <a:endParaRPr lang="zh-CN" sz="1600"/>
          </a:p>
          <a:p>
            <a:r>
              <a:rPr lang="zh-CN" sz="1600" dirty="0">
                <a:latin typeface="Arial"/>
                <a:ea typeface="Microsoft YaHei"/>
              </a:rPr>
              <a:t>Q3 A 没有 water；C 没有 warmth (fridge 里温度太低) ；D：boiling 把水里溶解的 oxygen 赶走，oil 层不让空气重新溶进去</a:t>
            </a:r>
            <a:endParaRPr lang="zh-CN" sz="1600"/>
          </a:p>
          <a:p>
            <a:r>
              <a:rPr lang="zh-CN" sz="1600" dirty="0">
                <a:latin typeface="Arial"/>
                <a:ea typeface="Microsoft YaHei"/>
              </a:rPr>
              <a:t>Watch for:</a:t>
            </a:r>
            <a:endParaRPr lang="zh-CN" sz="1600"/>
          </a:p>
          <a:p>
            <a:r>
              <a:rPr lang="zh-CN" sz="1600" dirty="0">
                <a:latin typeface="Arial"/>
                <a:ea typeface="Microsoft YaHei"/>
              </a:rPr>
              <a:t>Q1 白色花瓣也算 “large, showy”，不一定要彩色</a:t>
            </a:r>
            <a:endParaRPr lang="zh-CN" sz="1600"/>
          </a:p>
          <a:p>
            <a:r>
              <a:rPr lang="zh-CN" sz="1600" dirty="0">
                <a:latin typeface="Arial"/>
                <a:ea typeface="Microsoft YaHei"/>
              </a:rPr>
              <a:t>Q3 C 的标准答案写 “too cold / no warmth”。D 一定要写 oxygen 的用途 (respiration 释放能量) ，否则只有 M</a:t>
            </a:r>
            <a:endParaRPr lang="zh-CN" sz="1600"/>
          </a:p>
          <a:p>
            <a:r>
              <a:rPr lang="zh-CN" sz="1600" dirty="0">
                <a:latin typeface="Arial"/>
                <a:ea typeface="Microsoft YaHei"/>
              </a:rPr>
              <a:t>Q3 这个 boiled water + oil 的设计和 Lesson 2 的 rusty nail 完全一样，等一下会用到</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A waxy cuticle, B upper epidermis, C palisade layer, D spongy layer, E vein (xylem and phloem), F lower epidermis, G guard cell, H stoma</a:t>
            </a:r>
            <a:endParaRPr lang="zh-CN" sz="1600"/>
          </a:p>
          <a:p>
            <a:r>
              <a:rPr lang="zh-CN" sz="1600" dirty="0">
                <a:latin typeface="Arial"/>
                <a:ea typeface="Microsoft YaHei"/>
              </a:rPr>
              <a:t>2. the palisade layer (C)</a:t>
            </a:r>
            <a:endParaRPr lang="zh-CN" sz="1600"/>
          </a:p>
          <a:p>
            <a:r>
              <a:rPr lang="zh-CN" sz="1600" dirty="0">
                <a:latin typeface="Arial"/>
                <a:ea typeface="Microsoft YaHei"/>
              </a:rPr>
              <a:t>Short solution:</a:t>
            </a:r>
            <a:endParaRPr lang="zh-CN" sz="1600"/>
          </a:p>
          <a:p>
            <a:r>
              <a:rPr lang="zh-CN" sz="1600" dirty="0">
                <a:latin typeface="Arial"/>
                <a:ea typeface="Microsoft YaHei"/>
              </a:rPr>
              <a:t>2. palisade cells 又高又窄、排得很紧，在叶子上部，含最多 chloroplasts</a:t>
            </a:r>
            <a:endParaRPr lang="zh-CN" sz="1600"/>
          </a:p>
          <a:p>
            <a:r>
              <a:rPr lang="zh-CN" sz="1600" dirty="0">
                <a:latin typeface="Arial"/>
                <a:ea typeface="Microsoft YaHei"/>
              </a:rPr>
              <a:t>Watch for:</a:t>
            </a:r>
            <a:endParaRPr lang="zh-CN" sz="1600"/>
          </a:p>
          <a:p>
            <a:r>
              <a:rPr lang="zh-CN" sz="1600" dirty="0">
                <a:latin typeface="Arial"/>
                <a:ea typeface="Microsoft YaHei"/>
              </a:rPr>
              <a:t>1. H 的复数是 stomata；拼写常错</a:t>
            </a:r>
            <a:endParaRPr lang="zh-CN" sz="1600"/>
          </a:p>
          <a:p>
            <a:r>
              <a:rPr lang="zh-CN" sz="1600" dirty="0">
                <a:latin typeface="Arial"/>
                <a:ea typeface="Microsoft YaHei"/>
              </a:rPr>
              <a:t>1. 她 booklet p.15 把 “transports water and minerals” 填成 spongy layer。应该是 vein 里面的 xylem (L7)</a:t>
            </a:r>
            <a:endParaRPr lang="zh-CN" sz="1600"/>
          </a:p>
          <a:p>
            <a:r>
              <a:rPr lang="zh-CN" sz="1600" dirty="0">
                <a:latin typeface="Arial"/>
                <a:ea typeface="Microsoft YaHei"/>
              </a:rPr>
              <a:t>Say it:</a:t>
            </a:r>
            <a:endParaRPr lang="zh-CN" sz="1600"/>
          </a:p>
          <a:p>
            <a:r>
              <a:rPr lang="zh-CN" sz="1600" dirty="0">
                <a:latin typeface="Arial"/>
                <a:ea typeface="Microsoft YaHei"/>
              </a:rPr>
              <a:t>cuticle = KYOO-tih-kul</a:t>
            </a:r>
            <a:endParaRPr lang="zh-CN" sz="1600"/>
          </a:p>
          <a:p>
            <a:r>
              <a:rPr lang="zh-CN" sz="1600" dirty="0">
                <a:latin typeface="Arial"/>
                <a:ea typeface="Microsoft YaHei"/>
              </a:rPr>
              <a:t>epidermis = ep-ih-DER-mis</a:t>
            </a:r>
            <a:endParaRPr lang="zh-CN" sz="1600"/>
          </a:p>
          <a:p>
            <a:r>
              <a:rPr lang="zh-CN" sz="1600" dirty="0">
                <a:latin typeface="Arial"/>
                <a:ea typeface="Microsoft YaHei"/>
              </a:rPr>
              <a:t>palisade = pal-ih-SAYD</a:t>
            </a:r>
            <a:endParaRPr lang="zh-CN" sz="1600"/>
          </a:p>
          <a:p>
            <a:r>
              <a:rPr lang="zh-CN" sz="1600" dirty="0">
                <a:latin typeface="Arial"/>
                <a:ea typeface="Microsoft YaHei"/>
              </a:rPr>
              <a:t>stomata = STOH-muh-tuh</a:t>
            </a:r>
            <a:endParaRPr lang="zh-CN" sz="1600"/>
          </a:p>
          <a:p>
            <a:r>
              <a:rPr lang="zh-CN" sz="1600" dirty="0">
                <a:latin typeface="Arial"/>
                <a:ea typeface="Microsoft YaHei"/>
              </a:rPr>
              <a:t>chloroplasts = KLOR-uh-plasts</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0:19–0:21。</a:t>
            </a:r>
            <a:endParaRPr lang="zh-CN" sz="1600"/>
          </a:p>
          <a:p>
            <a:r>
              <a:rPr lang="zh-CN" sz="1600" dirty="0">
                <a:latin typeface="Arial"/>
                <a:ea typeface="Microsoft YaHei"/>
              </a:rPr>
              <a:t>方程式：carbon dioxide + water → glucose + oxygen；箭头上面写 light energy，下面写 chlorophyll。</a:t>
            </a:r>
            <a:endParaRPr lang="zh-CN" sz="1600"/>
          </a:p>
          <a:p>
            <a:r>
              <a:rPr lang="zh-CN" sz="1600" dirty="0">
                <a:latin typeface="Arial"/>
                <a:ea typeface="Microsoft YaHei"/>
              </a:rPr>
              <a:t>carbon dioxide 从 stomata 进入；water 从 root hairs 进入 (osmosis)，经 xylem 到叶子。</a:t>
            </a:r>
            <a:endParaRPr lang="zh-CN" sz="1600"/>
          </a:p>
          <a:p>
            <a:r>
              <a:rPr lang="zh-CN" sz="1600" dirty="0">
                <a:latin typeface="Arial"/>
                <a:ea typeface="Microsoft YaHei"/>
              </a:rPr>
              <a:t>chlorophyll：absorbs light energy (真实的科学) 。booklet p.20 写的是 chlorophyll “speeds up the reaction”，按学校的说法两种都可以接受。</a:t>
            </a:r>
            <a:endParaRPr lang="zh-CN" sz="1600"/>
          </a:p>
          <a:p>
            <a:r>
              <a:rPr lang="zh-CN" sz="1600" dirty="0">
                <a:latin typeface="Arial"/>
                <a:ea typeface="Microsoft YaHei"/>
              </a:rPr>
              <a:t>L4：light 和 chlorophyll 不是反应物，写在箭头上下。</a:t>
            </a:r>
            <a:endParaRPr lang="zh-CN" sz="1600"/>
          </a:p>
          <a:p>
            <a:r>
              <a:rPr lang="zh-CN" sz="1600" dirty="0">
                <a:latin typeface="Arial"/>
                <a:ea typeface="Microsoft YaHei"/>
              </a:rPr>
              <a:t>Say it:</a:t>
            </a:r>
            <a:endParaRPr lang="zh-CN" sz="1600"/>
          </a:p>
          <a:p>
            <a:r>
              <a:rPr lang="zh-CN" sz="1600" dirty="0">
                <a:latin typeface="Arial"/>
                <a:ea typeface="Microsoft YaHei"/>
              </a:rPr>
              <a:t>chlorophyll = KLOR-uh-fil</a:t>
            </a:r>
            <a:endParaRPr lang="zh-CN" sz="1600"/>
          </a:p>
          <a:p>
            <a:r>
              <a:rPr lang="zh-CN" sz="1600" dirty="0">
                <a:latin typeface="Arial"/>
                <a:ea typeface="Microsoft YaHei"/>
              </a:rPr>
              <a:t>osmosis = oz-MOH-sis</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0:21–0:23。</a:t>
            </a:r>
            <a:endParaRPr lang="zh-CN" sz="1600"/>
          </a:p>
          <a:p>
            <a:r>
              <a:rPr lang="zh-CN" sz="1600" dirty="0">
                <a:latin typeface="Arial"/>
                <a:ea typeface="Microsoft YaHei"/>
              </a:rPr>
              <a:t>方程式：glucose + oxygen → carbon dioxide + water (+ energy)。在 mitochondria 里进行。</a:t>
            </a:r>
            <a:endParaRPr lang="zh-CN" sz="1600"/>
          </a:p>
          <a:p>
            <a:r>
              <a:rPr lang="zh-CN" sz="1600" dirty="0">
                <a:latin typeface="Arial"/>
                <a:ea typeface="Microsoft YaHei"/>
              </a:rPr>
              <a:t>表格：Day 两个都 active；Night photosynthesis not active，respiration active。</a:t>
            </a:r>
            <a:endParaRPr lang="zh-CN" sz="1600"/>
          </a:p>
          <a:p>
            <a:r>
              <a:rPr lang="zh-CN" sz="1600" dirty="0">
                <a:latin typeface="Arial"/>
                <a:ea typeface="Microsoft YaHei"/>
              </a:rPr>
              <a:t>问题答案：respiration。</a:t>
            </a:r>
            <a:endParaRPr lang="zh-CN" sz="1600"/>
          </a:p>
          <a:p>
            <a:r>
              <a:rPr lang="zh-CN" sz="1600" dirty="0">
                <a:latin typeface="Arial"/>
                <a:ea typeface="Microsoft YaHei"/>
              </a:rPr>
              <a:t>L5：植物白天也 respire，只是白天 photosynthesis 更快，所以白天净放出 oxygen。</a:t>
            </a:r>
            <a:endParaRPr lang="zh-CN" sz="1600"/>
          </a:p>
          <a:p>
            <a:r>
              <a:rPr lang="zh-CN" sz="1600" dirty="0">
                <a:latin typeface="Arial"/>
                <a:ea typeface="Microsoft YaHei"/>
              </a:rPr>
              <a:t>Say it:</a:t>
            </a:r>
            <a:endParaRPr lang="zh-CN" sz="1600"/>
          </a:p>
          <a:p>
            <a:r>
              <a:rPr lang="zh-CN" sz="1600" dirty="0">
                <a:latin typeface="Arial"/>
                <a:ea typeface="Microsoft YaHei"/>
              </a:rPr>
              <a:t>mitochondria = my-toh-KON-dree-uh</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0:23–0:25。</a:t>
            </a:r>
            <a:endParaRPr lang="zh-CN" sz="1600"/>
          </a:p>
          <a:p>
            <a:r>
              <a:rPr lang="zh-CN" sz="1600" dirty="0">
                <a:latin typeface="Arial"/>
                <a:ea typeface="Microsoft YaHei"/>
              </a:rPr>
              <a:t>1. kills the leaf and stops its reactions (so the starch stays)</a:t>
            </a:r>
            <a:endParaRPr lang="zh-CN" sz="1600"/>
          </a:p>
          <a:p>
            <a:r>
              <a:rPr lang="zh-CN" sz="1600" dirty="0">
                <a:latin typeface="Arial"/>
                <a:ea typeface="Microsoft YaHei"/>
              </a:rPr>
              <a:t>2. removes the chlorophyll, so the colour change can be seen</a:t>
            </a:r>
            <a:endParaRPr lang="zh-CN" sz="1600"/>
          </a:p>
          <a:p>
            <a:r>
              <a:rPr lang="zh-CN" sz="1600" dirty="0">
                <a:latin typeface="Arial"/>
                <a:ea typeface="Microsoft YaHei"/>
              </a:rPr>
              <a:t>3. softens the leaf and washes off the ethanol</a:t>
            </a:r>
            <a:endParaRPr lang="zh-CN" sz="1600"/>
          </a:p>
          <a:p>
            <a:r>
              <a:rPr lang="zh-CN" sz="1600" dirty="0">
                <a:latin typeface="Arial"/>
                <a:ea typeface="Microsoft YaHei"/>
              </a:rPr>
              <a:t>4. starch is present；没有 starch 时保持 brown / yellow-brown</a:t>
            </a:r>
            <a:endParaRPr lang="zh-CN" sz="1600"/>
          </a:p>
          <a:p>
            <a:r>
              <a:rPr lang="zh-CN" sz="1600" dirty="0">
                <a:latin typeface="Arial"/>
                <a:ea typeface="Microsoft YaHei"/>
              </a:rPr>
              <a:t>问题答案：ethanol is flammable，不能靠近明火。</a:t>
            </a:r>
            <a:endParaRPr lang="zh-CN" sz="1600"/>
          </a:p>
          <a:p>
            <a:r>
              <a:rPr lang="zh-CN" sz="1600" dirty="0">
                <a:latin typeface="Arial"/>
                <a:ea typeface="Microsoft YaHei"/>
              </a:rPr>
              <a:t>实验题常考 “why each step”，她最容易只写步骤不写原因。</a:t>
            </a:r>
            <a:endParaRPr lang="zh-CN" sz="1600"/>
          </a:p>
          <a:p>
            <a:r>
              <a:rPr lang="zh-CN" sz="1600" dirty="0">
                <a:latin typeface="Arial"/>
                <a:ea typeface="Microsoft YaHei"/>
              </a:rPr>
              <a:t>Say it:</a:t>
            </a:r>
            <a:endParaRPr lang="zh-CN" sz="1600"/>
          </a:p>
          <a:p>
            <a:r>
              <a:rPr lang="zh-CN" sz="1600" dirty="0">
                <a:latin typeface="Arial"/>
                <a:ea typeface="Microsoft YaHei"/>
              </a:rPr>
              <a:t>ethanol = ETH-uh-nol</a:t>
            </a:r>
            <a:endParaRPr lang="zh-CN" sz="1600"/>
          </a:p>
          <a:p>
            <a:r>
              <a:rPr lang="zh-CN" sz="1600" dirty="0">
                <a:latin typeface="Arial"/>
                <a:ea typeface="Microsoft YaHei"/>
              </a:rPr>
              <a:t>iodine = EYE-uh-dyne</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(a) J (green, not covered): blue-black</a:t>
            </a:r>
            <a:endParaRPr lang="zh-CN" sz="1600"/>
          </a:p>
          <a:p>
            <a:r>
              <a:rPr lang="zh-CN" sz="1600" dirty="0">
                <a:latin typeface="Arial"/>
                <a:ea typeface="Microsoft YaHei"/>
              </a:rPr>
              <a:t>(b) K (white): stays brown</a:t>
            </a:r>
            <a:endParaRPr lang="zh-CN" sz="1600"/>
          </a:p>
          <a:p>
            <a:r>
              <a:rPr lang="zh-CN" sz="1600" dirty="0">
                <a:latin typeface="Arial"/>
                <a:ea typeface="Microsoft YaHei"/>
              </a:rPr>
              <a:t>(c) L (under the foil): stays brown, even where it is green</a:t>
            </a:r>
            <a:endParaRPr lang="zh-CN" sz="1600"/>
          </a:p>
          <a:p>
            <a:r>
              <a:rPr lang="zh-CN" sz="1600" dirty="0">
                <a:latin typeface="Arial"/>
                <a:ea typeface="Microsoft YaHei"/>
              </a:rPr>
              <a:t>Short solution:</a:t>
            </a:r>
            <a:endParaRPr lang="zh-CN" sz="1600"/>
          </a:p>
          <a:p>
            <a:r>
              <a:rPr lang="zh-CN" sz="1600" dirty="0">
                <a:latin typeface="Arial"/>
                <a:ea typeface="Microsoft YaHei"/>
              </a:rPr>
              <a:t>J 有 chlorophyll 也有 light，进行 photosynthesis，glucose 变成 starch 储存</a:t>
            </a:r>
            <a:endParaRPr lang="zh-CN" sz="1600"/>
          </a:p>
          <a:p>
            <a:r>
              <a:rPr lang="zh-CN" sz="1600" dirty="0">
                <a:latin typeface="Arial"/>
                <a:ea typeface="Microsoft YaHei"/>
              </a:rPr>
              <a:t>K 没有 chlorophyll，不能 photosynthesise，没有 starch</a:t>
            </a:r>
            <a:endParaRPr lang="zh-CN" sz="1600"/>
          </a:p>
          <a:p>
            <a:r>
              <a:rPr lang="zh-CN" sz="1600" dirty="0">
                <a:latin typeface="Arial"/>
                <a:ea typeface="Microsoft YaHei"/>
              </a:rPr>
              <a:t>L 没有 light，不能 photosynthesise，没有 starch</a:t>
            </a:r>
            <a:endParaRPr lang="zh-CN" sz="1600"/>
          </a:p>
          <a:p>
            <a:r>
              <a:rPr lang="zh-CN" sz="1600" dirty="0">
                <a:latin typeface="Arial"/>
                <a:ea typeface="Microsoft YaHei"/>
              </a:rPr>
              <a:t>Watch for:</a:t>
            </a:r>
            <a:endParaRPr lang="zh-CN" sz="1600"/>
          </a:p>
          <a:p>
            <a:r>
              <a:rPr lang="zh-CN" sz="1600" dirty="0">
                <a:latin typeface="Arial"/>
                <a:ea typeface="Microsoft YaHei"/>
              </a:rPr>
              <a:t>这是 booklet p.22 第 2 题，她没写。每个区域都要说 “缺什么”：K 缺 chlorophyll，L 缺 light</a:t>
            </a:r>
            <a:endParaRPr lang="zh-CN" sz="1600"/>
          </a:p>
          <a:p>
            <a:r>
              <a:rPr lang="zh-CN" sz="1600" dirty="0">
                <a:latin typeface="Arial"/>
                <a:ea typeface="Microsoft YaHei"/>
              </a:rPr>
              <a:t>Say it:</a:t>
            </a:r>
            <a:endParaRPr lang="zh-CN" sz="1600"/>
          </a:p>
          <a:p>
            <a:r>
              <a:rPr lang="zh-CN" sz="1600" dirty="0">
                <a:latin typeface="Arial"/>
                <a:ea typeface="Microsoft YaHei"/>
              </a:rPr>
              <a:t>variegated = VAIR-ee-uh-gay-tid</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carbon dioxide + water → glucose + oxygen: Sam swapped oxygen and carbon dioxide (L4)</a:t>
            </a:r>
            <a:endParaRPr lang="zh-CN" sz="1600"/>
          </a:p>
          <a:p>
            <a:r>
              <a:rPr lang="zh-CN" sz="1600" dirty="0">
                <a:latin typeface="Arial"/>
                <a:ea typeface="Microsoft YaHei"/>
              </a:rPr>
              <a:t>2. blue-black shows starch, not glucose (L6)</a:t>
            </a:r>
            <a:endParaRPr lang="zh-CN" sz="1600"/>
          </a:p>
          <a:p>
            <a:r>
              <a:rPr lang="zh-CN" sz="1600" dirty="0">
                <a:latin typeface="Arial"/>
                <a:ea typeface="Microsoft YaHei"/>
              </a:rPr>
              <a:t>3. plants respire all the time, day and night (L5)</a:t>
            </a:r>
            <a:endParaRPr lang="zh-CN" sz="1600"/>
          </a:p>
          <a:p>
            <a:r>
              <a:rPr lang="zh-CN" sz="1600" dirty="0">
                <a:latin typeface="Arial"/>
                <a:ea typeface="Microsoft YaHei"/>
              </a:rPr>
              <a:t>Short solution:</a:t>
            </a:r>
            <a:endParaRPr lang="zh-CN" sz="1600"/>
          </a:p>
          <a:p>
            <a:r>
              <a:rPr lang="zh-CN" sz="1600" dirty="0">
                <a:latin typeface="Arial"/>
                <a:ea typeface="Microsoft YaHei"/>
              </a:rPr>
              <a:t>carbon dioxide + water → glucose + oxygen, with light energy above the arrow and chlorophyll below. Blue-black with iodine shows the leaf contains starch. Plants respire all the time; they photosynthesise only in the light.</a:t>
            </a:r>
            <a:endParaRPr lang="zh-CN" sz="1600"/>
          </a:p>
          <a:p>
            <a:r>
              <a:rPr lang="zh-CN" sz="1600" dirty="0">
                <a:latin typeface="Arial"/>
                <a:ea typeface="Microsoft YaHei"/>
              </a:rPr>
              <a:t>Watch for:</a:t>
            </a:r>
            <a:endParaRPr lang="zh-CN" sz="1600"/>
          </a:p>
          <a:p>
            <a:r>
              <a:rPr lang="zh-CN" sz="1600" dirty="0">
                <a:latin typeface="Arial"/>
                <a:ea typeface="Microsoft YaHei"/>
              </a:rPr>
              <a:t>实验步骤那一句是对的。</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plant 1 stays brown (no starch); plant 2 turns blue-black (starch)</a:t>
            </a:r>
            <a:endParaRPr lang="zh-CN" sz="1600"/>
          </a:p>
          <a:p>
            <a:r>
              <a:rPr lang="zh-CN" sz="1600" dirty="0">
                <a:latin typeface="Arial"/>
                <a:ea typeface="Microsoft YaHei"/>
              </a:rPr>
              <a:t>Q2 at night only respiration happens, which gives out carbon dioxide; in the day photosynthesis takes in carbon dioxide faster than respiration gives it out</a:t>
            </a:r>
            <a:endParaRPr lang="zh-CN" sz="1600"/>
          </a:p>
          <a:p>
            <a:r>
              <a:rPr lang="zh-CN" sz="1600" dirty="0">
                <a:latin typeface="Arial"/>
                <a:ea typeface="Microsoft YaHei"/>
              </a:rPr>
              <a:t>Short solution:</a:t>
            </a:r>
            <a:endParaRPr lang="zh-CN" sz="1600"/>
          </a:p>
          <a:p>
            <a:r>
              <a:rPr lang="zh-CN" sz="1600" dirty="0">
                <a:latin typeface="Arial"/>
                <a:ea typeface="Microsoft YaHei"/>
              </a:rPr>
              <a:t>Q1 jar 1 没有 carbon dioxide，不能 photosynthesise，不能做 glucose，所以没有 starch；jar 2 有 carbon dioxide，是 control</a:t>
            </a:r>
            <a:endParaRPr lang="zh-CN" sz="1600"/>
          </a:p>
          <a:p>
            <a:r>
              <a:rPr lang="zh-CN" sz="1600" dirty="0">
                <a:latin typeface="Arial"/>
                <a:ea typeface="Microsoft YaHei"/>
              </a:rPr>
              <a:t>Q2 要写清两个过程，以及白天 “photosynthesis is faster than respiration”</a:t>
            </a:r>
            <a:endParaRPr lang="zh-CN" sz="1600"/>
          </a:p>
          <a:p>
            <a:r>
              <a:rPr lang="zh-CN" sz="1600" dirty="0">
                <a:latin typeface="Arial"/>
                <a:ea typeface="Microsoft YaHei"/>
              </a:rPr>
              <a:t>Watch for:</a:t>
            </a:r>
            <a:endParaRPr lang="zh-CN" sz="1600"/>
          </a:p>
          <a:p>
            <a:r>
              <a:rPr lang="zh-CN" sz="1600" dirty="0">
                <a:latin typeface="Arial"/>
                <a:ea typeface="Microsoft YaHei"/>
              </a:rPr>
              <a:t>Q1 她 booklet p.21 只写了 “there won't be photosynthesis”，没写原因 (缺 carbon dioxide)，只能拿 A</a:t>
            </a:r>
            <a:endParaRPr lang="zh-CN" sz="1600"/>
          </a:p>
          <a:p>
            <a:r>
              <a:rPr lang="zh-CN" sz="1600" dirty="0">
                <a:latin typeface="Arial"/>
                <a:ea typeface="Microsoft YaHei"/>
              </a:rPr>
              <a:t>Q2 写 “plants respire at night” 只答了一半；只写 “plants breathe out carbon dioxide” 不给分</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D</a:t>
            </a:r>
            <a:endParaRPr lang="zh-CN" sz="1600"/>
          </a:p>
          <a:p>
            <a:r>
              <a:rPr lang="zh-CN" sz="1600" dirty="0">
                <a:latin typeface="Arial"/>
                <a:ea typeface="Microsoft YaHei"/>
              </a:rPr>
              <a:t>2. A</a:t>
            </a:r>
            <a:endParaRPr lang="zh-CN" sz="1600"/>
          </a:p>
          <a:p>
            <a:r>
              <a:rPr lang="zh-CN" sz="1600" dirty="0">
                <a:latin typeface="Arial"/>
                <a:ea typeface="Microsoft YaHei"/>
              </a:rPr>
              <a:t>3. C</a:t>
            </a:r>
            <a:endParaRPr lang="zh-CN" sz="1600"/>
          </a:p>
          <a:p>
            <a:r>
              <a:rPr lang="zh-CN" sz="1600" dirty="0">
                <a:latin typeface="Arial"/>
                <a:ea typeface="Microsoft YaHei"/>
              </a:rPr>
              <a:t>4. B</a:t>
            </a:r>
            <a:endParaRPr lang="zh-CN" sz="1600"/>
          </a:p>
          <a:p>
            <a:r>
              <a:rPr lang="zh-CN" sz="1600" dirty="0">
                <a:latin typeface="Arial"/>
                <a:ea typeface="Microsoft YaHei"/>
              </a:rPr>
              <a:t>5. E</a:t>
            </a:r>
            <a:endParaRPr lang="zh-CN" sz="1600"/>
          </a:p>
          <a:p>
            <a:r>
              <a:rPr lang="zh-CN" sz="1600" dirty="0">
                <a:latin typeface="Arial"/>
                <a:ea typeface="Microsoft YaHei"/>
              </a:rPr>
              <a:t>Short solution:</a:t>
            </a:r>
            <a:endParaRPr lang="zh-CN" sz="1600"/>
          </a:p>
          <a:p>
            <a:r>
              <a:rPr lang="zh-CN" sz="1600" dirty="0">
                <a:latin typeface="Arial"/>
                <a:ea typeface="Microsoft YaHei"/>
              </a:rPr>
              <a:t>记法：xylem 运 water 向上；phloem 运 food (glucose) 到需要或储存的地方</a:t>
            </a:r>
            <a:endParaRPr lang="zh-CN" sz="1600"/>
          </a:p>
          <a:p>
            <a:r>
              <a:rPr lang="zh-CN" sz="1600" dirty="0">
                <a:latin typeface="Arial"/>
                <a:ea typeface="Microsoft YaHei"/>
              </a:rPr>
              <a:t>Watch for:</a:t>
            </a:r>
            <a:endParaRPr lang="zh-CN" sz="1600"/>
          </a:p>
          <a:p>
            <a:r>
              <a:rPr lang="zh-CN" sz="1600" dirty="0">
                <a:latin typeface="Arial"/>
                <a:ea typeface="Microsoft YaHei"/>
              </a:rPr>
              <a:t>2. phloem 的拼写：ph 开头，-oem 结尾</a:t>
            </a:r>
            <a:endParaRPr lang="zh-CN" sz="1600"/>
          </a:p>
          <a:p>
            <a:r>
              <a:rPr lang="zh-CN" sz="1600" dirty="0">
                <a:latin typeface="Arial"/>
                <a:ea typeface="Microsoft YaHei"/>
              </a:rPr>
              <a:t>5. booklet p.16 说 guard cells “swell to close” stomata。真实情况是 guard cells 吸水 swell 时 stomata 打开。考试如果问 swell 和 open 的关系，按 booklet 写，并提醒她两种说法都见过</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0:31–0:33。</a:t>
            </a:r>
            <a:endParaRPr lang="zh-CN" sz="1600"/>
          </a:p>
          <a:p>
            <a:r>
              <a:rPr lang="zh-CN" sz="1600" dirty="0">
                <a:latin typeface="Arial"/>
                <a:ea typeface="Microsoft YaHei"/>
              </a:rPr>
              <a:t>空格：osmosis / xylem / stomata。</a:t>
            </a:r>
            <a:endParaRPr lang="zh-CN" sz="1600"/>
          </a:p>
          <a:p>
            <a:r>
              <a:rPr lang="zh-CN" sz="1600" dirty="0">
                <a:latin typeface="Arial"/>
                <a:ea typeface="Microsoft YaHei"/>
              </a:rPr>
              <a:t>问题答案：transpiration。</a:t>
            </a:r>
            <a:endParaRPr lang="zh-CN" sz="1600"/>
          </a:p>
          <a:p>
            <a:r>
              <a:rPr lang="zh-CN" sz="1600" dirty="0">
                <a:latin typeface="Arial"/>
                <a:ea typeface="Microsoft YaHei"/>
              </a:rPr>
              <a:t>Say it:</a:t>
            </a:r>
            <a:endParaRPr lang="zh-CN" sz="1600"/>
          </a:p>
          <a:p>
            <a:r>
              <a:rPr lang="zh-CN" sz="1600" dirty="0">
                <a:latin typeface="Arial"/>
                <a:ea typeface="Microsoft YaHei"/>
              </a:rPr>
              <a:t>transpiration = tran-spih-RAY-shun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0:33–0:35。</a:t>
            </a:r>
            <a:endParaRPr lang="zh-CN" sz="1600"/>
          </a:p>
          <a:p>
            <a:r>
              <a:rPr lang="zh-CN" sz="1600" dirty="0">
                <a:latin typeface="Arial"/>
                <a:ea typeface="Microsoft YaHei"/>
              </a:rPr>
              <a:t>空格：evaporates (is lost) / pulls / xylem / leaves / xylem vessels。</a:t>
            </a:r>
            <a:endParaRPr lang="zh-CN" sz="1600"/>
          </a:p>
          <a:p>
            <a:r>
              <a:rPr lang="zh-CN" sz="1600" dirty="0">
                <a:latin typeface="Arial"/>
                <a:ea typeface="Microsoft YaHei"/>
              </a:rPr>
              <a:t>她 booklet p.17 的答案是 “The water in the cylinder are being transport up to the stem. The food colour will change the colour of plant”，只到 A：没有 xylem，没有原因。</a:t>
            </a:r>
            <a:endParaRPr lang="zh-CN" sz="1600"/>
          </a:p>
          <a:p>
            <a:r>
              <a:rPr lang="zh-CN" sz="1600" dirty="0">
                <a:latin typeface="Arial"/>
                <a:ea typeface="Microsoft YaHei"/>
              </a:rPr>
              <a:t>L9：不能写 “the plant sucks / drinks”，要写 transpiration 造成 pull。</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0:35–0:37。</a:t>
            </a:r>
            <a:endParaRPr lang="zh-CN" sz="1600"/>
          </a:p>
          <a:p>
            <a:r>
              <a:rPr lang="zh-CN" sz="1600" dirty="0">
                <a:latin typeface="Arial"/>
                <a:ea typeface="Microsoft YaHei"/>
              </a:rPr>
              <a:t>1. the small circles (六边形是 sugar molecules)</a:t>
            </a:r>
            <a:endParaRPr lang="zh-CN" sz="1600"/>
          </a:p>
          <a:p>
            <a:r>
              <a:rPr lang="zh-CN" sz="1600" dirty="0">
                <a:latin typeface="Arial"/>
                <a:ea typeface="Microsoft YaHei"/>
              </a:rPr>
              <a:t>2. from right to left, into the sugar solution</a:t>
            </a:r>
            <a:endParaRPr lang="zh-CN" sz="1600"/>
          </a:p>
          <a:p>
            <a:r>
              <a:rPr lang="zh-CN" sz="1600" dirty="0">
                <a:latin typeface="Arial"/>
                <a:ea typeface="Microsoft YaHei"/>
              </a:rPr>
              <a:t>3. the sugar molecules are too large to fit through the membrane</a:t>
            </a:r>
            <a:endParaRPr lang="zh-CN" sz="1600"/>
          </a:p>
          <a:p>
            <a:r>
              <a:rPr lang="zh-CN" sz="1600" dirty="0">
                <a:latin typeface="Arial"/>
                <a:ea typeface="Microsoft YaHei"/>
              </a:rPr>
              <a:t>定义空格：water / high / low / semi-permeable。</a:t>
            </a:r>
            <a:endParaRPr lang="zh-CN" sz="1600"/>
          </a:p>
          <a:p>
            <a:r>
              <a:rPr lang="zh-CN" sz="1600" dirty="0">
                <a:latin typeface="Arial"/>
                <a:ea typeface="Microsoft YaHei"/>
              </a:rPr>
              <a:t>L8：说 “sugar moves” 或者漏掉 membrane 都会丢分；“high to low” 一定要说是 water 的浓度。</a:t>
            </a:r>
            <a:endParaRPr lang="zh-CN" sz="1600"/>
          </a:p>
          <a:p>
            <a:r>
              <a:rPr lang="zh-CN" sz="1600" dirty="0">
                <a:latin typeface="Arial"/>
                <a:ea typeface="Microsoft YaHei"/>
              </a:rPr>
              <a:t>Say it:</a:t>
            </a:r>
            <a:endParaRPr lang="zh-CN" sz="1600"/>
          </a:p>
          <a:p>
            <a:r>
              <a:rPr lang="zh-CN" sz="1600" dirty="0">
                <a:latin typeface="Arial"/>
                <a:ea typeface="Microsoft YaHei"/>
              </a:rPr>
              <a:t>semi-permeable = sem-ee-PER-mee-uh-bul</a:t>
            </a:r>
            <a:endParaRPr lang="zh-CN" sz="1600"/>
          </a:p>
          <a:p>
            <a:r>
              <a:rPr lang="zh-CN" sz="1600" dirty="0">
                <a:latin typeface="Arial"/>
                <a:ea typeface="Microsoft YaHei"/>
              </a:rPr>
              <a:t>molecule = MOL-ih-kyool</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Z (the Visking tubing) is the root hair; X (the capillary tube) is the stem</a:t>
            </a:r>
            <a:endParaRPr lang="zh-CN" sz="1600"/>
          </a:p>
          <a:p>
            <a:r>
              <a:rPr lang="zh-CN" sz="1600" dirty="0">
                <a:latin typeface="Arial"/>
                <a:ea typeface="Microsoft YaHei"/>
              </a:rPr>
              <a:t>2. water moves into the sucrose solution by osmosis, from the beaker (high concentration of water) through the membrane, so the liquid is pushed up the tube</a:t>
            </a:r>
            <a:endParaRPr lang="zh-CN" sz="1600"/>
          </a:p>
          <a:p>
            <a:r>
              <a:rPr lang="zh-CN" sz="1600" dirty="0">
                <a:latin typeface="Arial"/>
                <a:ea typeface="Microsoft YaHei"/>
              </a:rPr>
              <a:t>3. it has a large surface area, so it can absorb more water by osmosis</a:t>
            </a:r>
            <a:endParaRPr lang="zh-CN" sz="1600"/>
          </a:p>
          <a:p>
            <a:r>
              <a:rPr lang="zh-CN" sz="1600" dirty="0">
                <a:latin typeface="Arial"/>
                <a:ea typeface="Microsoft YaHei"/>
              </a:rPr>
              <a:t>Short solution:</a:t>
            </a:r>
            <a:endParaRPr lang="zh-CN" sz="1600"/>
          </a:p>
          <a:p>
            <a:r>
              <a:rPr lang="zh-CN" sz="1600" dirty="0">
                <a:latin typeface="Arial"/>
                <a:ea typeface="Microsoft YaHei"/>
              </a:rPr>
              <a:t>2. Visking tubing 是 semi-permeable membrane：water 可以过，sucrose 不能过</a:t>
            </a:r>
            <a:endParaRPr lang="zh-CN" sz="1600"/>
          </a:p>
          <a:p>
            <a:r>
              <a:rPr lang="zh-CN" sz="1600" dirty="0">
                <a:latin typeface="Arial"/>
                <a:ea typeface="Microsoft YaHei"/>
              </a:rPr>
              <a:t>Watch for:</a:t>
            </a:r>
            <a:endParaRPr lang="zh-CN" sz="1600"/>
          </a:p>
          <a:p>
            <a:r>
              <a:rPr lang="zh-CN" sz="1600" dirty="0">
                <a:latin typeface="Arial"/>
                <a:ea typeface="Microsoft YaHei"/>
              </a:rPr>
              <a:t>1. 这是 booklet p.18 的 Conclusions，她没写</a:t>
            </a:r>
            <a:endParaRPr lang="zh-CN" sz="1600"/>
          </a:p>
          <a:p>
            <a:r>
              <a:rPr lang="zh-CN" sz="1600" dirty="0">
                <a:latin typeface="Arial"/>
                <a:ea typeface="Microsoft YaHei"/>
              </a:rPr>
              <a:t>3. 只写 “absorbs water” 不够，要说 surface area</a:t>
            </a:r>
            <a:endParaRPr lang="zh-CN" sz="1600"/>
          </a:p>
          <a:p>
            <a:r>
              <a:rPr lang="zh-CN" sz="1600" dirty="0">
                <a:latin typeface="Arial"/>
                <a:ea typeface="Microsoft YaHei"/>
              </a:rPr>
              <a:t>Say it:</a:t>
            </a:r>
            <a:endParaRPr lang="zh-CN" sz="1600"/>
          </a:p>
          <a:p>
            <a:r>
              <a:rPr lang="zh-CN" sz="1600" dirty="0">
                <a:latin typeface="Arial"/>
                <a:ea typeface="Microsoft YaHei"/>
              </a:rPr>
              <a:t>sucrose = SOO-krohs</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the water goes up the xylem, not the phloem (L7)</a:t>
            </a:r>
            <a:endParaRPr lang="zh-CN" sz="1600"/>
          </a:p>
          <a:p>
            <a:r>
              <a:rPr lang="zh-CN" sz="1600" dirty="0">
                <a:latin typeface="Arial"/>
                <a:ea typeface="Microsoft YaHei"/>
              </a:rPr>
              <a:t>2. not “sucks because it is thirsty”: water evaporates through the stomata (transpiration) and pulls water up the xylem (L9)</a:t>
            </a:r>
            <a:endParaRPr lang="zh-CN" sz="1600"/>
          </a:p>
          <a:p>
            <a:r>
              <a:rPr lang="zh-CN" sz="1600" dirty="0">
                <a:latin typeface="Arial"/>
                <a:ea typeface="Microsoft YaHei"/>
              </a:rPr>
              <a:t>3. osmosis is from a high to a low concentration of water (L8)</a:t>
            </a:r>
            <a:endParaRPr lang="zh-CN" sz="1600"/>
          </a:p>
          <a:p>
            <a:r>
              <a:rPr lang="zh-CN" sz="1600" dirty="0">
                <a:latin typeface="Arial"/>
                <a:ea typeface="Microsoft YaHei"/>
              </a:rPr>
              <a:t>Short solution:</a:t>
            </a:r>
            <a:endParaRPr lang="zh-CN" sz="1600"/>
          </a:p>
          <a:p>
            <a:r>
              <a:rPr lang="zh-CN" sz="1600" dirty="0">
                <a:latin typeface="Arial"/>
                <a:ea typeface="Microsoft YaHei"/>
              </a:rPr>
              <a:t>Water evaporates from the flower and leaves through the stomata (transpiration). This pulls water, with the dye, up the xylem, so the petals turn blue. Water enters root hairs by osmosis, from a high to a low concentration of water.</a:t>
            </a:r>
            <a:endParaRPr lang="zh-CN" sz="1600"/>
          </a:p>
          <a:p>
            <a:r>
              <a:rPr lang="zh-CN" sz="1600" dirty="0">
                <a:latin typeface="Arial"/>
                <a:ea typeface="Microsoft YaHei"/>
              </a:rPr>
              <a:t>Watch for:</a:t>
            </a:r>
            <a:endParaRPr lang="zh-CN" sz="1600"/>
          </a:p>
          <a:p>
            <a:r>
              <a:rPr lang="zh-CN" sz="1600" dirty="0">
                <a:latin typeface="Arial"/>
                <a:ea typeface="Microsoft YaHei"/>
              </a:rPr>
              <a:t>第 3 句只算一个 error (方向反了) 。</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osmosis; xylem</a:t>
            </a:r>
            <a:endParaRPr lang="zh-CN" sz="1600"/>
          </a:p>
          <a:p>
            <a:r>
              <a:rPr lang="zh-CN" sz="1600" dirty="0">
                <a:latin typeface="Arial"/>
                <a:ea typeface="Microsoft YaHei"/>
              </a:rPr>
              <a:t>Q2 (a) 1.8 mm per minute</a:t>
            </a:r>
            <a:endParaRPr lang="zh-CN" sz="1600"/>
          </a:p>
          <a:p>
            <a:r>
              <a:rPr lang="zh-CN" sz="1600" dirty="0">
                <a:latin typeface="Arial"/>
                <a:ea typeface="Microsoft YaHei"/>
              </a:rPr>
              <a:t>Q2 (b) water enters the sugar solution by osmosis through the membrane, so the volume rises</a:t>
            </a:r>
            <a:endParaRPr lang="zh-CN" sz="1600"/>
          </a:p>
          <a:p>
            <a:r>
              <a:rPr lang="zh-CN" sz="1600" dirty="0">
                <a:latin typeface="Arial"/>
                <a:ea typeface="Microsoft YaHei"/>
              </a:rPr>
              <a:t>Q3 the salty water has a lower concentration of water than the root cells, so water moves out of the roots by osmosis; the plant loses water and wilts</a:t>
            </a:r>
            <a:endParaRPr lang="zh-CN" sz="1600"/>
          </a:p>
          <a:p>
            <a:r>
              <a:rPr lang="zh-CN" sz="1600" dirty="0">
                <a:latin typeface="Arial"/>
                <a:ea typeface="Microsoft YaHei"/>
              </a:rPr>
              <a:t>Short solution:</a:t>
            </a:r>
            <a:endParaRPr lang="zh-CN" sz="1600"/>
          </a:p>
          <a:p>
            <a:r>
              <a:rPr lang="zh-CN" sz="1600" dirty="0">
                <a:latin typeface="Arial"/>
                <a:ea typeface="Microsoft YaHei"/>
              </a:rPr>
              <a:t>Q2 (a) rise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r>
                      <a:rPr lang="en-US" sz="1600" i="0">
                        <a:latin typeface="Cambria Math" panose="02040503050406030204" pitchFamily="18" charset="0"/>
                      </a:rPr>
                      <m:t>48</m:t>
                    </m:r>
                    <m:r>
                      <m:rPr>
                        <m:sty m:val="p"/>
                      </m:rPr>
                      <a:rPr lang="en-US" sz="1600" i="0">
                        <a:latin typeface="Cambria Math" panose="02040503050406030204" pitchFamily="18" charset="0"/>
                      </a:rPr>
                      <m:t>−</m:t>
                    </m:r>
                    <m:r>
                      <a:rPr lang="en-US" sz="1600" i="0">
                        <a:latin typeface="Cambria Math" panose="02040503050406030204" pitchFamily="18" charset="0"/>
                      </a:rPr>
                      <m:t>12</m:t>
                    </m:r>
                    <m:r>
                      <m:rPr>
                        <m:sty m:val="p"/>
                      </m:rPr>
                      <a:rPr lang="en-US" sz="1600" i="0">
                        <a:latin typeface="Cambria Math" panose="02040503050406030204" pitchFamily="18" charset="0"/>
                      </a:rPr>
                      <m:t>=</m:t>
                    </m:r>
                    <m:r>
                      <a:rPr lang="en-US" sz="1600" i="0">
                        <a:latin typeface="Cambria Math" panose="02040503050406030204" pitchFamily="18" charset="0"/>
                      </a:rPr>
                      <m:t>36</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m</m:t>
                    </m:r>
                  </m:oMath>
                </a14:m>
              </mc:Choice>
              <mc:Fallback>
                <a:r>
                  <a:rPr lang="zh-CN" sz="1600" dirty="0">
                    <a:latin typeface="Arial"/>
                    <a:ea typeface="Microsoft YaHei"/>
                  </a:rPr>
                  <a:t>= 48 - 12 = 36 mm</a:t>
                </a:r>
              </mc:Fallback>
            </mc:AlternateContent>
            <a:r>
              <a:rPr lang="zh-CN" sz="1600" dirty="0">
                <a:latin typeface="Arial"/>
                <a:ea typeface="Microsoft YaHei"/>
              </a:rPr>
              <a:t>; rate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f>
                      <m:fPr>
                        <m:type m:val="bar"/>
                      </m:fPr>
                      <m:num>
                        <m:r>
                          <a:rPr lang="en-US" sz="1600" i="0">
                            <a:latin typeface="Cambria Math" panose="02040503050406030204" pitchFamily="18" charset="0"/>
                          </a:rPr>
                          <m:t>36</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m</m:t>
                        </m:r>
                      </m:num>
                      <m:den>
                        <m:r>
                          <a:rPr lang="en-US" sz="1600" i="0">
                            <a:latin typeface="Cambria Math" panose="02040503050406030204" pitchFamily="18" charset="0"/>
                          </a:rPr>
                          <m:t>20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i</m:t>
                        </m:r>
                        <m:r>
                          <m:rPr>
                            <m:sty m:val="p"/>
                          </m:rPr>
                          <a:rPr lang="en-US" sz="1600" i="0">
                            <a:latin typeface="Cambria Math" panose="02040503050406030204" pitchFamily="18" charset="0"/>
                          </a:rPr>
                          <m:t>n</m:t>
                        </m:r>
                      </m:den>
                    </m:f>
                    <m:r>
                      <m:rPr>
                        <m:sty m:val="p"/>
                      </m:rPr>
                      <a:rPr lang="en-US" sz="1600" i="0">
                        <a:latin typeface="Cambria Math" panose="02040503050406030204" pitchFamily="18" charset="0"/>
                      </a:rPr>
                      <m:t>=</m:t>
                    </m:r>
                    <m:r>
                      <a:rPr lang="en-US" sz="1600" i="0">
                        <a:latin typeface="Cambria Math" panose="02040503050406030204" pitchFamily="18" charset="0"/>
                      </a:rPr>
                      <m:t>1.8</m:t>
                    </m:r>
                  </m:oMath>
                </a14:m>
              </mc:Choice>
              <mc:Fallback>
                <a:r>
                  <a:rPr lang="zh-CN" sz="1600" dirty="0">
                    <a:latin typeface="Arial"/>
                    <a:ea typeface="Microsoft YaHei"/>
                  </a:rPr>
                  <a:t>= \dfrac36 mm20 min = 1.8</a:t>
                </a:r>
              </mc:Fallback>
            </mc:AlternateContent>
            <a:r>
              <a:rPr lang="zh-CN" sz="1600" dirty="0">
                <a:latin typeface="Arial"/>
                <a:ea typeface="Microsoft YaHei"/>
              </a:rPr>
              <a:t> mm per minute</a:t>
            </a:r>
            <a:endParaRPr lang="zh-CN" sz="1600"/>
          </a:p>
          <a:p>
            <a:r>
              <a:rPr lang="zh-CN" sz="1600" dirty="0">
                <a:latin typeface="Arial"/>
                <a:ea typeface="Microsoft YaHei"/>
              </a:rPr>
              <a:t>Q3 先比较 water concentration (外面低、里面高) ，再说方向 (out of the roots) ，最后说结果 (wilts)</a:t>
            </a:r>
            <a:endParaRPr lang="zh-CN" sz="1600"/>
          </a:p>
          <a:p>
            <a:r>
              <a:rPr lang="zh-CN" sz="1600" dirty="0">
                <a:latin typeface="Arial"/>
                <a:ea typeface="Microsoft YaHei"/>
              </a:rPr>
              <a:t>Watch for:</a:t>
            </a:r>
            <a:endParaRPr lang="zh-CN" sz="1600"/>
          </a:p>
          <a:p>
            <a:r>
              <a:rPr lang="zh-CN" sz="1600" dirty="0">
                <a:latin typeface="Arial"/>
                <a:ea typeface="Microsoft YaHei"/>
              </a:rPr>
              <a:t>Q2 (a) 常见错误：用 48 除以 20 = 2.4，忘了减去开始的 12 mm</a:t>
            </a:r>
            <a:endParaRPr lang="zh-CN" sz="1600"/>
          </a:p>
          <a:p>
            <a:r>
              <a:rPr lang="zh-CN" sz="1600" dirty="0">
                <a:latin typeface="Arial"/>
                <a:ea typeface="Microsoft YaHei"/>
              </a:rPr>
              <a:t>Q3 这是 osmosis 换个角度问：水从 high 到 low，所以这次是从根里往外走</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0:38–0:39。</a:t>
            </a:r>
            <a:endParaRPr lang="zh-CN" sz="1600"/>
          </a:p>
          <a:p>
            <a:r>
              <a:rPr lang="zh-CN" sz="1600" dirty="0">
                <a:latin typeface="Arial"/>
                <a:ea typeface="Microsoft YaHei"/>
              </a:rPr>
              <a:t>让她每一条说一个今天课上出现过的例子：L1 Spot the error 1；L2 spider plant；L4 和 L6 Spot the error 2；L7 carnation。</a:t>
            </a:r>
            <a:endParaRPr lang="zh-CN" sz="1600"/>
          </a:p>
          <a:p>
            <a:r>
              <a:rPr lang="zh-CN" sz="1600" dirty="0">
                <a:latin typeface="Arial"/>
                <a:ea typeface="Microsoft YaHei"/>
              </a:rPr>
              <a:t>L8 和 L9 在作业 hw1 里还会再练。</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0:39–0:40。</a:t>
            </a:r>
            <a:endParaRPr lang="zh-CN" sz="1600"/>
          </a:p>
          <a:p>
            <a:r>
              <a:rPr lang="zh-CN" sz="1600" dirty="0">
                <a:latin typeface="Arial"/>
                <a:ea typeface="Microsoft YaHei"/>
              </a:rPr>
              <a:t>让她闭上眼说一遍这四句，再看屏幕对一下。</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0:40–0:50。</a:t>
            </a:r>
            <a:endParaRPr lang="zh-CN" sz="1600"/>
          </a:p>
          <a:p>
            <a:r>
              <a:rPr lang="zh-CN" sz="1600" dirty="0">
                <a:latin typeface="Arial"/>
                <a:ea typeface="Microsoft YaHei"/>
              </a:rPr>
              <a:t>她做的时候老师不要讲，最后 2 分钟对 Part C 的图 (标尺、轴标签、单位、描点) 。</a:t>
            </a:r>
            <a:endParaRPr lang="zh-CN" sz="1600"/>
          </a:p>
          <a:p>
            <a:r>
              <a:rPr lang="zh-CN" sz="1600" dirty="0">
                <a:latin typeface="Arial"/>
                <a:ea typeface="Microsoft YaHei"/>
              </a:rPr>
              <a:t>答案在 classwork_answers.pdf：Part A 重点是 pollination 和 fertilisation 的区分；Part B 重点是 bell jar 实验的 control；Part C 的图从 0 到 25 分钟是直线上升，之后变平。</a:t>
            </a:r>
            <a:endParaRPr lang="zh-CN" sz="1600"/>
          </a:p>
          <a:p>
            <a:r>
              <a:rPr lang="zh-CN" sz="1600" dirty="0">
                <a:latin typeface="Arial"/>
                <a:ea typeface="Microsoft YaHei"/>
              </a:rPr>
              <a:t>时间不够就把 Part C 的画图留到下课后。</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0:50–0:51。</a:t>
            </a:r>
            <a:endParaRPr lang="zh-CN" sz="1600"/>
          </a:p>
          <a:p>
            <a:r>
              <a:rPr lang="zh-CN" sz="1600" dirty="0">
                <a:latin typeface="Arial"/>
                <a:ea typeface="Microsoft YaHei"/>
              </a:rPr>
              <a:t>这本 booklet 从 p.9 Alloys 往后她几乎没写，学校教过。所以 Loop 2–4 每一页都要让她自己说，不要老师先讲。</a:t>
            </a:r>
            <a:endParaRPr lang="zh-CN" sz="1600"/>
          </a:p>
          <a:p>
            <a:r>
              <a:rPr lang="zh-CN" sz="1600" dirty="0">
                <a:latin typeface="Arial"/>
                <a:ea typeface="Microsoft YaHei"/>
              </a:rPr>
              <a:t>四段：Loop 1 properties and density，Loop 2 heat treatment and alloys，Loop 3 corrosion，Loop 4 reactions and the reactivity series。</a:t>
            </a:r>
            <a:endParaRPr lang="zh-CN" sz="1600"/>
          </a:p>
          <a:p>
            <a:r>
              <a:rPr lang="zh-CN" sz="1600" dirty="0">
                <a:latin typeface="Arial"/>
                <a:ea typeface="Microsoft YaHei"/>
              </a:rPr>
              <a:t>Say it:</a:t>
            </a:r>
            <a:endParaRPr lang="zh-CN" sz="1600"/>
          </a:p>
          <a:p>
            <a:r>
              <a:rPr lang="zh-CN" sz="1600" dirty="0">
                <a:latin typeface="Arial"/>
                <a:ea typeface="Microsoft YaHei"/>
              </a:rPr>
              <a:t>reactivity = ree-ak-TIV-ih-tee</a:t>
            </a:r>
            <a:endParaRPr lang="zh-CN" sz="1600"/>
          </a:p>
          <a:p>
            <a:r>
              <a:rPr lang="zh-CN" sz="1600" dirty="0">
                <a:latin typeface="Arial"/>
                <a:ea typeface="Microsoft YaHei"/>
              </a:rPr>
              <a:t>alloys = AL-oyz</a:t>
            </a:r>
            <a:endParaRPr lang="zh-CN" sz="1600"/>
          </a:p>
          <a:p>
            <a:r>
              <a:rPr lang="zh-CN" sz="1600" dirty="0">
                <a:latin typeface="Arial"/>
                <a:ea typeface="Microsoft YaHei"/>
              </a:rPr>
              <a:t>corrosion = kuh-ROH-zhun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any two: lustrous, malleable, ductile, sonorous, good conductors of heat and electricity, high melting point</a:t>
            </a:r>
            <a:endParaRPr lang="zh-CN" sz="1600"/>
          </a:p>
          <a:p>
            <a:r>
              <a:rPr lang="zh-CN" sz="1600" dirty="0">
                <a:latin typeface="Arial"/>
                <a:ea typeface="Microsoft YaHei"/>
              </a:rPr>
              <a:t>Q2 iron, nickel, cobalt</a:t>
            </a:r>
            <a:endParaRPr lang="zh-CN" sz="1600"/>
          </a:p>
          <a:p>
            <a:r>
              <a:rPr lang="zh-CN" sz="1600" dirty="0">
                <a:latin typeface="Arial"/>
                <a:ea typeface="Microsoft YaHei"/>
              </a:rPr>
              <a:t>Q3 density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f>
                      <m:fPr>
                        <m:type m:val="bar"/>
                      </m:fPr>
                      <m:num>
                        <m:r>
                          <m:rPr>
                            <m:nor/>
                            <m:sty m:val="p"/>
                          </m:rPr>
                          <a:rPr lang="en-US" sz="1600" i="0">
                            <a:latin typeface="Cambria Math" panose="02040503050406030204" pitchFamily="18" charset="0"/>
                          </a:rPr>
                          <m:t>mass</m:t>
                        </m:r>
                      </m:num>
                      <m:den>
                        <m:r>
                          <m:rPr>
                            <m:nor/>
                            <m:sty m:val="p"/>
                          </m:rPr>
                          <a:rPr lang="en-US" sz="1600" i="0">
                            <a:latin typeface="Cambria Math" panose="02040503050406030204" pitchFamily="18" charset="0"/>
                          </a:rPr>
                          <m:t>volume</m:t>
                        </m:r>
                      </m:den>
                    </m:f>
                  </m:oMath>
                </a14:m>
              </mc:Choice>
              <mc:Fallback>
                <a:r>
                  <a:rPr lang="zh-CN" sz="1600" dirty="0">
                    <a:latin typeface="Arial"/>
                    <a:ea typeface="Microsoft YaHei"/>
                  </a:rPr>
                  <a:t>= \dfracmassvolume</a:t>
                </a:r>
              </mc:Fallback>
            </mc:AlternateContent>
            <a:endParaRPr lang="zh-CN" sz="1600"/>
          </a:p>
          <a:p>
            <a:r>
              <a:rPr lang="zh-CN" sz="1600" dirty="0">
                <a:latin typeface="Arial"/>
                <a:ea typeface="Microsoft YaHei"/>
              </a:rPr>
              <a:t>Q4 liquid</a:t>
            </a:r>
            <a:endParaRPr lang="zh-CN" sz="1600"/>
          </a:p>
          <a:p>
            <a:r>
              <a:rPr lang="zh-CN" sz="1600" dirty="0">
                <a:latin typeface="Arial"/>
                <a:ea typeface="Microsoft YaHei"/>
              </a:rPr>
              <a:t>Q5 annealing</a:t>
            </a:r>
            <a:endParaRPr lang="zh-CN" sz="1600"/>
          </a:p>
          <a:p>
            <a:r>
              <a:rPr lang="zh-CN" sz="1600" dirty="0">
                <a:latin typeface="Arial"/>
                <a:ea typeface="Microsoft YaHei"/>
              </a:rPr>
              <a:t>Short solution:</a:t>
            </a:r>
            <a:endParaRPr lang="zh-CN" sz="1600"/>
          </a:p>
          <a:p>
            <a:r>
              <a:rPr lang="zh-CN" sz="1600" dirty="0">
                <a:latin typeface="Arial"/>
                <a:ea typeface="Microsoft YaHei"/>
              </a:rPr>
              <a:t>Q4 温度高于 melting point 就是 liquid</a:t>
            </a:r>
            <a:endParaRPr lang="zh-CN" sz="1600"/>
          </a:p>
          <a:p>
            <a:r>
              <a:rPr lang="zh-CN" sz="1600" dirty="0">
                <a:latin typeface="Arial"/>
                <a:ea typeface="Microsoft YaHei"/>
              </a:rPr>
              <a:t>Q5 annealing = cool slowly；quenching = cool quickly in cold water</a:t>
            </a:r>
            <a:endParaRPr lang="zh-CN" sz="1600"/>
          </a:p>
          <a:p>
            <a:r>
              <a:rPr lang="zh-CN" sz="1600" dirty="0">
                <a:latin typeface="Arial"/>
                <a:ea typeface="Microsoft YaHei"/>
              </a:rPr>
              <a:t>Watch for:</a:t>
            </a:r>
            <a:endParaRPr lang="zh-CN" sz="1600"/>
          </a:p>
          <a:p>
            <a:r>
              <a:rPr lang="zh-CN" sz="1600" dirty="0">
                <a:latin typeface="Arial"/>
                <a:ea typeface="Microsoft YaHei"/>
              </a:rPr>
              <a:t>Q1 写 “shiny” 可以，但考试更喜欢 lustrous；写 “strong” 不算通用性质</a:t>
            </a:r>
            <a:endParaRPr lang="zh-CN" sz="1600"/>
          </a:p>
          <a:p>
            <a:r>
              <a:rPr lang="zh-CN" sz="1600" dirty="0">
                <a:latin typeface="Arial"/>
                <a:ea typeface="Microsoft YaHei"/>
              </a:rPr>
              <a:t>Q3 写成 mass × volume 是 booklet p.4 她表格里出过的错 (L10)</a:t>
            </a:r>
            <a:endParaRPr lang="zh-CN" sz="1600"/>
          </a:p>
          <a:p>
            <a:r>
              <a:rPr lang="zh-CN" sz="1600" dirty="0">
                <a:latin typeface="Arial"/>
                <a:ea typeface="Microsoft YaHei"/>
              </a:rPr>
              <a:t>Diagnostic:</a:t>
            </a:r>
            <a:endParaRPr lang="zh-CN" sz="1600"/>
          </a:p>
          <a:p>
            <a:r>
              <a:rPr lang="zh-CN" sz="1600" dirty="0">
                <a:latin typeface="Arial"/>
                <a:ea typeface="Microsoft YaHei"/>
              </a:rPr>
              <a:t>Q3 错：Loop 1 的 density 两页要慢讲</a:t>
            </a:r>
            <a:endParaRPr lang="zh-CN" sz="1600"/>
          </a:p>
          <a:p>
            <a:r>
              <a:rPr lang="zh-CN" sz="1600" dirty="0">
                <a:latin typeface="Arial"/>
                <a:ea typeface="Microsoft YaHei"/>
              </a:rPr>
              <a:t>Q5 错：heat treatment 名称不熟，Loop 2 的 Quick review 先做</a:t>
            </a:r>
            <a:endParaRPr lang="zh-CN" sz="1600"/>
          </a:p>
          <a:p>
            <a:r>
              <a:rPr lang="zh-CN" sz="1600" dirty="0">
                <a:latin typeface="Arial"/>
                <a:ea typeface="Microsoft YaHei"/>
              </a:rPr>
              <a:t>Say it:</a:t>
            </a:r>
            <a:endParaRPr lang="zh-CN" sz="1600"/>
          </a:p>
          <a:p>
            <a:r>
              <a:rPr lang="zh-CN" sz="1600" dirty="0">
                <a:latin typeface="Arial"/>
                <a:ea typeface="Microsoft YaHei"/>
              </a:rPr>
              <a:t>malleable = MAL-ee-uh-bul</a:t>
            </a:r>
            <a:endParaRPr lang="zh-CN" sz="1600"/>
          </a:p>
          <a:p>
            <a:r>
              <a:rPr lang="zh-CN" sz="1600" dirty="0">
                <a:latin typeface="Arial"/>
                <a:ea typeface="Microsoft YaHei"/>
              </a:rPr>
              <a:t>ductile = DUK-tile</a:t>
            </a:r>
            <a:endParaRPr lang="zh-CN" sz="1600"/>
          </a:p>
          <a:p>
            <a:r>
              <a:rPr lang="zh-CN" sz="1600" dirty="0">
                <a:latin typeface="Arial"/>
                <a:ea typeface="Microsoft YaHei"/>
              </a:rPr>
              <a:t>lustrous = LUS-trus</a:t>
            </a:r>
            <a:endParaRPr lang="zh-CN" sz="1600"/>
          </a:p>
          <a:p>
            <a:r>
              <a:rPr lang="zh-CN" sz="1600" dirty="0">
                <a:latin typeface="Arial"/>
                <a:ea typeface="Microsoft YaHei"/>
              </a:rPr>
              <a:t>annealing = uh-NEE-ling</a:t>
            </a:r>
            <a:endParaRPr lang="zh-CN" sz="1600"/>
          </a:p>
          <a:p>
            <a:r>
              <a:rPr lang="zh-CN" sz="1600" dirty="0">
                <a:latin typeface="Arial"/>
                <a:ea typeface="Microsoft YaHei"/>
              </a:rPr>
              <a:t>gallium = GAL-ee-um</a:t>
            </a:r>
            <a:endParaRPr lang="zh-CN" sz="1600"/>
          </a:p>
          <a:p>
            <a:r>
              <a:rPr lang="zh-CN" sz="1600" dirty="0">
                <a:latin typeface="Arial"/>
                <a:ea typeface="Microsoft YaHei"/>
              </a:rPr>
              <a:t>sonorous = SON-uh-rus</a:t>
            </a:r>
            <a:endParaRPr lang="zh-CN" sz="1600"/>
          </a:p>
          <a:p>
            <a:r>
              <a:rPr lang="zh-CN" sz="1600" dirty="0">
                <a:latin typeface="Arial"/>
                <a:ea typeface="Microsoft YaHei"/>
              </a:rPr>
              <a:t>quenching = KWEN-ching</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0:54–0:55。</a:t>
            </a:r>
            <a:endParaRPr lang="zh-CN" sz="1600"/>
          </a:p>
          <a:p>
            <a:r>
              <a:rPr lang="zh-CN" sz="1600" dirty="0">
                <a:latin typeface="Arial"/>
                <a:ea typeface="Microsoft YaHei"/>
              </a:rPr>
              <a:t>上排：atoms 怎么排列 → physical properties (malleable, conductor, density) → uses。alloy 也在这一排。</a:t>
            </a:r>
            <a:endParaRPr lang="zh-CN" sz="1600"/>
          </a:p>
          <a:p>
            <a:r>
              <a:rPr lang="zh-CN" sz="1600" dirty="0">
                <a:latin typeface="Arial"/>
                <a:ea typeface="Microsoft YaHei"/>
              </a:rPr>
              <a:t>下排：reactivity → 和 oxygen、water、acid 的反应 → rusting 和怎么保护。</a:t>
            </a:r>
            <a:endParaRPr lang="zh-CN" sz="1600"/>
          </a:p>
          <a:p>
            <a:r>
              <a:rPr lang="zh-CN" sz="1600" dirty="0">
                <a:latin typeface="Arial"/>
                <a:ea typeface="Microsoft YaHei"/>
              </a:rPr>
              <a:t>问她：“为什么 gold 做首饰？” 两排都用到：lustrous (上排) + very unreactive，不会 corrode (下排) 。</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B</a:t>
            </a:r>
            <a:endParaRPr lang="zh-CN" sz="1600"/>
          </a:p>
          <a:p>
            <a:r>
              <a:rPr lang="zh-CN" sz="1600" dirty="0">
                <a:latin typeface="Arial"/>
                <a:ea typeface="Microsoft YaHei"/>
              </a:rPr>
              <a:t>2. D</a:t>
            </a:r>
            <a:endParaRPr lang="zh-CN" sz="1600"/>
          </a:p>
          <a:p>
            <a:r>
              <a:rPr lang="zh-CN" sz="1600" dirty="0">
                <a:latin typeface="Arial"/>
                <a:ea typeface="Microsoft YaHei"/>
              </a:rPr>
              <a:t>3. A</a:t>
            </a:r>
            <a:endParaRPr lang="zh-CN" sz="1600"/>
          </a:p>
          <a:p>
            <a:r>
              <a:rPr lang="zh-CN" sz="1600" dirty="0">
                <a:latin typeface="Arial"/>
                <a:ea typeface="Microsoft YaHei"/>
              </a:rPr>
              <a:t>4. C</a:t>
            </a:r>
            <a:endParaRPr lang="zh-CN" sz="1600"/>
          </a:p>
          <a:p>
            <a:r>
              <a:rPr lang="zh-CN" sz="1600" dirty="0">
                <a:latin typeface="Arial"/>
                <a:ea typeface="Microsoft YaHei"/>
              </a:rPr>
              <a:t>5. E</a:t>
            </a:r>
            <a:endParaRPr lang="zh-CN" sz="1600"/>
          </a:p>
          <a:p>
            <a:r>
              <a:rPr lang="zh-CN" sz="1600" dirty="0">
                <a:latin typeface="Arial"/>
                <a:ea typeface="Microsoft YaHei"/>
              </a:rPr>
              <a:t>Short solution:</a:t>
            </a:r>
            <a:endParaRPr lang="zh-CN" sz="1600"/>
          </a:p>
          <a:p>
            <a:r>
              <a:rPr lang="zh-CN" sz="1600" dirty="0">
                <a:latin typeface="Arial"/>
                <a:ea typeface="Microsoft YaHei"/>
              </a:rPr>
              <a:t>记法：malleable 像 mallet (锤子) ；ductile 像 duct (管子、拉长)</a:t>
            </a:r>
            <a:endParaRPr lang="zh-CN" sz="1600"/>
          </a:p>
          <a:p>
            <a:r>
              <a:rPr lang="zh-CN" sz="1600" dirty="0">
                <a:latin typeface="Arial"/>
                <a:ea typeface="Microsoft YaHei"/>
              </a:rPr>
              <a:t>Watch for:</a:t>
            </a:r>
            <a:endParaRPr lang="zh-CN" sz="1600"/>
          </a:p>
          <a:p>
            <a:r>
              <a:rPr lang="zh-CN" sz="1600" dirty="0">
                <a:latin typeface="Arial"/>
                <a:ea typeface="Microsoft YaHei"/>
              </a:rPr>
              <a:t>1. 拼写：两个 l，-eable 结尾 (malleable)</a:t>
            </a:r>
            <a:endParaRPr lang="zh-CN" sz="1600"/>
          </a:p>
          <a:p>
            <a:r>
              <a:rPr lang="zh-CN" sz="1600" dirty="0">
                <a:latin typeface="Arial"/>
                <a:ea typeface="Microsoft YaHei"/>
              </a:rPr>
              <a:t>4. sonorous 只有一个 n 在开头</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0:57–0:59。</a:t>
            </a:r>
            <a:endParaRPr lang="zh-CN" sz="1600"/>
          </a:p>
          <a:p>
            <a:r>
              <a:rPr lang="zh-CN" sz="1600" dirty="0">
                <a:latin typeface="Arial"/>
                <a:ea typeface="Microsoft YaHei"/>
              </a:rPr>
              <a:t>(a) W：strength high，melting point high</a:t>
            </a:r>
            <a:endParaRPr lang="zh-CN" sz="1600"/>
          </a:p>
          <a:p>
            <a:r>
              <a:rPr lang="zh-CN" sz="1600" dirty="0">
                <a:latin typeface="Arial"/>
                <a:ea typeface="Microsoft YaHei"/>
              </a:rPr>
              <a:t>(b) Y：electrical conductivity very high</a:t>
            </a:r>
            <a:endParaRPr lang="zh-CN" sz="1600"/>
          </a:p>
          <a:p>
            <a:r>
              <a:rPr lang="zh-CN" sz="1600" dirty="0">
                <a:latin typeface="Arial"/>
                <a:ea typeface="Microsoft YaHei"/>
              </a:rPr>
              <a:t>(c) X：conductivity high and density low (2.7)，所以 light</a:t>
            </a:r>
            <a:endParaRPr lang="zh-CN" sz="1600"/>
          </a:p>
          <a:p>
            <a:r>
              <a:rPr lang="zh-CN" sz="1600" dirty="0">
                <a:latin typeface="Arial"/>
                <a:ea typeface="Microsoft YaHei"/>
              </a:rPr>
              <a:t>(d) X 和 Z：melting point 都低于 800 ° C</a:t>
            </a:r>
            <a:endParaRPr lang="zh-CN" sz="1600"/>
          </a:p>
          <a:p>
            <a:r>
              <a:rPr lang="zh-CN" sz="1600" dirty="0">
                <a:latin typeface="Arial"/>
                <a:ea typeface="Microsoft YaHei"/>
              </a:rPr>
              <a:t>这一页先只说选哪个，下一页再练怎么写理由。</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0:59–1:01。</a:t>
            </a:r>
            <a:endParaRPr lang="zh-CN" sz="1600"/>
          </a:p>
          <a:p>
            <a:r>
              <a:rPr lang="zh-CN" sz="1600" dirty="0">
                <a:latin typeface="Arial"/>
                <a:ea typeface="Microsoft YaHei"/>
              </a:rPr>
              <a:t>E 级范例：I choose X because it has a high electrical conductivity and a low density of 2.7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A light cable puts less weight on the pylons and does not sag. Y conducts even better, but its density is 8.9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more than three times heavier.</a:t>
            </a:r>
            <a:endParaRPr lang="zh-CN" sz="1600"/>
          </a:p>
          <a:p>
            <a:r>
              <a:rPr lang="zh-CN" sz="1600" dirty="0">
                <a:latin typeface="Arial"/>
                <a:ea typeface="Microsoft YaHei"/>
              </a:rPr>
              <a:t>她 booklet p.6 第 5 题写 “Copper, good conductivity and won't burn you to death”：有 property，但没有 “为什么这个 property 重要”，也没有对比，只有 A (L12)。</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1:01–1:03。</a:t>
            </a:r>
            <a:endParaRPr lang="zh-CN" sz="1600"/>
          </a:p>
          <a:p>
            <a:r>
              <a:rPr lang="zh-CN" sz="1600" dirty="0">
                <a:latin typeface="Arial"/>
                <a:ea typeface="Microsoft YaHei"/>
              </a:rPr>
              <a:t>空格：mass / volume；g/mL；length × width × height；displacement。</a:t>
            </a:r>
            <a:endParaRPr lang="zh-CN" sz="1600"/>
          </a:p>
          <a:p>
            <a:r>
              <a:rPr lang="zh-CN" sz="1600" dirty="0">
                <a:latin typeface="Arial"/>
                <a:ea typeface="Microsoft YaHei"/>
              </a:rPr>
              <a:t>问题答案：29 − 22 = 7 mL (读刻度：before 22 mL，after 29 mL) 。</a:t>
            </a:r>
            <a:endParaRPr lang="zh-CN" sz="1600"/>
          </a:p>
          <a:p>
            <a:r>
              <a:rPr lang="zh-CN" sz="1600" dirty="0">
                <a:latin typeface="Arial"/>
                <a:ea typeface="Microsoft YaHei"/>
              </a:rPr>
              <a:t>1 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 1 mL，所以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和 g/mL 是同一个单位。</a:t>
            </a:r>
            <a:endParaRPr lang="zh-CN" sz="1600"/>
          </a:p>
          <a:p>
            <a:r>
              <a:rPr lang="zh-CN" sz="1600" dirty="0">
                <a:latin typeface="Arial"/>
                <a:ea typeface="Microsoft YaHei"/>
              </a:rPr>
              <a:t>Say it:</a:t>
            </a:r>
            <a:endParaRPr lang="zh-CN" sz="1600"/>
          </a:p>
          <a:p>
            <a:r>
              <a:rPr lang="zh-CN" sz="1600" dirty="0">
                <a:latin typeface="Arial"/>
                <a:ea typeface="Microsoft YaHei"/>
              </a:rPr>
              <a:t>displacement = dis-PLAYS-ment</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1:03–1:04。</a:t>
            </a:r>
            <a:endParaRPr lang="zh-CN" sz="1600"/>
          </a:p>
          <a:p>
            <a:r>
              <a:rPr lang="zh-CN" sz="1600" dirty="0">
                <a:latin typeface="Arial"/>
                <a:ea typeface="Microsoft YaHei"/>
              </a:rPr>
              <a:t>Step 1：</a:t>
            </a:r>
            <mc:AlternateContent xmlns:mc="http://schemas.openxmlformats.org/markup-compatibility/2006">
              <mc:Choice xmlns:a14="http://schemas.microsoft.com/office/drawing/2010/main" Requires="a14">
                <a14:m>
                  <m:oMath xmlns:m="http://schemas.openxmlformats.org/officeDocument/2006/math">
                    <m:r>
                      <a:rPr lang="en-US" sz="1600" i="0">
                        <a:latin typeface="Cambria Math" panose="02040503050406030204" pitchFamily="18" charset="0"/>
                      </a:rPr>
                      <m:t>33.0</m:t>
                    </m:r>
                    <m:r>
                      <m:rPr>
                        <m:sty m:val="p"/>
                      </m:rPr>
                      <a:rPr lang="en-US" sz="1600" i="0">
                        <a:latin typeface="Cambria Math" panose="02040503050406030204" pitchFamily="18" charset="0"/>
                      </a:rPr>
                      <m:t>−</m:t>
                    </m:r>
                    <m:r>
                      <a:rPr lang="en-US" sz="1600" i="0">
                        <a:latin typeface="Cambria Math" panose="02040503050406030204" pitchFamily="18" charset="0"/>
                      </a:rPr>
                      <m:t>30.0</m:t>
                    </m:r>
                    <m:r>
                      <m:rPr>
                        <m:sty m:val="p"/>
                      </m:rPr>
                      <a:rPr lang="en-US" sz="1600" i="0">
                        <a:latin typeface="Cambria Math" panose="02040503050406030204" pitchFamily="18" charset="0"/>
                      </a:rPr>
                      <m:t>=</m:t>
                    </m:r>
                    <m:r>
                      <a:rPr lang="en-US" sz="1600" i="0">
                        <a:latin typeface="Cambria Math" panose="02040503050406030204" pitchFamily="18" charset="0"/>
                      </a:rPr>
                      <m:t>3.0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oMath>
                </a14:m>
              </mc:Choice>
              <mc:Fallback>
                <a:r>
                  <a:rPr lang="zh-CN" sz="1600" dirty="0">
                    <a:latin typeface="Arial"/>
                    <a:ea typeface="Microsoft YaHei"/>
                  </a:rPr>
                  <a:t>33.0 - 30.0 = 3.0 mL</a:t>
                </a:r>
              </mc:Fallback>
            </mc:AlternateContent>
            <a:endParaRPr lang="zh-CN" sz="1600"/>
          </a:p>
          <a:p>
            <a:r>
              <a:rPr lang="zh-CN" sz="1600" dirty="0">
                <a:latin typeface="Arial"/>
                <a:ea typeface="Microsoft YaHei"/>
              </a:rPr>
              <a:t>Step 2：</a:t>
            </a:r>
            <mc:AlternateContent xmlns:mc="http://schemas.openxmlformats.org/markup-compatibility/2006">
              <mc:Choice xmlns:a14="http://schemas.microsoft.com/office/drawing/2010/main" Requires="a14">
                <a14:m>
                  <m:oMath xmlns:m="http://schemas.openxmlformats.org/officeDocument/2006/math">
                    <m:f>
                      <m:fPr>
                        <m:type m:val="bar"/>
                      </m:fPr>
                      <m:num>
                        <m:r>
                          <a:rPr lang="en-US" sz="1600" i="0">
                            <a:latin typeface="Cambria Math" panose="02040503050406030204" pitchFamily="18" charset="0"/>
                          </a:rPr>
                          <m:t>25.5</m:t>
                        </m:r>
                        <m:r>
                          <a:rPr lang="en-US" sz="1600" i="0">
                            <a:latin typeface="Cambria Math" panose="02040503050406030204" pitchFamily="18" charset="0"/>
                          </a:rPr>
                          <m:t> </m:t>
                        </m:r>
                        <m:r>
                          <m:rPr>
                            <m:sty m:val="p"/>
                          </m:rPr>
                          <a:rPr lang="en-US" sz="1600" i="0">
                            <a:latin typeface="Cambria Math" panose="02040503050406030204" pitchFamily="18" charset="0"/>
                          </a:rPr>
                          <m:t>g</m:t>
                        </m:r>
                      </m:num>
                      <m:den>
                        <m:r>
                          <a:rPr lang="en-US" sz="1600" i="0">
                            <a:latin typeface="Cambria Math" panose="02040503050406030204" pitchFamily="18" charset="0"/>
                          </a:rPr>
                          <m:t>3.0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den>
                    </m:f>
                  </m:oMath>
                </a14:m>
              </mc:Choice>
              <mc:Fallback>
                <a:r>
                  <a:rPr lang="zh-CN" sz="1600" dirty="0">
                    <a:latin typeface="Arial"/>
                    <a:ea typeface="Microsoft YaHei"/>
                  </a:rPr>
                  <a:t>\dfrac25.5 g3.0 mL</a:t>
                </a:r>
              </mc:Fallback>
            </mc:AlternateContent>
            <a:endParaRPr lang="zh-CN" sz="1600"/>
          </a:p>
          <a:p>
            <a:r>
              <a:rPr lang="zh-CN" sz="1600" dirty="0">
                <a:latin typeface="Arial"/>
                <a:ea typeface="Microsoft YaHei"/>
              </a:rPr>
              <a:t>Step 3：8.5 g/mL</a:t>
            </a:r>
            <a:endParaRPr lang="zh-CN" sz="1600"/>
          </a:p>
          <a:p>
            <a:r>
              <a:rPr lang="zh-CN" sz="1600" dirty="0">
                <a:latin typeface="Arial"/>
                <a:ea typeface="Microsoft YaHei"/>
              </a:rPr>
              <a:t>L11：volume 是两次读数的差，不是最后的读数。L10：除法，单位 g/mL。</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volume = 25.0 − 20.0 = 5.0 mL, not 25.0 mL (L11)</a:t>
            </a:r>
            <a:endParaRPr lang="zh-CN" sz="1600"/>
          </a:p>
          <a:p>
            <a:r>
              <a:rPr lang="zh-CN" sz="1600" dirty="0">
                <a:latin typeface="Arial"/>
                <a:ea typeface="Microsoft YaHei"/>
              </a:rPr>
              <a:t>2. density = mass divided by volume, not multiplied (L10)</a:t>
            </a:r>
            <a:endParaRPr lang="zh-CN" sz="1600"/>
          </a:p>
          <a:p>
            <a:r>
              <a:rPr lang="zh-CN" sz="1600" dirty="0">
                <a:latin typeface="Arial"/>
                <a:ea typeface="Microsoft YaHei"/>
              </a:rPr>
              <a:t>3. the unit is g/mL, not g (L10)</a:t>
            </a:r>
            <a:endParaRPr lang="zh-CN" sz="1600"/>
          </a:p>
          <a:p>
            <a:r>
              <a:rPr lang="zh-CN" sz="1600" dirty="0">
                <a:latin typeface="Arial"/>
                <a:ea typeface="Microsoft YaHei"/>
              </a:rPr>
              <a:t>Short solution:</a:t>
            </a:r>
            <a:endParaRPr lang="zh-CN" sz="1600"/>
          </a:p>
          <a:p>
            <a:r>
              <a:rPr lang="zh-CN" sz="1600" dirty="0">
                <a:latin typeface="Arial"/>
                <a:ea typeface="Microsoft YaHei"/>
              </a:rPr>
              <a:t>volume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r>
                      <a:rPr lang="en-US" sz="1600" i="0">
                        <a:latin typeface="Cambria Math" panose="02040503050406030204" pitchFamily="18" charset="0"/>
                      </a:rPr>
                      <m:t>25.0</m:t>
                    </m:r>
                    <m:r>
                      <m:rPr>
                        <m:sty m:val="p"/>
                      </m:rPr>
                      <a:rPr lang="en-US" sz="1600" i="0">
                        <a:latin typeface="Cambria Math" panose="02040503050406030204" pitchFamily="18" charset="0"/>
                      </a:rPr>
                      <m:t>−</m:t>
                    </m:r>
                    <m:r>
                      <a:rPr lang="en-US" sz="1600" i="0">
                        <a:latin typeface="Cambria Math" panose="02040503050406030204" pitchFamily="18" charset="0"/>
                      </a:rPr>
                      <m:t>20.0</m:t>
                    </m:r>
                    <m:r>
                      <m:rPr>
                        <m:sty m:val="p"/>
                      </m:rPr>
                      <a:rPr lang="en-US" sz="1600" i="0">
                        <a:latin typeface="Cambria Math" panose="02040503050406030204" pitchFamily="18" charset="0"/>
                      </a:rPr>
                      <m:t>=</m:t>
                    </m:r>
                    <m:r>
                      <a:rPr lang="en-US" sz="1600" i="0">
                        <a:latin typeface="Cambria Math" panose="02040503050406030204" pitchFamily="18" charset="0"/>
                      </a:rPr>
                      <m:t>5.0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oMath>
                </a14:m>
              </mc:Choice>
              <mc:Fallback>
                <a:r>
                  <a:rPr lang="zh-CN" sz="1600" dirty="0">
                    <a:latin typeface="Arial"/>
                    <a:ea typeface="Microsoft YaHei"/>
                  </a:rPr>
                  <a:t>= 25.0 - 20.0 = 5.0 mL</a:t>
                </a:r>
              </mc:Fallback>
            </mc:AlternateContent>
            <a:r>
              <a:rPr lang="zh-CN" sz="1600" dirty="0">
                <a:latin typeface="Arial"/>
                <a:ea typeface="Microsoft YaHei"/>
              </a:rPr>
              <a:t>；density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f>
                      <m:fPr>
                        <m:type m:val="bar"/>
                      </m:fPr>
                      <m:num>
                        <m:r>
                          <a:rPr lang="en-US" sz="1600" i="0">
                            <a:latin typeface="Cambria Math" panose="02040503050406030204" pitchFamily="18" charset="0"/>
                          </a:rPr>
                          <m:t>39.5</m:t>
                        </m:r>
                        <m:r>
                          <a:rPr lang="en-US" sz="1600" i="0">
                            <a:latin typeface="Cambria Math" panose="02040503050406030204" pitchFamily="18" charset="0"/>
                          </a:rPr>
                          <m:t> </m:t>
                        </m:r>
                        <m:r>
                          <m:rPr>
                            <m:sty m:val="p"/>
                          </m:rPr>
                          <a:rPr lang="en-US" sz="1600" i="0">
                            <a:latin typeface="Cambria Math" panose="02040503050406030204" pitchFamily="18" charset="0"/>
                          </a:rPr>
                          <m:t>g</m:t>
                        </m:r>
                      </m:num>
                      <m:den>
                        <m:r>
                          <a:rPr lang="en-US" sz="1600" i="0">
                            <a:latin typeface="Cambria Math" panose="02040503050406030204" pitchFamily="18" charset="0"/>
                          </a:rPr>
                          <m:t>5.0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den>
                    </m:f>
                    <m:r>
                      <m:rPr>
                        <m:sty m:val="p"/>
                      </m:rPr>
                      <a:rPr lang="en-US" sz="1600" i="0">
                        <a:latin typeface="Cambria Math" panose="02040503050406030204" pitchFamily="18" charset="0"/>
                      </a:rPr>
                      <m:t>=</m:t>
                    </m:r>
                    <m:r>
                      <a:rPr lang="en-US" sz="1600" i="0">
                        <a:latin typeface="Cambria Math" panose="02040503050406030204" pitchFamily="18" charset="0"/>
                      </a:rPr>
                      <m:t>7.9</m:t>
                    </m:r>
                  </m:oMath>
                </a14:m>
              </mc:Choice>
              <mc:Fallback>
                <a:r>
                  <a:rPr lang="zh-CN" sz="1600" dirty="0">
                    <a:latin typeface="Arial"/>
                    <a:ea typeface="Microsoft YaHei"/>
                  </a:rPr>
                  <a:t>= \dfrac39.5 g5.0 mL = 7.9</a:t>
                </a:r>
              </mc:Fallback>
            </mc:AlternateContent>
            <a:r>
              <a:rPr lang="zh-CN" sz="1600" dirty="0">
                <a:latin typeface="Arial"/>
                <a:ea typeface="Microsoft YaHei"/>
              </a:rPr>
              <a:t> g/mL (和 booklet p.6 表里的 iron 一样)</a:t>
            </a:r>
            <a:endParaRPr lang="zh-CN" sz="1600"/>
          </a:p>
          <a:p>
            <a:r>
              <a:rPr lang="zh-CN" sz="1600" dirty="0">
                <a:latin typeface="Arial"/>
                <a:ea typeface="Microsoft YaHei"/>
              </a:rPr>
              <a:t>Watch for:</a:t>
            </a:r>
            <a:endParaRPr lang="zh-CN" sz="1600"/>
          </a:p>
          <a:p>
            <a:r>
              <a:rPr lang="zh-CN" sz="1600" dirty="0">
                <a:latin typeface="Arial"/>
                <a:ea typeface="Microsoft YaHei"/>
              </a:rPr>
              <a:t>她 booklet p.4 最后一行也是乘了 (16.55 g 和 2 cm 得出 33.25) ，体积单位还写成 cm。答案 987.5 明显不合理，要养成检查 “是否合理” 的习惯。</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5.4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endParaRPr lang="zh-CN" sz="1600"/>
          </a:p>
          <a:p>
            <a:r>
              <a:rPr lang="zh-CN" sz="1600" dirty="0">
                <a:latin typeface="Arial"/>
                <a:ea typeface="Microsoft YaHei"/>
              </a:rPr>
              <a:t>Q2 silver (10.5 g/mL)</a:t>
            </a:r>
            <a:endParaRPr lang="zh-CN" sz="1600"/>
          </a:p>
          <a:p>
            <a:r>
              <a:rPr lang="zh-CN" sz="1600" dirty="0">
                <a:latin typeface="Arial"/>
                <a:ea typeface="Microsoft YaHei"/>
              </a:rPr>
              <a:t>Q3 copper is almost as good a conductor as silver, is much cheaper, and is ductile, so it can be drawn into wires</a:t>
            </a:r>
            <a:endParaRPr lang="zh-CN" sz="1600"/>
          </a:p>
          <a:p>
            <a:r>
              <a:rPr lang="zh-CN" sz="1600" dirty="0">
                <a:latin typeface="Arial"/>
                <a:ea typeface="Microsoft YaHei"/>
              </a:rPr>
              <a:t>Short solution:</a:t>
            </a:r>
            <a:endParaRPr lang="zh-CN" sz="1600"/>
          </a:p>
          <a:p>
            <a:r>
              <a:rPr lang="zh-CN" sz="1600" dirty="0">
                <a:latin typeface="Arial"/>
                <a:ea typeface="Microsoft YaHei"/>
              </a:rPr>
              <a:t>Q1 volume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r>
                      <a:rPr lang="en-US" sz="1600" i="0">
                        <a:latin typeface="Cambria Math" panose="02040503050406030204" pitchFamily="18" charset="0"/>
                      </a:rPr>
                      <m:t>2.0</m:t>
                    </m:r>
                    <m:r>
                      <m:rPr>
                        <m:sty m:val="p"/>
                      </m:rPr>
                      <a:rPr lang="en-US" sz="1600" i="0">
                        <a:latin typeface="Cambria Math" panose="02040503050406030204" pitchFamily="18" charset="0"/>
                      </a:rPr>
                      <m:t>×</m:t>
                    </m:r>
                    <m:r>
                      <a:rPr lang="en-US" sz="1600" i="0">
                        <a:latin typeface="Cambria Math" panose="02040503050406030204" pitchFamily="18" charset="0"/>
                      </a:rPr>
                      <m:t>2.0</m:t>
                    </m:r>
                    <m:r>
                      <m:rPr>
                        <m:sty m:val="p"/>
                      </m:rPr>
                      <a:rPr lang="en-US" sz="1600" i="0">
                        <a:latin typeface="Cambria Math" panose="02040503050406030204" pitchFamily="18" charset="0"/>
                      </a:rPr>
                      <m:t>×</m:t>
                    </m:r>
                    <m:r>
                      <a:rPr lang="en-US" sz="1600" i="0">
                        <a:latin typeface="Cambria Math" panose="02040503050406030204" pitchFamily="18" charset="0"/>
                      </a:rPr>
                      <m:t>3.0</m:t>
                    </m:r>
                    <m:r>
                      <m:rPr>
                        <m:sty m:val="p"/>
                      </m:rPr>
                      <a:rPr lang="en-US" sz="1600" i="0">
                        <a:latin typeface="Cambria Math" panose="02040503050406030204" pitchFamily="18" charset="0"/>
                      </a:rPr>
                      <m:t>=</m:t>
                    </m:r>
                    <m:r>
                      <a:rPr lang="en-US" sz="1600" i="0">
                        <a:latin typeface="Cambria Math" panose="02040503050406030204" pitchFamily="18" charset="0"/>
                      </a:rPr>
                      <m:t>12.0</m:t>
                    </m:r>
                    <m:r>
                      <a:rPr lang="en-US" sz="1600" i="0">
                        <a:latin typeface="Cambria Math" panose="02040503050406030204" pitchFamily="18" charset="0"/>
                      </a:rPr>
                      <m:t> </m:t>
                    </m:r>
                    <m:r>
                      <m:rPr>
                        <m:sty m:val="p"/>
                      </m:rPr>
                      <a:rPr lang="en-US" sz="1600" i="0">
                        <a:latin typeface="Cambria Math" panose="02040503050406030204" pitchFamily="18" charset="0"/>
                      </a:rPr>
                      <m:t>c</m:t>
                    </m:r>
                    <m:sSup>
                      <m:e>
                        <m:r>
                          <m:rPr>
                            <m:sty m:val="p"/>
                          </m:rPr>
                          <a:rPr lang="en-US" sz="1600" i="0">
                            <a:latin typeface="Cambria Math" panose="02040503050406030204" pitchFamily="18" charset="0"/>
                          </a:rPr>
                          <m:t>m</m:t>
                        </m:r>
                      </m:e>
                      <m:sup>
                        <m:r>
                          <m:rPr>
                            <m:sty m:val="p"/>
                          </m:rPr>
                          <a:rPr lang="en-US" sz="1600" i="0">
                            <a:latin typeface="Cambria Math" panose="02040503050406030204" pitchFamily="18" charset="0"/>
                          </a:rPr>
                          <m:t>3</m:t>
                        </m:r>
                      </m:sup>
                    </m:sSup>
                  </m:oMath>
                </a14:m>
              </mc:Choice>
              <mc:Fallback>
                <a:r>
                  <a:rPr lang="zh-CN" sz="1600" dirty="0">
                    <a:latin typeface="Arial"/>
                    <a:ea typeface="Microsoft YaHei"/>
                  </a:rPr>
                  <a:t>= 2.0 × 2.0 × 3.0 = 12.0 \mathrmcm^3</a:t>
                </a:r>
              </mc:Fallback>
            </mc:AlternateContent>
            <a:r>
              <a:rPr lang="zh-CN" sz="1600" dirty="0">
                <a:latin typeface="Arial"/>
                <a:ea typeface="Microsoft YaHei"/>
              </a:rPr>
              <a:t>；density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f>
                      <m:fPr>
                        <m:type m:val="bar"/>
                      </m:fPr>
                      <m:num>
                        <m:r>
                          <a:rPr lang="en-US" sz="1600" i="0">
                            <a:latin typeface="Cambria Math" panose="02040503050406030204" pitchFamily="18" charset="0"/>
                          </a:rPr>
                          <m:t>64.8</m:t>
                        </m:r>
                        <m:r>
                          <a:rPr lang="en-US" sz="1600" i="0">
                            <a:latin typeface="Cambria Math" panose="02040503050406030204" pitchFamily="18" charset="0"/>
                          </a:rPr>
                          <m:t> </m:t>
                        </m:r>
                        <m:r>
                          <m:rPr>
                            <m:sty m:val="p"/>
                          </m:rPr>
                          <a:rPr lang="en-US" sz="1600" i="0">
                            <a:latin typeface="Cambria Math" panose="02040503050406030204" pitchFamily="18" charset="0"/>
                          </a:rPr>
                          <m:t>g</m:t>
                        </m:r>
                      </m:num>
                      <m:den>
                        <m:r>
                          <a:rPr lang="en-US" sz="1600" i="0">
                            <a:latin typeface="Cambria Math" panose="02040503050406030204" pitchFamily="18" charset="0"/>
                          </a:rPr>
                          <m:t>12.0</m:t>
                        </m:r>
                        <m:r>
                          <a:rPr lang="en-US" sz="1600" i="0">
                            <a:latin typeface="Cambria Math" panose="02040503050406030204" pitchFamily="18" charset="0"/>
                          </a:rPr>
                          <m:t> </m:t>
                        </m:r>
                        <m:r>
                          <m:rPr>
                            <m:sty m:val="p"/>
                          </m:rPr>
                          <a:rPr lang="en-US" sz="1600" i="0">
                            <a:latin typeface="Cambria Math" panose="02040503050406030204" pitchFamily="18" charset="0"/>
                          </a:rPr>
                          <m:t>c</m:t>
                        </m:r>
                        <m:sSup>
                          <m:e>
                            <m:r>
                              <m:rPr>
                                <m:sty m:val="p"/>
                              </m:rPr>
                              <a:rPr lang="en-US" sz="1600" i="0">
                                <a:latin typeface="Cambria Math" panose="02040503050406030204" pitchFamily="18" charset="0"/>
                              </a:rPr>
                              <m:t>m</m:t>
                            </m:r>
                          </m:e>
                          <m:sup>
                            <m:r>
                              <m:rPr>
                                <m:sty m:val="p"/>
                              </m:rPr>
                              <a:rPr lang="en-US" sz="1600" i="0">
                                <a:latin typeface="Cambria Math" panose="02040503050406030204" pitchFamily="18" charset="0"/>
                              </a:rPr>
                              <m:t>3</m:t>
                            </m:r>
                          </m:sup>
                        </m:sSup>
                      </m:den>
                    </m:f>
                    <m:r>
                      <m:rPr>
                        <m:sty m:val="p"/>
                      </m:rPr>
                      <a:rPr lang="en-US" sz="1600" i="0">
                        <a:latin typeface="Cambria Math" panose="02040503050406030204" pitchFamily="18" charset="0"/>
                      </a:rPr>
                      <m:t>=</m:t>
                    </m:r>
                    <m:r>
                      <a:rPr lang="en-US" sz="1600" i="0">
                        <a:latin typeface="Cambria Math" panose="02040503050406030204" pitchFamily="18" charset="0"/>
                      </a:rPr>
                      <m:t>5.4</m:t>
                    </m:r>
                  </m:oMath>
                </a14:m>
              </mc:Choice>
              <mc:Fallback>
                <a:r>
                  <a:rPr lang="zh-CN" sz="1600" dirty="0">
                    <a:latin typeface="Arial"/>
                    <a:ea typeface="Microsoft YaHei"/>
                  </a:rPr>
                  <a:t>= \dfrac64.8 g12.0 \mathrmcm^3 = 5.4</a:t>
                </a:r>
              </mc:Fallback>
            </mc:AlternateContent>
            <a:r>
              <a:rPr lang="zh-CN" sz="1600" dirty="0">
                <a:latin typeface="Arial"/>
                <a:ea typeface="Microsoft YaHei"/>
              </a:rPr>
              <a:t>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endParaRPr lang="zh-CN" sz="1600"/>
          </a:p>
          <a:p>
            <a:r>
              <a:rPr lang="zh-CN" sz="1600" dirty="0">
                <a:latin typeface="Arial"/>
                <a:ea typeface="Microsoft YaHei"/>
              </a:rPr>
              <a:t>Q2 volume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r>
                      <a:rPr lang="en-US" sz="1600" i="0">
                        <a:latin typeface="Cambria Math" panose="02040503050406030204" pitchFamily="18" charset="0"/>
                      </a:rPr>
                      <m:t>43.0</m:t>
                    </m:r>
                    <m:r>
                      <m:rPr>
                        <m:sty m:val="p"/>
                      </m:rPr>
                      <a:rPr lang="en-US" sz="1600" i="0">
                        <a:latin typeface="Cambria Math" panose="02040503050406030204" pitchFamily="18" charset="0"/>
                      </a:rPr>
                      <m:t>−</m:t>
                    </m:r>
                    <m:r>
                      <a:rPr lang="en-US" sz="1600" i="0">
                        <a:latin typeface="Cambria Math" panose="02040503050406030204" pitchFamily="18" charset="0"/>
                      </a:rPr>
                      <m:t>40.0</m:t>
                    </m:r>
                    <m:r>
                      <m:rPr>
                        <m:sty m:val="p"/>
                      </m:rPr>
                      <a:rPr lang="en-US" sz="1600" i="0">
                        <a:latin typeface="Cambria Math" panose="02040503050406030204" pitchFamily="18" charset="0"/>
                      </a:rPr>
                      <m:t>=</m:t>
                    </m:r>
                    <m:r>
                      <a:rPr lang="en-US" sz="1600" i="0">
                        <a:latin typeface="Cambria Math" panose="02040503050406030204" pitchFamily="18" charset="0"/>
                      </a:rPr>
                      <m:t>3.0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oMath>
                </a14:m>
              </mc:Choice>
              <mc:Fallback>
                <a:r>
                  <a:rPr lang="zh-CN" sz="1600" dirty="0">
                    <a:latin typeface="Arial"/>
                    <a:ea typeface="Microsoft YaHei"/>
                  </a:rPr>
                  <a:t>= 43.0 - 40.0 = 3.0 mL</a:t>
                </a:r>
              </mc:Fallback>
            </mc:AlternateContent>
            <a:r>
              <a:rPr lang="zh-CN" sz="1600" dirty="0">
                <a:latin typeface="Arial"/>
                <a:ea typeface="Microsoft YaHei"/>
              </a:rPr>
              <a:t>；density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f>
                      <m:fPr>
                        <m:type m:val="bar"/>
                      </m:fPr>
                      <m:num>
                        <m:r>
                          <a:rPr lang="en-US" sz="1600" i="0">
                            <a:latin typeface="Cambria Math" panose="02040503050406030204" pitchFamily="18" charset="0"/>
                          </a:rPr>
                          <m:t>31.5</m:t>
                        </m:r>
                        <m:r>
                          <a:rPr lang="en-US" sz="1600" i="0">
                            <a:latin typeface="Cambria Math" panose="02040503050406030204" pitchFamily="18" charset="0"/>
                          </a:rPr>
                          <m:t> </m:t>
                        </m:r>
                        <m:r>
                          <m:rPr>
                            <m:sty m:val="p"/>
                          </m:rPr>
                          <a:rPr lang="en-US" sz="1600" i="0">
                            <a:latin typeface="Cambria Math" panose="02040503050406030204" pitchFamily="18" charset="0"/>
                          </a:rPr>
                          <m:t>g</m:t>
                        </m:r>
                      </m:num>
                      <m:den>
                        <m:r>
                          <a:rPr lang="en-US" sz="1600" i="0">
                            <a:latin typeface="Cambria Math" panose="02040503050406030204" pitchFamily="18" charset="0"/>
                          </a:rPr>
                          <m:t>3.0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den>
                    </m:f>
                    <m:r>
                      <m:rPr>
                        <m:sty m:val="p"/>
                      </m:rPr>
                      <a:rPr lang="en-US" sz="1600" i="0">
                        <a:latin typeface="Cambria Math" panose="02040503050406030204" pitchFamily="18" charset="0"/>
                      </a:rPr>
                      <m:t>=</m:t>
                    </m:r>
                    <m:r>
                      <a:rPr lang="en-US" sz="1600" i="0">
                        <a:latin typeface="Cambria Math" panose="02040503050406030204" pitchFamily="18" charset="0"/>
                      </a:rPr>
                      <m:t>10.5</m:t>
                    </m:r>
                  </m:oMath>
                </a14:m>
              </mc:Choice>
              <mc:Fallback>
                <a:r>
                  <a:rPr lang="zh-CN" sz="1600" dirty="0">
                    <a:latin typeface="Arial"/>
                    <a:ea typeface="Microsoft YaHei"/>
                  </a:rPr>
                  <a:t>= \dfrac31.5 g3.0 mL = 10.5</a:t>
                </a:r>
              </mc:Fallback>
            </mc:AlternateContent>
            <a:r>
              <a:rPr lang="zh-CN" sz="1600" dirty="0">
                <a:latin typeface="Arial"/>
                <a:ea typeface="Microsoft YaHei"/>
              </a:rPr>
              <a:t> g/mL，对表得 silver</a:t>
            </a:r>
            <a:endParaRPr lang="zh-CN" sz="1600"/>
          </a:p>
          <a:p>
            <a:r>
              <a:rPr lang="zh-CN" sz="1600" dirty="0">
                <a:latin typeface="Arial"/>
                <a:ea typeface="Microsoft YaHei"/>
              </a:rPr>
              <a:t>Q3 E 要有对比：booklet p.6 的数据 silver 60、copper 50，差别不大，但 silver 是贵金属</a:t>
            </a:r>
            <a:endParaRPr lang="zh-CN" sz="1600"/>
          </a:p>
          <a:p>
            <a:r>
              <a:rPr lang="zh-CN" sz="1600" dirty="0">
                <a:latin typeface="Arial"/>
                <a:ea typeface="Microsoft YaHei"/>
              </a:rPr>
              <a:t>Watch for:</a:t>
            </a:r>
            <a:endParaRPr lang="zh-CN" sz="1600"/>
          </a:p>
          <a:p>
            <a:r>
              <a:rPr lang="zh-CN" sz="1600" dirty="0">
                <a:latin typeface="Arial"/>
                <a:ea typeface="Microsoft YaHei"/>
              </a:rPr>
              <a:t>Q2 先减读数再除，答案要和表对上才算数</a:t>
            </a:r>
            <a:endParaRPr lang="zh-CN" sz="1600"/>
          </a:p>
          <a:p>
            <a:r>
              <a:rPr lang="zh-CN" sz="1600" dirty="0">
                <a:latin typeface="Arial"/>
                <a:ea typeface="Microsoft YaHei"/>
              </a:rPr>
              <a:t>Say it:</a:t>
            </a:r>
            <a:endParaRPr lang="zh-CN" sz="1600"/>
          </a:p>
          <a:p>
            <a:r>
              <a:rPr lang="zh-CN" sz="1600" dirty="0">
                <a:latin typeface="Arial"/>
                <a:ea typeface="Microsoft YaHei"/>
              </a:rPr>
              <a:t>aluminium = al-yoo-MIN-ee-um</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quenching, B</a:t>
            </a:r>
            <a:endParaRPr lang="zh-CN" sz="1600"/>
          </a:p>
          <a:p>
            <a:r>
              <a:rPr lang="zh-CN" sz="1600" dirty="0">
                <a:latin typeface="Arial"/>
                <a:ea typeface="Microsoft YaHei"/>
              </a:rPr>
              <a:t>2. annealing, A</a:t>
            </a:r>
            <a:endParaRPr lang="zh-CN" sz="1600"/>
          </a:p>
          <a:p>
            <a:r>
              <a:rPr lang="zh-CN" sz="1600" dirty="0">
                <a:latin typeface="Arial"/>
                <a:ea typeface="Microsoft YaHei"/>
              </a:rPr>
              <a:t>3. tempering, C</a:t>
            </a:r>
            <a:endParaRPr lang="zh-CN" sz="1600"/>
          </a:p>
          <a:p>
            <a:r>
              <a:rPr lang="zh-CN" sz="1600" dirty="0">
                <a:latin typeface="Arial"/>
                <a:ea typeface="Microsoft YaHei"/>
              </a:rPr>
              <a:t>4. tempering</a:t>
            </a:r>
            <a:endParaRPr lang="zh-CN" sz="1600"/>
          </a:p>
          <a:p>
            <a:r>
              <a:rPr lang="zh-CN" sz="1600" dirty="0">
                <a:latin typeface="Arial"/>
                <a:ea typeface="Microsoft YaHei"/>
              </a:rPr>
              <a:t>Short solution:</a:t>
            </a:r>
            <a:endParaRPr lang="zh-CN" sz="1600"/>
          </a:p>
          <a:p>
            <a:r>
              <a:rPr lang="zh-CN" sz="1600" dirty="0">
                <a:latin typeface="Arial"/>
                <a:ea typeface="Microsoft YaHei"/>
              </a:rPr>
              <a:t>4. hair clip 要 springy，所以是 tempering</a:t>
            </a:r>
            <a:endParaRPr lang="zh-CN" sz="1600"/>
          </a:p>
          <a:p>
            <a:r>
              <a:rPr lang="zh-CN" sz="1600" dirty="0">
                <a:latin typeface="Arial"/>
                <a:ea typeface="Microsoft YaHei"/>
              </a:rPr>
              <a:t>Watch for:</a:t>
            </a:r>
            <a:endParaRPr lang="zh-CN" sz="1600"/>
          </a:p>
          <a:p>
            <a:r>
              <a:rPr lang="zh-CN" sz="1600" dirty="0">
                <a:latin typeface="Arial"/>
                <a:ea typeface="Microsoft YaHei"/>
              </a:rPr>
              <a:t>4. 她 booklet p.8 第 2 题写 “Annealing because it modified easily”，这是错的：annealing 让钢变软，夹子会弯了回不去</a:t>
            </a:r>
            <a:endParaRPr lang="zh-CN" sz="1600"/>
          </a:p>
          <a:p>
            <a:r>
              <a:rPr lang="zh-CN" sz="1600" dirty="0">
                <a:latin typeface="Arial"/>
                <a:ea typeface="Microsoft YaHei"/>
              </a:rPr>
              <a:t>Say it:</a:t>
            </a:r>
            <a:endParaRPr lang="zh-CN" sz="1600"/>
          </a:p>
          <a:p>
            <a:r>
              <a:rPr lang="zh-CN" sz="1600" dirty="0">
                <a:latin typeface="Arial"/>
                <a:ea typeface="Microsoft YaHei"/>
              </a:rPr>
              <a:t>tempering = TEM-per-ing</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1:07–1:08。</a:t>
            </a:r>
            <a:endParaRPr lang="zh-CN" sz="1600"/>
          </a:p>
          <a:p>
            <a:r>
              <a:rPr lang="zh-CN" sz="1600" dirty="0">
                <a:latin typeface="Arial"/>
                <a:ea typeface="Microsoft YaHei"/>
              </a:rPr>
              <a:t>答案：the layers slide over each other easily，所以 pure metal 是 soft 的，也因此 malleable 和 ductile。</a:t>
            </a:r>
            <a:endParaRPr lang="zh-CN" sz="1600"/>
          </a:p>
          <a:p>
            <a:r>
              <a:rPr lang="zh-CN" sz="1600" dirty="0">
                <a:latin typeface="Arial"/>
                <a:ea typeface="Microsoft YaHei"/>
              </a:rPr>
              <a:t>booklet p.9：pure iron is too soft for many uses。</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1:08–1:09。</a:t>
            </a:r>
            <a:endParaRPr lang="zh-CN" sz="1600"/>
          </a:p>
          <a:p>
            <a:r>
              <a:rPr lang="zh-CN" sz="1600" dirty="0">
                <a:latin typeface="Arial"/>
                <a:ea typeface="Microsoft YaHei"/>
              </a:rPr>
              <a:t>空格：different / disrupts / slide over each other / harder。</a:t>
            </a:r>
            <a:endParaRPr lang="zh-CN" sz="1600"/>
          </a:p>
          <a:p>
            <a:r>
              <a:rPr lang="zh-CN" sz="1600" dirty="0">
                <a:latin typeface="Arial"/>
                <a:ea typeface="Microsoft YaHei"/>
              </a:rPr>
              <a:t>L13：只写 “because it is a mixture” 不给分，必须写 atoms of different sizes 和 layers can't slide。</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1:09–1:10。</a:t>
            </a:r>
            <a:endParaRPr lang="zh-CN" sz="1600"/>
          </a:p>
          <a:p>
            <a:r>
              <a:rPr lang="zh-CN" sz="1600" dirty="0">
                <a:latin typeface="Arial"/>
                <a:ea typeface="Microsoft YaHei"/>
              </a:rPr>
              <a:t>空格：tin / joining electrical wires / cutlery and sinks (resists corrosion) / teeth braces and spectacle frames (shape memory)。</a:t>
            </a:r>
            <a:endParaRPr lang="zh-CN" sz="1600"/>
          </a:p>
          <a:p>
            <a:r>
              <a:rPr lang="zh-CN" sz="1600" dirty="0">
                <a:latin typeface="Arial"/>
                <a:ea typeface="Microsoft YaHei"/>
              </a:rPr>
              <a:t>solder：melting point 低，容易熔化，冷却后在常温下是 solid。</a:t>
            </a:r>
            <a:endParaRPr lang="zh-CN" sz="1600"/>
          </a:p>
          <a:p>
            <a:r>
              <a:rPr lang="zh-CN" sz="1600" dirty="0">
                <a:latin typeface="Arial"/>
                <a:ea typeface="Microsoft YaHei"/>
              </a:rPr>
              <a:t>alloy 是 mixture：比例可以变，每种成分保留自己的 chemical identity；compound 是固定比例、化学结合。</a:t>
            </a:r>
            <a:endParaRPr lang="zh-CN" sz="1600"/>
          </a:p>
          <a:p>
            <a:r>
              <a:rPr lang="zh-CN" sz="1600" dirty="0">
                <a:latin typeface="Arial"/>
                <a:ea typeface="Microsoft YaHei"/>
              </a:rPr>
              <a:t>nitinol 是 smart alloy (shape memory alloy)：弯了以后加热或通电会回到原来的形状。</a:t>
            </a:r>
            <a:endParaRPr lang="zh-CN" sz="1600"/>
          </a:p>
          <a:p>
            <a:r>
              <a:rPr lang="zh-CN" sz="1600" dirty="0">
                <a:latin typeface="Arial"/>
                <a:ea typeface="Microsoft YaHei"/>
              </a:rPr>
              <a:t>Say it:</a:t>
            </a:r>
            <a:endParaRPr lang="zh-CN" sz="1600"/>
          </a:p>
          <a:p>
            <a:r>
              <a:rPr lang="zh-CN" sz="1600" dirty="0">
                <a:latin typeface="Arial"/>
                <a:ea typeface="Microsoft YaHei"/>
              </a:rPr>
              <a:t>chromium = KROH-mee-um</a:t>
            </a:r>
            <a:endParaRPr lang="zh-CN" sz="1600"/>
          </a:p>
          <a:p>
            <a:r>
              <a:rPr lang="zh-CN" sz="1600" dirty="0">
                <a:latin typeface="Arial"/>
                <a:ea typeface="Microsoft YaHei"/>
              </a:rPr>
              <a:t>nitinol = NIT-ih-nol</a:t>
            </a:r>
            <a:endParaRPr lang="zh-CN" sz="1600"/>
          </a:p>
          <a:p>
            <a:r>
              <a:rPr lang="zh-CN" sz="1600" dirty="0">
                <a:latin typeface="Arial"/>
                <a:ea typeface="Microsoft YaHei"/>
              </a:rPr>
              <a:t>titanium = ty-TAY-nee-um</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1:10–1:11。</a:t>
            </a:r>
            <a:endParaRPr lang="zh-CN" sz="1600"/>
          </a:p>
          <a:p>
            <a:r>
              <a:rPr lang="zh-CN" sz="1600" dirty="0">
                <a:latin typeface="Arial"/>
                <a:ea typeface="Microsoft YaHei"/>
              </a:rPr>
              <a:t>1. pure X (100 %) 262 ° C；pure Y (0 % X) 330 ° C</a:t>
            </a:r>
            <a:endParaRPr lang="zh-CN" sz="1600"/>
          </a:p>
          <a:p>
            <a:r>
              <a:rPr lang="zh-CN" sz="1600" dirty="0">
                <a:latin typeface="Arial"/>
                <a:ea typeface="Microsoft YaHei"/>
              </a:rPr>
              <a:t>2. 70 % X，about 190 ° C</a:t>
            </a:r>
            <a:endParaRPr lang="zh-CN" sz="1600"/>
          </a:p>
          <a:p>
            <a:r>
              <a:rPr lang="zh-CN" sz="1600" dirty="0">
                <a:latin typeface="Arial"/>
                <a:ea typeface="Microsoft YaHei"/>
              </a:rPr>
              <a:t>3. the melting point falls steadily as the percentage of X increases</a:t>
            </a:r>
            <a:endParaRPr lang="zh-CN" sz="1600"/>
          </a:p>
          <a:p>
            <a:r>
              <a:rPr lang="zh-CN" sz="1600" dirty="0">
                <a:latin typeface="Arial"/>
                <a:ea typeface="Microsoft YaHei"/>
              </a:rPr>
              <a:t>提醒 booklet 的 “A SLurP of Tea”：Axes, Scale, Label, Plot, Title。她 p.10 的 solder 图还没画，留在作业里。</a:t>
            </a:r>
            <a:endParaRPr lang="zh-CN" sz="1600"/>
          </a:p>
          <a:p>
            <a:r>
              <a:rPr lang="zh-CN" sz="1600" dirty="0">
                <a:latin typeface="Arial"/>
                <a:ea typeface="Microsoft YaHei"/>
              </a:rPr>
              <a:t>结论 (和 booklet p.11 Q1 同一个思路) ：alloy 的 melting point 可以比两种纯金属都低。</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quenching</a:t>
            </a:r>
            <a:endParaRPr lang="zh-CN" sz="1600"/>
          </a:p>
          <a:p>
            <a:r>
              <a:rPr lang="zh-CN" sz="1600" dirty="0">
                <a:latin typeface="Arial"/>
                <a:ea typeface="Microsoft YaHei"/>
              </a:rPr>
              <a:t>Q2 zinc atoms are a different size from copper atoms; they disrupt the regular layers, so the layers cannot slide over each other easily</a:t>
            </a:r>
            <a:endParaRPr lang="zh-CN" sz="1600"/>
          </a:p>
          <a:p>
            <a:r>
              <a:rPr lang="zh-CN" sz="1600" dirty="0">
                <a:latin typeface="Arial"/>
                <a:ea typeface="Microsoft YaHei"/>
              </a:rPr>
              <a:t>Q3 spring: tempering, so it is tough and springy and returns to shape; door panel: annealing, so it is soft and easy to press into shape</a:t>
            </a:r>
            <a:endParaRPr lang="zh-CN" sz="1600"/>
          </a:p>
          <a:p>
            <a:r>
              <a:rPr lang="zh-CN" sz="1600" dirty="0">
                <a:latin typeface="Arial"/>
                <a:ea typeface="Microsoft YaHei"/>
              </a:rPr>
              <a:t>Short solution:</a:t>
            </a:r>
            <a:endParaRPr lang="zh-CN" sz="1600"/>
          </a:p>
          <a:p>
            <a:r>
              <a:rPr lang="zh-CN" sz="1600" dirty="0">
                <a:latin typeface="Arial"/>
                <a:ea typeface="Microsoft YaHei"/>
              </a:rPr>
              <a:t>Q3 每一个都要 “treatment + 得到的 property + 为什么这个用途需要它”</a:t>
            </a:r>
            <a:endParaRPr lang="zh-CN" sz="1600"/>
          </a:p>
          <a:p>
            <a:r>
              <a:rPr lang="zh-CN" sz="1600" dirty="0">
                <a:latin typeface="Arial"/>
                <a:ea typeface="Microsoft YaHei"/>
              </a:rPr>
              <a:t>Watch for:</a:t>
            </a:r>
            <a:endParaRPr lang="zh-CN" sz="1600"/>
          </a:p>
          <a:p>
            <a:r>
              <a:rPr lang="zh-CN" sz="1600" dirty="0">
                <a:latin typeface="Arial"/>
                <a:ea typeface="Microsoft YaHei"/>
              </a:rPr>
              <a:t>Q2 只写 “alloys are harder” 是复述题目，0 分</a:t>
            </a:r>
            <a:endParaRPr lang="zh-CN" sz="1600"/>
          </a:p>
          <a:p>
            <a:r>
              <a:rPr lang="zh-CN" sz="1600" dirty="0">
                <a:latin typeface="Arial"/>
                <a:ea typeface="Microsoft YaHei"/>
              </a:rPr>
              <a:t>Q3 门板写 quenching 是错的：太 brittle，一撞就裂</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true</a:t>
            </a:r>
            <a:endParaRPr lang="zh-CN" sz="1600"/>
          </a:p>
          <a:p>
            <a:r>
              <a:rPr lang="zh-CN" sz="1600" dirty="0">
                <a:latin typeface="Arial"/>
                <a:ea typeface="Microsoft YaHei"/>
              </a:rPr>
              <a:t>2. false</a:t>
            </a:r>
            <a:endParaRPr lang="zh-CN" sz="1600"/>
          </a:p>
          <a:p>
            <a:r>
              <a:rPr lang="zh-CN" sz="1600" dirty="0">
                <a:latin typeface="Arial"/>
                <a:ea typeface="Microsoft YaHei"/>
              </a:rPr>
              <a:t>3. true</a:t>
            </a:r>
            <a:endParaRPr lang="zh-CN" sz="1600"/>
          </a:p>
          <a:p>
            <a:r>
              <a:rPr lang="zh-CN" sz="1600" dirty="0">
                <a:latin typeface="Arial"/>
                <a:ea typeface="Microsoft YaHei"/>
              </a:rPr>
              <a:t>4. false</a:t>
            </a:r>
            <a:endParaRPr lang="zh-CN" sz="1600"/>
          </a:p>
          <a:p>
            <a:r>
              <a:rPr lang="zh-CN" sz="1600" dirty="0">
                <a:latin typeface="Arial"/>
                <a:ea typeface="Microsoft YaHei"/>
              </a:rPr>
              <a:t>5. true</a:t>
            </a:r>
            <a:endParaRPr lang="zh-CN" sz="1600"/>
          </a:p>
          <a:p>
            <a:r>
              <a:rPr lang="zh-CN" sz="1600" dirty="0">
                <a:latin typeface="Arial"/>
                <a:ea typeface="Microsoft YaHei"/>
              </a:rPr>
              <a:t>Short solution:</a:t>
            </a:r>
            <a:endParaRPr lang="zh-CN" sz="1600"/>
          </a:p>
          <a:p>
            <a:r>
              <a:rPr lang="zh-CN" sz="1600" dirty="0">
                <a:latin typeface="Arial"/>
                <a:ea typeface="Microsoft YaHei"/>
              </a:rPr>
              <a:t>2. 只有 iron (和 steel) 会 rust；其他金属是 corrode</a:t>
            </a:r>
            <a:endParaRPr lang="zh-CN" sz="1600"/>
          </a:p>
          <a:p>
            <a:r>
              <a:rPr lang="zh-CN" sz="1600" dirty="0">
                <a:latin typeface="Arial"/>
                <a:ea typeface="Microsoft YaHei"/>
              </a:rPr>
              <a:t>3. booklet p.13：salt solution 和 higher temperature 都会加快 rusting</a:t>
            </a:r>
            <a:endParaRPr lang="zh-CN" sz="1600"/>
          </a:p>
          <a:p>
            <a:r>
              <a:rPr lang="zh-CN" sz="1600" dirty="0">
                <a:latin typeface="Arial"/>
                <a:ea typeface="Microsoft YaHei"/>
              </a:rPr>
              <a:t>Watch for:</a:t>
            </a:r>
            <a:endParaRPr lang="zh-CN" sz="1600"/>
          </a:p>
          <a:p>
            <a:r>
              <a:rPr lang="zh-CN" sz="1600" dirty="0">
                <a:latin typeface="Arial"/>
                <a:ea typeface="Microsoft YaHei"/>
              </a:rPr>
              <a:t>LO 要求 “distinguish between corrosion and rusting”：rusting 是 corrosion 的一种，只用于 iron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1:12–1:14。</a:t>
            </a:r>
            <a:endParaRPr lang="zh-CN" sz="1600"/>
          </a:p>
          <a:p>
            <a:r>
              <a:rPr lang="zh-CN" sz="1600" dirty="0">
                <a:latin typeface="Arial"/>
                <a:ea typeface="Microsoft YaHei"/>
              </a:rPr>
              <a:t>A：water (moisture) from the air，所以 A 是 dry air</a:t>
            </a:r>
            <a:endParaRPr lang="zh-CN" sz="1600"/>
          </a:p>
          <a:p>
            <a:r>
              <a:rPr lang="zh-CN" sz="1600" dirty="0">
                <a:latin typeface="Arial"/>
                <a:ea typeface="Microsoft YaHei"/>
              </a:rPr>
              <a:t>B：dissolved oxygen (air)；air from dissolving back into the water</a:t>
            </a:r>
            <a:endParaRPr lang="zh-CN" sz="1600"/>
          </a:p>
          <a:p>
            <a:r>
              <a:rPr lang="zh-CN" sz="1600" dirty="0">
                <a:latin typeface="Arial"/>
                <a:ea typeface="Microsoft YaHei"/>
              </a:rPr>
              <a:t>C：water and oxygen (air)</a:t>
            </a:r>
            <a:endParaRPr lang="zh-CN" sz="1600"/>
          </a:p>
          <a:p>
            <a:r>
              <a:rPr lang="zh-CN" sz="1600" dirty="0">
                <a:latin typeface="Arial"/>
                <a:ea typeface="Microsoft YaHei"/>
              </a:rPr>
              <a:t>这个设计和 Lesson 1 Practice Q3 的种子实验一样：boiled water + oil = 没有 oxygen。</a:t>
            </a:r>
            <a:endParaRPr lang="zh-CN" sz="1600"/>
          </a:p>
          <a:p>
            <a:r>
              <a:rPr lang="zh-CN" sz="1600" dirty="0">
                <a:latin typeface="Arial"/>
                <a:ea typeface="Microsoft YaHei"/>
              </a:rPr>
              <a:t>Say it:</a:t>
            </a:r>
            <a:endParaRPr lang="zh-CN" sz="1600"/>
          </a:p>
          <a:p>
            <a:r>
              <a:rPr lang="zh-CN" sz="1600" dirty="0">
                <a:latin typeface="Arial"/>
                <a:ea typeface="Microsoft YaHei"/>
              </a:rPr>
              <a:t>calcium = KAL-see-um</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1:14–1:15。</a:t>
            </a:r>
            <a:endParaRPr lang="zh-CN" sz="1600"/>
          </a:p>
          <a:p>
            <a:r>
              <a:rPr lang="zh-CN" sz="1600" dirty="0">
                <a:latin typeface="Arial"/>
                <a:ea typeface="Microsoft YaHei"/>
              </a:rPr>
              <a:t>结果：A no rust；B no rust；C rust。</a:t>
            </a:r>
            <a:endParaRPr lang="zh-CN" sz="1600"/>
          </a:p>
          <a:p>
            <a:r>
              <a:rPr lang="zh-CN" sz="1600" dirty="0">
                <a:latin typeface="Arial"/>
                <a:ea typeface="Microsoft YaHei"/>
              </a:rPr>
              <a:t>空格：C / water / oxygen / both water and oxygen。</a:t>
            </a:r>
            <a:endParaRPr lang="zh-CN" sz="1600"/>
          </a:p>
          <a:p>
            <a:r>
              <a:rPr lang="zh-CN" sz="1600" dirty="0">
                <a:latin typeface="Arial"/>
                <a:ea typeface="Microsoft YaHei"/>
              </a:rPr>
              <a:t>她 booklet p.17 的结果写 B “slight rusting, barely can see”，是错的。B 没有 oxygen，不应该生锈；如果真的有一点，说明 boiled water 又溶进了空气 (L14)。</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P has air; it does not rust because it has no water (L14)</a:t>
            </a:r>
            <a:endParaRPr lang="zh-CN" sz="1600"/>
          </a:p>
          <a:p>
            <a:r>
              <a:rPr lang="zh-CN" sz="1600" dirty="0">
                <a:latin typeface="Arial"/>
                <a:ea typeface="Microsoft YaHei"/>
              </a:rPr>
              <a:t>2. Q does not rust: boiled water has no oxygen and the oil keeps air out (L14)</a:t>
            </a:r>
            <a:endParaRPr lang="zh-CN" sz="1600"/>
          </a:p>
          <a:p>
            <a:r>
              <a:rPr lang="zh-CN" sz="1600" dirty="0">
                <a:latin typeface="Arial"/>
                <a:ea typeface="Microsoft YaHei"/>
              </a:rPr>
              <a:t>3. iron needs both water and oxygen to rust (L14)</a:t>
            </a:r>
            <a:endParaRPr lang="zh-CN" sz="1600"/>
          </a:p>
          <a:p>
            <a:r>
              <a:rPr lang="zh-CN" sz="1600" dirty="0">
                <a:latin typeface="Arial"/>
                <a:ea typeface="Microsoft YaHei"/>
              </a:rPr>
              <a:t>Short solution:</a:t>
            </a:r>
            <a:endParaRPr lang="zh-CN" sz="1600"/>
          </a:p>
          <a:p>
            <a:r>
              <a:rPr lang="zh-CN" sz="1600" dirty="0">
                <a:latin typeface="Arial"/>
                <a:ea typeface="Microsoft YaHei"/>
              </a:rPr>
              <a:t>P: no rust, because the calcium chloride removes the water. Q: no rust, because boiling removes the oxygen and the oil keeps air out. R: lots of rust, because it has water and oxygen. So iron needs both water and oxygen to rust.</a:t>
            </a:r>
            <a:endParaRPr lang="zh-CN" sz="1600"/>
          </a:p>
          <a:p>
            <a:r>
              <a:rPr lang="zh-CN" sz="1600" dirty="0">
                <a:latin typeface="Arial"/>
                <a:ea typeface="Microsoft YaHei"/>
              </a:rPr>
              <a:t>Watch for:</a:t>
            </a:r>
            <a:endParaRPr lang="zh-CN" sz="1600"/>
          </a:p>
          <a:p>
            <a:r>
              <a:rPr lang="zh-CN" sz="1600" dirty="0">
                <a:latin typeface="Arial"/>
                <a:ea typeface="Microsoft YaHei"/>
              </a:rPr>
              <a:t>R 那一句是对的。steel 也会 rust，因为 steel 主要是 iron。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1:16–1:17。</a:t>
            </a:r>
            <a:endParaRPr lang="zh-CN" sz="1600"/>
          </a:p>
          <a:p>
            <a:r>
              <a:rPr lang="zh-CN" sz="1600" dirty="0">
                <a:latin typeface="Arial"/>
                <a:ea typeface="Microsoft YaHei"/>
              </a:rPr>
              <a:t>空格：painting；moving parts，paint would rub off；galvanising；made of stainless steel (alloying)。</a:t>
            </a:r>
            <a:endParaRPr lang="zh-CN" sz="1600"/>
          </a:p>
          <a:p>
            <a:r>
              <a:rPr lang="zh-CN" sz="1600" dirty="0">
                <a:latin typeface="Arial"/>
                <a:ea typeface="Microsoft YaHei"/>
              </a:rPr>
              <a:t>最后一句：water and oxygen (air)。</a:t>
            </a:r>
            <a:endParaRPr lang="zh-CN" sz="1600"/>
          </a:p>
          <a:p>
            <a:r>
              <a:rPr lang="zh-CN" sz="1600" dirty="0">
                <a:latin typeface="Arial"/>
                <a:ea typeface="Microsoft YaHei"/>
              </a:rPr>
              <a:t>booklet p.13：选哪种方法看 object 的大小、用途和成本。</a:t>
            </a:r>
            <a:endParaRPr lang="zh-CN" sz="1600"/>
          </a:p>
          <a:p>
            <a:r>
              <a:rPr lang="zh-CN" sz="1600" dirty="0">
                <a:latin typeface="Arial"/>
                <a:ea typeface="Microsoft YaHei"/>
              </a:rPr>
              <a:t>Say it:</a:t>
            </a:r>
            <a:endParaRPr lang="zh-CN" sz="1600"/>
          </a:p>
          <a:p>
            <a:r>
              <a:rPr lang="zh-CN" sz="1600" dirty="0">
                <a:latin typeface="Arial"/>
                <a:ea typeface="Microsoft YaHei"/>
              </a:rPr>
              <a:t>galvanising = GAL-vuh-ny-zing</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water and oxygen</a:t>
            </a:r>
            <a:endParaRPr lang="zh-CN" sz="1600"/>
          </a:p>
          <a:p>
            <a:r>
              <a:rPr lang="zh-CN" sz="1600" dirty="0">
                <a:latin typeface="Arial"/>
                <a:ea typeface="Microsoft YaHei"/>
              </a:rPr>
              <a:t>Q2 the air near the sea carries salt, and salt solution speeds up rusting</a:t>
            </a:r>
            <a:endParaRPr lang="zh-CN" sz="1600"/>
          </a:p>
          <a:p>
            <a:r>
              <a:rPr lang="zh-CN" sz="1600" dirty="0">
                <a:latin typeface="Arial"/>
                <a:ea typeface="Microsoft YaHei"/>
              </a:rPr>
              <a:t>Q3 change: tap water or salt water; measure: how much rust after 3 days; keep the same: type and size of nail (cleaned with sandpaper), volume of water, temperature, time, tubes open to the air; repeat each tube</a:t>
            </a:r>
            <a:endParaRPr lang="zh-CN" sz="1600"/>
          </a:p>
          <a:p>
            <a:r>
              <a:rPr lang="zh-CN" sz="1600" dirty="0">
                <a:latin typeface="Arial"/>
                <a:ea typeface="Microsoft YaHei"/>
              </a:rPr>
              <a:t>Short solution:</a:t>
            </a:r>
            <a:endParaRPr lang="zh-CN" sz="1600"/>
          </a:p>
          <a:p>
            <a:r>
              <a:rPr lang="zh-CN" sz="1600" dirty="0">
                <a:latin typeface="Arial"/>
                <a:ea typeface="Microsoft YaHei"/>
              </a:rPr>
              <a:t>Q3 E 要有：independent variable、dependent variable、至少三个 controlled variables、重复实验</a:t>
            </a:r>
            <a:endParaRPr lang="zh-CN" sz="1600"/>
          </a:p>
          <a:p>
            <a:r>
              <a:rPr lang="zh-CN" sz="1600" dirty="0">
                <a:latin typeface="Arial"/>
                <a:ea typeface="Microsoft YaHei"/>
              </a:rPr>
              <a:t>Watch for:</a:t>
            </a:r>
            <a:endParaRPr lang="zh-CN" sz="1600"/>
          </a:p>
          <a:p>
            <a:r>
              <a:rPr lang="zh-CN" sz="1600" dirty="0">
                <a:latin typeface="Arial"/>
                <a:ea typeface="Microsoft YaHei"/>
              </a:rPr>
              <a:t>Q3 她实验题最容易漏 “how to measure”：写 “compare the amount of rust” 或 “measure the mass of the nail before and after” 都可以</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metal oxide</a:t>
            </a:r>
            <a:endParaRPr lang="zh-CN" sz="1600"/>
          </a:p>
          <a:p>
            <a:r>
              <a:rPr lang="zh-CN" sz="1600" dirty="0">
                <a:latin typeface="Arial"/>
                <a:ea typeface="Microsoft YaHei"/>
              </a:rPr>
              <a:t>2. metal hydroxide + hydrogen</a:t>
            </a:r>
            <a:endParaRPr lang="zh-CN" sz="1600"/>
          </a:p>
          <a:p>
            <a:r>
              <a:rPr lang="zh-CN" sz="1600" dirty="0">
                <a:latin typeface="Arial"/>
                <a:ea typeface="Microsoft YaHei"/>
              </a:rPr>
              <a:t>3. metal chloride + hydrogen</a:t>
            </a:r>
            <a:endParaRPr lang="zh-CN" sz="1600"/>
          </a:p>
          <a:p>
            <a:r>
              <a:rPr lang="zh-CN" sz="1600" dirty="0">
                <a:latin typeface="Arial"/>
                <a:ea typeface="Microsoft YaHei"/>
              </a:rPr>
              <a:t>4. squeaky pop</a:t>
            </a:r>
            <a:endParaRPr lang="zh-CN" sz="1600"/>
          </a:p>
          <a:p>
            <a:r>
              <a:rPr lang="zh-CN" sz="1600" dirty="0">
                <a:latin typeface="Arial"/>
                <a:ea typeface="Microsoft YaHei"/>
              </a:rPr>
              <a:t>Short solution:</a:t>
            </a:r>
            <a:endParaRPr lang="zh-CN" sz="1600"/>
          </a:p>
          <a:p>
            <a:r>
              <a:rPr lang="zh-CN" sz="1600" dirty="0">
                <a:latin typeface="Arial"/>
                <a:ea typeface="Microsoft YaHei"/>
              </a:rPr>
              <a:t>2 和 3 都放出 hydrogen gas，所以都可以用 lit splint 测</a:t>
            </a:r>
            <a:endParaRPr lang="zh-CN" sz="1600"/>
          </a:p>
          <a:p>
            <a:r>
              <a:rPr lang="zh-CN" sz="1600" dirty="0">
                <a:latin typeface="Arial"/>
                <a:ea typeface="Microsoft YaHei"/>
              </a:rPr>
              <a:t>Watch for:</a:t>
            </a:r>
            <a:endParaRPr lang="zh-CN" sz="1600"/>
          </a:p>
          <a:p>
            <a:r>
              <a:rPr lang="zh-CN" sz="1600" dirty="0">
                <a:latin typeface="Arial"/>
                <a:ea typeface="Microsoft YaHei"/>
              </a:rPr>
              <a:t>2. 写成 metal oxide + hydrogen 是常见错误 (L15)</a:t>
            </a:r>
            <a:endParaRPr lang="zh-CN" sz="1600"/>
          </a:p>
          <a:p>
            <a:r>
              <a:rPr lang="zh-CN" sz="1600" dirty="0">
                <a:latin typeface="Arial"/>
                <a:ea typeface="Microsoft YaHei"/>
              </a:rPr>
              <a:t>Say it:</a:t>
            </a:r>
            <a:endParaRPr lang="zh-CN" sz="1600"/>
          </a:p>
          <a:p>
            <a:r>
              <a:rPr lang="zh-CN" sz="1600" dirty="0">
                <a:latin typeface="Arial"/>
                <a:ea typeface="Microsoft YaHei"/>
              </a:rPr>
              <a:t>hydroxide = hy-DROK-side</a:t>
            </a:r>
            <a:endParaRPr lang="zh-CN" sz="1600"/>
          </a:p>
          <a:p>
            <a:r>
              <a:rPr lang="zh-CN" sz="1600" dirty="0">
                <a:latin typeface="Arial"/>
                <a:ea typeface="Microsoft YaHei"/>
              </a:rPr>
              <a:t>hydrochloric = hy-droh-KLOR-ik</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1:21–1:23。</a:t>
            </a:r>
            <a:endParaRPr lang="zh-CN" sz="1600"/>
          </a:p>
          <a:p>
            <a:r>
              <a:rPr lang="zh-CN" sz="1600" dirty="0">
                <a:latin typeface="Arial"/>
                <a:ea typeface="Microsoft YaHei"/>
              </a:rPr>
              <a:t>(a) iron oxide</a:t>
            </a:r>
            <a:endParaRPr lang="zh-CN" sz="1600"/>
          </a:p>
          <a:p>
            <a:r>
              <a:rPr lang="zh-CN" sz="1600" dirty="0">
                <a:latin typeface="Arial"/>
                <a:ea typeface="Microsoft YaHei"/>
              </a:rPr>
              <a:t>(b) lithium hydroxide + hydrogen</a:t>
            </a:r>
            <a:endParaRPr lang="zh-CN" sz="1600"/>
          </a:p>
          <a:p>
            <a:r>
              <a:rPr lang="zh-CN" sz="1600" dirty="0">
                <a:latin typeface="Arial"/>
                <a:ea typeface="Microsoft YaHei"/>
              </a:rPr>
              <a:t>(c) aluminium + hydrochloric acid → aluminium chloride + hydrogen</a:t>
            </a:r>
            <a:endParaRPr lang="zh-CN" sz="1600"/>
          </a:p>
          <a:p>
            <a:r>
              <a:rPr lang="zh-CN" sz="1600" dirty="0">
                <a:latin typeface="Arial"/>
                <a:ea typeface="Microsoft YaHei"/>
              </a:rPr>
              <a:t>(d) no reaction：gold 在 reactivity series 的最下面</a:t>
            </a:r>
            <a:endParaRPr lang="zh-CN" sz="1600"/>
          </a:p>
          <a:p>
            <a:r>
              <a:rPr lang="zh-CN" sz="1600" dirty="0">
                <a:latin typeface="Arial"/>
                <a:ea typeface="Microsoft YaHei"/>
              </a:rPr>
              <a:t>考试写 word equation：用词，不用化学式；箭头不要写成等号。</a:t>
            </a:r>
            <a:endParaRPr lang="zh-CN" sz="1600"/>
          </a:p>
          <a:p>
            <a:r>
              <a:rPr lang="zh-CN" sz="1600" dirty="0">
                <a:latin typeface="Arial"/>
                <a:ea typeface="Microsoft YaHei"/>
              </a:rPr>
              <a:t>Say it:</a:t>
            </a:r>
            <a:endParaRPr lang="zh-CN" sz="1600"/>
          </a:p>
          <a:p>
            <a:r>
              <a:rPr lang="zh-CN" sz="1600" dirty="0">
                <a:latin typeface="Arial"/>
                <a:ea typeface="Microsoft YaHei"/>
              </a:rPr>
              <a:t>lithium = LITH-ee-um</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1:23–1:25。</a:t>
            </a:r>
            <a:endParaRPr lang="zh-CN" sz="1600"/>
          </a:p>
          <a:p>
            <a:r>
              <a:rPr lang="zh-CN" sz="1600" dirty="0">
                <a:latin typeface="Arial"/>
                <a:ea typeface="Microsoft YaHei"/>
              </a:rPr>
              <a:t>1. yes：tin 在 “react with acids” 的范围里 (反应很慢)</a:t>
            </a:r>
            <a:endParaRPr lang="zh-CN" sz="1600"/>
          </a:p>
          <a:p>
            <a:r>
              <a:rPr lang="zh-CN" sz="1600" dirty="0">
                <a:latin typeface="Arial"/>
                <a:ea typeface="Microsoft YaHei"/>
              </a:rPr>
              <a:t>2. gold is so unreactive that it does not react with oxygen or sulfur, so it stays as the pure metal; iron is more reactive, so it is found as compounds (ores) and must be extracted</a:t>
            </a:r>
            <a:endParaRPr lang="zh-CN" sz="1600"/>
          </a:p>
          <a:p>
            <a:r>
              <a:rPr lang="zh-CN" sz="1600" dirty="0">
                <a:latin typeface="Arial"/>
                <a:ea typeface="Microsoft YaHei"/>
              </a:rPr>
              <a:t>这一页对应 booklet p.20 Summary 的图，重画成四组。</a:t>
            </a:r>
            <a:endParaRPr lang="zh-CN" sz="1600"/>
          </a:p>
          <a:p>
            <a:r>
              <a:rPr lang="zh-CN" sz="1600" dirty="0">
                <a:latin typeface="Arial"/>
                <a:ea typeface="Microsoft YaHei"/>
              </a:rPr>
              <a:t>Say it:</a:t>
            </a:r>
            <a:endParaRPr lang="zh-CN" sz="1600"/>
          </a:p>
          <a:p>
            <a:r>
              <a:rPr lang="zh-CN" sz="1600" dirty="0">
                <a:latin typeface="Arial"/>
                <a:ea typeface="Microsoft YaHei"/>
              </a:rPr>
              <a:t>potassium = puh-TAS-ee-um</a:t>
            </a:r>
            <a:endParaRPr lang="zh-CN" sz="1600"/>
          </a:p>
          <a:p>
            <a:r>
              <a:rPr lang="zh-CN" sz="1600" dirty="0">
                <a:latin typeface="Arial"/>
                <a:ea typeface="Microsoft YaHei"/>
              </a:rPr>
              <a:t>magnesium = mag-NEE-zee-um</a:t>
            </a:r>
            <a:endParaRPr lang="zh-CN" sz="1600"/>
          </a:p>
          <a:p>
            <a:r>
              <a:rPr lang="zh-CN" sz="1600" dirty="0">
                <a:latin typeface="Arial"/>
                <a:ea typeface="Microsoft YaHei"/>
              </a:rPr>
              <a:t>mercury = MER-kyuh-ree</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calcium + oxygen → calcium oxide, not calcium oxygen (L15)</a:t>
            </a:r>
            <a:endParaRPr lang="zh-CN" sz="1600"/>
          </a:p>
          <a:p>
            <a:r>
              <a:rPr lang="zh-CN" sz="1600" dirty="0">
                <a:latin typeface="Arial"/>
                <a:ea typeface="Microsoft YaHei"/>
              </a:rPr>
              <a:t>2. iron + hydrochloric acid → iron chloride + hydrogen, not water (L15)</a:t>
            </a:r>
            <a:endParaRPr lang="zh-CN" sz="1600"/>
          </a:p>
          <a:p>
            <a:r>
              <a:rPr lang="zh-CN" sz="1600" dirty="0">
                <a:latin typeface="Arial"/>
                <a:ea typeface="Microsoft YaHei"/>
              </a:rPr>
              <a:t>3. silver + hydrochloric acid → no reaction: silver is below the acids in the series (L16)</a:t>
            </a:r>
            <a:endParaRPr lang="zh-CN" sz="1600"/>
          </a:p>
          <a:p>
            <a:r>
              <a:rPr lang="zh-CN" sz="1600" dirty="0">
                <a:latin typeface="Arial"/>
                <a:ea typeface="Microsoft YaHei"/>
              </a:rPr>
              <a:t>Short solution:</a:t>
            </a:r>
            <a:endParaRPr lang="zh-CN" sz="1600"/>
          </a:p>
          <a:p>
            <a:r>
              <a:rPr lang="zh-CN" sz="1600" dirty="0">
                <a:latin typeface="Arial"/>
                <a:ea typeface="Microsoft YaHei"/>
              </a:rPr>
              <a:t>calcium + oxygen → calcium oxide; iron + hydrochloric acid → iron chloride + hydrogen; potassium + water → potassium hydroxide + hydrogen (correct); silver + hydrochloric acid → no reaction</a:t>
            </a:r>
            <a:endParaRPr lang="zh-CN" sz="1600"/>
          </a:p>
          <a:p>
            <a:r>
              <a:rPr lang="zh-CN" sz="1600" dirty="0">
                <a:latin typeface="Arial"/>
                <a:ea typeface="Microsoft YaHei"/>
              </a:rPr>
              <a:t>Watch for:</a:t>
            </a:r>
            <a:endParaRPr lang="zh-CN" sz="1600"/>
          </a:p>
          <a:p>
            <a:r>
              <a:rPr lang="zh-CN" sz="1600" dirty="0">
                <a:latin typeface="Arial"/>
                <a:ea typeface="Microsoft YaHei"/>
              </a:rPr>
              <a:t>第 3 条是对的，error 的编号按找到的顺序 1–3，不按 Sam 的行号。</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aluminium + oxygen → aluminium oxide</a:t>
            </a:r>
            <a:endParaRPr lang="zh-CN" sz="1600"/>
          </a:p>
          <a:p>
            <a:r>
              <a:rPr lang="zh-CN" sz="1600" dirty="0">
                <a:latin typeface="Arial"/>
                <a:ea typeface="Microsoft YaHei"/>
              </a:rPr>
              <a:t>Q2 S, P, R, Q</a:t>
            </a:r>
            <a:endParaRPr lang="zh-CN" sz="1600"/>
          </a:p>
          <a:p>
            <a:r>
              <a:rPr lang="zh-CN" sz="1600" dirty="0">
                <a:latin typeface="Arial"/>
                <a:ea typeface="Microsoft YaHei"/>
              </a:rPr>
              <a:t>Q3 add same-sized pieces of zinc and copper to the same volume of the same dilute hydrochloric acid; zinc fizzes (hydrogen), copper does not react</a:t>
            </a:r>
            <a:endParaRPr lang="zh-CN" sz="1600"/>
          </a:p>
          <a:p>
            <a:r>
              <a:rPr lang="zh-CN" sz="1600" dirty="0">
                <a:latin typeface="Arial"/>
                <a:ea typeface="Microsoft YaHei"/>
              </a:rPr>
              <a:t>Short solution:</a:t>
            </a:r>
            <a:endParaRPr lang="zh-CN" sz="1600"/>
          </a:p>
          <a:p>
            <a:r>
              <a:rPr lang="zh-CN" sz="1600" dirty="0">
                <a:latin typeface="Arial"/>
                <a:ea typeface="Microsoft YaHei"/>
              </a:rPr>
              <a:t>Q2 evidence：S 连冷水都能反应，最活泼；P 气泡多又快；R 少又慢；Q 没有反应</a:t>
            </a:r>
            <a:endParaRPr lang="zh-CN" sz="1600"/>
          </a:p>
          <a:p>
            <a:r>
              <a:rPr lang="zh-CN" sz="1600" dirty="0">
                <a:latin typeface="Arial"/>
                <a:ea typeface="Microsoft YaHei"/>
              </a:rPr>
              <a:t>Q3 fair test：same size, same volume, same concentration, same temperature；可以用 lit splint 证明气体是 hydrogen</a:t>
            </a:r>
            <a:endParaRPr lang="zh-CN" sz="1600"/>
          </a:p>
          <a:p>
            <a:r>
              <a:rPr lang="zh-CN" sz="1600" dirty="0">
                <a:latin typeface="Arial"/>
                <a:ea typeface="Microsoft YaHei"/>
              </a:rPr>
              <a:t>Watch for:</a:t>
            </a:r>
            <a:endParaRPr lang="zh-CN" sz="1600"/>
          </a:p>
          <a:p>
            <a:r>
              <a:rPr lang="zh-CN" sz="1600" dirty="0">
                <a:latin typeface="Arial"/>
                <a:ea typeface="Microsoft YaHei"/>
              </a:rPr>
              <a:t>Q2 只排顺序不写证据只有 A (L16)</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1:27–1:28。</a:t>
            </a:r>
            <a:endParaRPr lang="zh-CN" sz="1600"/>
          </a:p>
          <a:p>
            <a:r>
              <a:rPr lang="zh-CN" sz="1600" dirty="0">
                <a:latin typeface="Arial"/>
                <a:ea typeface="Microsoft YaHei"/>
              </a:rPr>
              <a:t>L10 和 L11 来自她 booklet p.4 的表；L14 来自 p.17 的 tube B；L12 来自 p.6。</a:t>
            </a:r>
            <a:endParaRPr lang="zh-CN" sz="1600"/>
          </a:p>
          <a:p>
            <a:r>
              <a:rPr lang="zh-CN" sz="1600" dirty="0">
                <a:latin typeface="Arial"/>
                <a:ea typeface="Microsoft YaHei"/>
              </a:rPr>
              <a:t>L16 在作业 hw2 里再练。</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1:28–1:29。</a:t>
            </a:r>
            <a:endParaRPr lang="zh-CN" sz="1600"/>
          </a:p>
          <a:p>
            <a:r>
              <a:rPr lang="zh-CN" sz="1600" dirty="0">
                <a:latin typeface="Arial"/>
                <a:ea typeface="Microsoft YaHei"/>
              </a:rPr>
              <a:t>同样让她先说再看。</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1:29–1:40。</a:t>
            </a:r>
            <a:endParaRPr lang="zh-CN" sz="1600"/>
          </a:p>
          <a:p>
            <a:r>
              <a:rPr lang="zh-CN" sz="1600" dirty="0">
                <a:latin typeface="Arial"/>
                <a:ea typeface="Microsoft YaHei"/>
              </a:rPr>
              <a:t>答案在 classwork_answers.pdf：Part D 的 density 题答案是 2.7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(aluminium)；Part E 重点是 alloy 的解释链；Part F 的实验设计要有三个 controlled variables。</a:t>
            </a:r>
            <a:endParaRPr lang="zh-CN" sz="1600"/>
          </a:p>
          <a:p>
            <a:r>
              <a:rPr lang="zh-CN" sz="1600" dirty="0">
                <a:latin typeface="Arial"/>
                <a:ea typeface="Microsoft YaHei"/>
              </a:rPr>
              <a:t>1:38 收卷，准备发 Mini mock。</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1:40–1:57。</a:t>
            </a:r>
            <a:endParaRPr lang="zh-CN" sz="1600"/>
          </a:p>
          <a:p>
            <a:r>
              <a:rPr lang="zh-CN" sz="1600" dirty="0">
                <a:latin typeface="Arial"/>
                <a:ea typeface="Microsoft YaHei"/>
              </a:rPr>
              <a:t>发 mock.pdf，计时 17 分钟，老师不提示。</a:t>
            </a:r>
            <a:endParaRPr lang="zh-CN" sz="1600"/>
          </a:p>
          <a:p>
            <a:r>
              <a:rPr lang="zh-CN" sz="1600" dirty="0">
                <a:latin typeface="Arial"/>
                <a:ea typeface="Microsoft YaHei"/>
              </a:rPr>
              <a:t>答案和评分标准在 mock_answers.pdf，每题写了 A、M、E 各需要写到哪一步。</a:t>
            </a:r>
            <a:endParaRPr lang="zh-CN" sz="1600"/>
          </a:p>
          <a:p>
            <a:r>
              <a:rPr lang="zh-CN" sz="1600" dirty="0">
                <a:latin typeface="Arial"/>
                <a:ea typeface="Microsoft YaHei"/>
              </a:rPr>
              <a:t>时间到了先收卷，课后批改，下次课开头花 5 分钟讲最差的两题。</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1:57–2:00。</a:t>
            </a:r>
            <a:endParaRPr lang="zh-CN" sz="1600"/>
          </a:p>
          <a:p>
            <a:r>
              <a:rPr lang="zh-CN" sz="1600" dirty="0">
                <a:latin typeface="Arial"/>
                <a:ea typeface="Microsoft YaHei"/>
              </a:rPr>
              <a:t>hw1：pollination、osmosis、transpiration 的 Explain 题和一个 Spot the error；hw2：density 计算、reactivity 数据题、rusting 实验设计和一个 Spot the error。</a:t>
            </a:r>
            <a:endParaRPr lang="zh-CN" sz="1600"/>
          </a:p>
          <a:p>
            <a:r>
              <a:rPr lang="zh-CN" sz="1600" dirty="0">
                <a:latin typeface="Arial"/>
                <a:ea typeface="Microsoft YaHei"/>
              </a:rPr>
              <a:t>答案文件 hw1_answers.pdf 和 hw2_answers.pdf，同版面红色答案。</a:t>
            </a:r>
            <a:endParaRPr lang="zh-CN" sz="1600"/>
          </a:p>
          <a:p>
            <a:r>
              <a:rPr lang="zh-CN" sz="1600" dirty="0">
                <a:latin typeface="Arial"/>
                <a:ea typeface="Microsoft YaHei"/>
              </a:rPr>
              <a:t>booklet p.10 的 solder 图：提醒 SLurP of Tea，x 轴是 percentage of tin。</a:t>
            </a:r>
            <a:endParaRPr lang="zh-CN" sz="1600"/>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