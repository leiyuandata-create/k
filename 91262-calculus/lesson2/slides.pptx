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en-US" sz="1600" dirty="0"/>
              <a:t>Teaching line, not a question slide.</a:t>
            </a:r>
            <a:endParaRPr lang="en-US" sz="1600" dirty="0"/>
          </a:p>
          <a:p>
            <a:r>
              <a:rPr lang="en-US" sz="1600" dirty="0"/>
              <a:t>Timing: Do Now 10 min, three rounds about 20 min each, practice sheet 30 min, wrap-up 5 min.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en-US" sz="1600" dirty="0"/>
              <a:t>Q1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d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y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d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den>
                    </m:f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en-US" sz="1600" dirty="0"/>
                  <a:t>(dy)/(dx)=2x+2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7</m:t>
                    </m:r>
                  </m:oMath>
                </a14:m>
              </mc:Choice>
              <mc:Fallback>
                <a:r>
                  <a:rPr lang="en-US" sz="1600" dirty="0"/>
                  <a:t>7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en-US" sz="1600" dirty="0"/>
                  <a:t>x=2</a:t>
                </a:r>
              </mc:Fallback>
            </mc:AlternateContent>
            <a:r>
              <a:rPr lang="en-US" sz="1600" dirty="0"/>
              <a:t> or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en-US" sz="1600" dirty="0"/>
                  <a:t>x=−2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Q4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en-US" sz="1600" dirty="0"/>
                  <a:t>x=2</a:t>
                </a:r>
              </mc:Fallback>
            </mc:AlternateContent>
            <a:r>
              <a:rPr lang="en-US" sz="1600" dirty="0"/>
              <a:t> or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1.5</m:t>
                    </m:r>
                  </m:oMath>
                </a14:m>
              </mc:Choice>
              <mc:Fallback>
                <a:r>
                  <a:rPr lang="en-US" sz="1600" dirty="0"/>
                  <a:t>x=−1.5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Short solution:</a:t>
            </a:r>
            <a:endParaRPr lang="en-US" sz="1600" dirty="0"/>
          </a:p>
          <a:p>
            <a:r>
              <a:rPr lang="en-US" sz="1600" dirty="0"/>
              <a:t>Q1 expand: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y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15</m:t>
                    </m:r>
                  </m:oMath>
                </a14:m>
              </mc:Choice>
              <mc:Fallback>
                <a:r>
                  <a:rPr lang="en-US" sz="1600" dirty="0"/>
                  <a:t>y=x^(2)+2x−15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′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5</m:t>
                    </m:r>
                  </m:oMath>
                </a14:m>
              </mc:Choice>
              <mc:Fallback>
                <a:r>
                  <a:rPr lang="en-US" sz="1600" dirty="0"/>
                  <a:t>f'(x)=3x^(2)−5</a:t>
                </a:r>
              </mc:Fallback>
            </mc:AlternateContent>
            <a:r>
              <a:rPr lang="en-US" sz="1600" dirty="0"/>
              <a:t>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′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5</m:t>
                    </m:r>
                  </m:oMath>
                </a14:m>
              </mc:Choice>
              <mc:Fallback>
                <a:r>
                  <a:rPr lang="en-US" sz="1600" dirty="0"/>
                  <a:t>f'(2)=12−5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</m:oMath>
                </a14:m>
              </mc:Choice>
              <mc:Fallback>
                <a:r>
                  <a:rPr lang="en-US" sz="1600" dirty="0"/>
                  <a:t>x^(2)=4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Q4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3</m:t>
                        </m:r>
                      </m:e>
                    </m:d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(2x+3)(x−2)=0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Watch for:</a:t>
            </a:r>
            <a:endParaRPr lang="en-US" sz="1600" dirty="0"/>
          </a:p>
          <a:p>
            <a:r>
              <a:rPr lang="en-US" sz="1600" dirty="0"/>
              <a:t>Q3 missing the negative root</a:t>
            </a:r>
            <a:endParaRPr lang="en-US" sz="1600" dirty="0"/>
          </a:p>
          <a:p>
            <a:r>
              <a:rPr lang="en-US" sz="1600" dirty="0"/>
              <a:t>Q4 sign of the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1.5</m:t>
                    </m:r>
                  </m:oMath>
                </a14:m>
              </mc:Choice>
              <mc:Fallback>
                <a:r>
                  <a:rPr lang="en-US" sz="1600" dirty="0"/>
                  <a:t>−1.5</a:t>
                </a:r>
              </mc:Fallback>
            </mc:AlternateContent>
            <a:r>
              <a:rPr lang="en-US" sz="1600" dirty="0"/>
              <a:t> root</a:t>
            </a:r>
            <a:endParaRPr lang="en-US" sz="1600" dirty="0"/>
          </a:p>
          <a:p>
            <a:r>
              <a:rPr lang="en-US" sz="1600" dirty="0"/>
              <a:t>Diagnostic:</a:t>
            </a:r>
            <a:endParaRPr lang="en-US" sz="1600" dirty="0"/>
          </a:p>
          <a:p>
            <a:r>
              <a:rPr lang="en-US" sz="1600" dirty="0"/>
              <a:t>Q1 or Q2 wrong: Lesson 1 not secure; re-teach the power rule before round 1</a:t>
            </a:r>
            <a:endParaRPr lang="en-US" sz="1600" dirty="0"/>
          </a:p>
          <a:p>
            <a:r>
              <a:rPr lang="en-US" sz="1600" dirty="0"/>
              <a:t>Q3 wrong: expect missing turning points today (both roots of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′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f'(x)=0</a:t>
                </a:r>
              </mc:Fallback>
            </mc:AlternateContent>
            <a:r>
              <a:rPr lang="en-US" sz="1600" dirty="0"/>
              <a:t>)</a:t>
            </a:r>
            <a:endParaRPr lang="en-US" sz="1600" dirty="0"/>
          </a:p>
          <a:p>
            <a:r>
              <a:rPr lang="en-US" sz="1600" dirty="0"/>
              <a:t>Q4 wrong: let the student use EQUA for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′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f'(x)=0</a:t>
                </a:r>
              </mc:Fallback>
            </mc:AlternateContent>
            <a:r>
              <a:rPr lang="en-US" sz="1600" dirty="0"/>
              <a:t> today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en-US" sz="1600" dirty="0"/>
              <a:t>Teaching line, not a question slide.</a:t>
            </a:r>
            <a:endParaRPr lang="en-US" sz="1600" dirty="0"/>
          </a:p>
          <a:p>
            <a:r>
              <a:rPr lang="en-US" sz="1600" dirty="0"/>
              <a:t>Trace the curve with a finger: up, flat, down, flat, up.</a:t>
            </a:r>
            <a:endParaRPr lang="en-US" sz="1600" dirty="0"/>
          </a:p>
          <a:p>
            <a:r>
              <a:rPr lang="en-US" sz="1600" dirty="0"/>
              <a:t>Ask: what is the gradient exactly at the top? Zero, because the tangent is horizontal.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en-US" sz="1600" dirty="0"/>
              <a:t>Q1 maximum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 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5</m:t>
                        </m:r>
                      </m:e>
                    </m:d>
                  </m:oMath>
                </a14:m>
              </mc:Choice>
              <mc:Fallback>
                <a:r>
                  <a:rPr lang="en-US" sz="1600" dirty="0"/>
                  <a:t>(1, 5)</a:t>
                </a:r>
              </mc:Fallback>
            </mc:AlternateContent>
            <a:r>
              <a:rPr lang="en-US" sz="1600" dirty="0"/>
              <a:t>; minimum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 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</mc:Choice>
              <mc:Fallback>
                <a:r>
                  <a:rPr lang="en-US" sz="1600" dirty="0"/>
                  <a:t>(3, 1)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Short solution:</a:t>
            </a:r>
            <a:endParaRPr lang="en-US" sz="1600" dirty="0"/>
          </a:p>
          <a:p>
            <a:r>
              <a:rPr lang="en-US" sz="1600" dirty="0"/>
              <a:t>Q1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′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12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</mc:Choice>
              <mc:Fallback>
                <a:r>
                  <a:rPr lang="en-US" sz="1600" dirty="0"/>
                  <a:t>f'(x)=3x^(2)−12x+9=3(x−1)(x−3)</a:t>
                </a:r>
              </mc:Fallback>
            </mc:AlternateContent>
            <a:r>
              <a:rPr lang="en-US" sz="1600" dirty="0"/>
              <a:t>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en-US" sz="1600" dirty="0"/>
                  <a:t>x=1</a:t>
                </a:r>
              </mc:Fallback>
            </mc:AlternateContent>
            <a:r>
              <a:rPr lang="en-US" sz="1600" dirty="0"/>
              <a:t> or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</m:oMath>
                </a14:m>
              </mc:Choice>
              <mc:Fallback>
                <a:r>
                  <a:rPr lang="en-US" sz="1600" dirty="0"/>
                  <a:t>x=3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5</m:t>
                    </m:r>
                  </m:oMath>
                </a14:m>
              </mc:Choice>
              <mc:Fallback>
                <a:r>
                  <a:rPr lang="en-US" sz="1600" dirty="0"/>
                  <a:t>f(1)=5</a:t>
                </a:r>
              </mc:Fallback>
            </mc:AlternateContent>
            <a:r>
              <a:rPr lang="en-US" sz="1600" dirty="0"/>
              <a:t>,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en-US" sz="1600" dirty="0"/>
                  <a:t>f(3)=1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″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6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12</m:t>
                    </m:r>
                  </m:oMath>
                </a14:m>
              </mc:Choice>
              <mc:Fallback>
                <a:r>
                  <a:rPr lang="en-US" sz="1600" dirty="0"/>
                  <a:t>f''(x)=6x−12</a:t>
                </a:r>
              </mc:Fallback>
            </mc:AlternateContent>
            <a:r>
              <a:rPr lang="en-US" sz="1600" dirty="0"/>
              <a:t>: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″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&lt;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f''(1)=−6&lt;0</a:t>
                </a:r>
              </mc:Fallback>
            </mc:AlternateContent>
            <a:r>
              <a:rPr lang="en-US" sz="1600" dirty="0"/>
              <a:t> max;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″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&gt;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f''(3)=6&gt;0</a:t>
                </a:r>
              </mc:Fallback>
            </mc:AlternateContent>
            <a:r>
              <a:rPr lang="en-US" sz="1600" dirty="0"/>
              <a:t> min</a:t>
            </a:r>
            <a:endParaRPr lang="en-US" sz="1600" dirty="0"/>
          </a:p>
          <a:p>
            <a:r>
              <a:rPr lang="en-US" sz="1600" dirty="0"/>
              <a:t>Watch for:</a:t>
            </a:r>
            <a:endParaRPr lang="en-US" sz="1600" dirty="0"/>
          </a:p>
          <a:p>
            <a:r>
              <a:rPr lang="en-US" sz="1600" dirty="0"/>
              <a:t>stopping at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en-US" sz="1600" dirty="0"/>
                  <a:t>x=1</a:t>
                </a:r>
              </mc:Fallback>
            </mc:AlternateContent>
            <a:r>
              <a:rPr lang="en-US" sz="1600" dirty="0"/>
              <a:t>,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</m:oMath>
                </a14:m>
              </mc:Choice>
              <mc:Fallback>
                <a:r>
                  <a:rPr lang="en-US" sz="1600" dirty="0"/>
                  <a:t>x=3</a:t>
                </a:r>
              </mc:Fallback>
            </mc:AlternateContent>
            <a:r>
              <a:rPr lang="en-US" sz="1600" dirty="0"/>
              <a:t> (L1)</a:t>
            </a:r>
            <a:endParaRPr lang="en-US" sz="1600" dirty="0"/>
          </a:p>
          <a:p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y</m:t>
                    </m:r>
                  </m:oMath>
                </a14:m>
              </mc:Choice>
              <mc:Fallback>
                <a:r>
                  <a:rPr lang="en-US" sz="1600" dirty="0"/>
                  <a:t>y</a:t>
                </a:r>
              </mc:Fallback>
            </mc:AlternateContent>
            <a:r>
              <a:rPr lang="en-US" sz="1600" dirty="0"/>
              <a:t>-values from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′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</m:d>
                  </m:oMath>
                </a14:m>
              </mc:Choice>
              <mc:Fallback>
                <a:r>
                  <a:rPr lang="en-US" sz="1600" dirty="0"/>
                  <a:t>f'(x)</a:t>
                </a:r>
              </mc:Fallback>
            </mc:AlternateContent>
            <a:r>
              <a:rPr lang="en-US" sz="1600" dirty="0"/>
              <a:t> give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0</a:t>
                </a:r>
              </mc:Fallback>
            </mc:AlternateContent>
            <a:r>
              <a:rPr lang="en-US" sz="1600" dirty="0"/>
              <a:t>, a sign of the wrong function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en-US" sz="1600" dirty="0"/>
              <a:t>Row 1 maximum</a:t>
            </a:r>
            <a:endParaRPr lang="en-US" sz="1600" dirty="0"/>
          </a:p>
          <a:p>
            <a:r>
              <a:rPr lang="en-US" sz="1600" dirty="0"/>
              <a:t>Row 2 minimum</a:t>
            </a:r>
            <a:endParaRPr lang="en-US" sz="1600" dirty="0"/>
          </a:p>
          <a:p>
            <a:r>
              <a:rPr lang="en-US" sz="1600" dirty="0"/>
              <a:t>Row 3 maximum, bends down</a:t>
            </a:r>
            <a:endParaRPr lang="en-US" sz="1600" dirty="0"/>
          </a:p>
          <a:p>
            <a:r>
              <a:rPr lang="en-US" sz="1600" dirty="0"/>
              <a:t>Row 4 minimum, bends up</a:t>
            </a:r>
            <a:endParaRPr lang="en-US" sz="1600" dirty="0"/>
          </a:p>
          <a:p>
            <a:r>
              <a:rPr lang="en-US" sz="1600" dirty="0"/>
              <a:t>Short solution:</a:t>
            </a:r>
            <a:endParaRPr lang="en-US" sz="1600" dirty="0"/>
          </a:p>
          <a:p>
            <a:r>
              <a:rPr lang="en-US" sz="1600" dirty="0"/>
              <a:t>sentence frame: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″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&lt;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f''(1)=−6&lt;0</a:t>
                </a:r>
              </mc:Fallback>
            </mc:AlternateContent>
            <a:r>
              <a:rPr lang="en-US" sz="1600" dirty="0"/>
              <a:t>, so the turning point at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 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5</m:t>
                        </m:r>
                      </m:e>
                    </m:d>
                  </m:oMath>
                </a14:m>
              </mc:Choice>
              <mc:Fallback>
                <a:r>
                  <a:rPr lang="en-US" sz="1600" dirty="0"/>
                  <a:t>(1, 5)</a:t>
                </a:r>
              </mc:Fallback>
            </mc:AlternateContent>
            <a:r>
              <a:rPr lang="en-US" sz="1600" dirty="0"/>
              <a:t> is a maximum</a:t>
            </a:r>
            <a:endParaRPr lang="en-US" sz="1600" dirty="0"/>
          </a:p>
          <a:p>
            <a:r>
              <a:rPr lang="en-US" sz="1600" dirty="0"/>
              <a:t>Watch for:</a:t>
            </a:r>
            <a:endParaRPr lang="en-US" sz="1600" dirty="0"/>
          </a:p>
          <a:p>
            <a:r>
              <a:rPr lang="en-US" sz="1600" dirty="0"/>
              <a:t>L2: a bare “maximum” with no test is not a justification</a:t>
            </a:r>
            <a:endParaRPr lang="en-US" sz="1600" dirty="0"/>
          </a:p>
          <a:p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″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f''=0</a:t>
                </a:r>
              </mc:Fallback>
            </mc:AlternateContent>
            <a:r>
              <a:rPr lang="en-US" sz="1600" dirty="0"/>
              <a:t>: the test fails; use the gradient either side instead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en-US" sz="1600" dirty="0"/>
              <a:t>Q1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13</m:t>
                        </m:r>
                      </m:e>
                    </m:d>
                  </m:oMath>
                </a14:m>
              </mc:Choice>
              <mc:Fallback>
                <a:r>
                  <a:rPr lang="en-US" sz="1600" dirty="0"/>
                  <a:t>(4, −13)</a:t>
                </a:r>
              </mc:Fallback>
            </mc:AlternateContent>
            <a:r>
              <a:rPr lang="en-US" sz="1600" dirty="0"/>
              <a:t>, minimum</a:t>
            </a:r>
            <a:endParaRPr lang="en-US" sz="1600" dirty="0"/>
          </a:p>
          <a:p>
            <a:r>
              <a:rPr lang="en-US" sz="1600" dirty="0"/>
              <a:t>Q2 maximum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 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7</m:t>
                        </m:r>
                      </m:e>
                    </m:d>
                  </m:oMath>
                </a14:m>
              </mc:Choice>
              <mc:Fallback>
                <a:r>
                  <a:rPr lang="en-US" sz="1600" dirty="0"/>
                  <a:t>(−1, 7)</a:t>
                </a:r>
              </mc:Fallback>
            </mc:AlternateContent>
            <a:r>
              <a:rPr lang="en-US" sz="1600" dirty="0"/>
              <a:t>; minimum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20</m:t>
                        </m:r>
                      </m:e>
                    </m:d>
                  </m:oMath>
                </a14:m>
              </mc:Choice>
              <mc:Fallback>
                <a:r>
                  <a:rPr lang="en-US" sz="1600" dirty="0"/>
                  <a:t>(2, −20)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k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12</m:t>
                    </m:r>
                  </m:oMath>
                </a14:m>
              </mc:Choice>
              <mc:Fallback>
                <a:r>
                  <a:rPr lang="en-US" sz="1600" dirty="0"/>
                  <a:t>k=−12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Short solution:</a:t>
            </a:r>
            <a:endParaRPr lang="en-US" sz="1600" dirty="0"/>
          </a:p>
          <a:p>
            <a:r>
              <a:rPr lang="en-US" sz="1600" dirty="0"/>
              <a:t>Q1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2x−8=0</a:t>
                </a:r>
              </mc:Fallback>
            </mc:AlternateContent>
            <a:r>
              <a:rPr lang="en-US" sz="1600" dirty="0"/>
              <a:t>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y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</m:oMath>
                </a14:m>
              </mc:Choice>
              <mc:Fallback>
                <a:r>
                  <a:rPr lang="en-US" sz="1600" dirty="0"/>
                  <a:t>y=16−32+3</a:t>
                </a:r>
              </mc:Fallback>
            </mc:AlternateContent>
            <a:r>
              <a:rPr lang="en-US" sz="1600" dirty="0"/>
              <a:t>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y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″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&gt;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y''=2&gt;0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6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6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e>
                    </m:d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</mc:Choice>
              <mc:Fallback>
                <a:r>
                  <a:rPr lang="en-US" sz="1600" dirty="0"/>
                  <a:t>6x^(2)−6x−12=6(x−2)(x+1)</a:t>
                </a:r>
              </mc:Fallback>
            </mc:AlternateContent>
            <a:r>
              <a:rPr lang="en-US" sz="1600" dirty="0"/>
              <a:t>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″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12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6</m:t>
                    </m:r>
                  </m:oMath>
                </a14:m>
              </mc:Choice>
              <mc:Fallback>
                <a:r>
                  <a:rPr lang="en-US" sz="1600" dirty="0"/>
                  <a:t>f''(x)=12x−6</a:t>
                </a:r>
              </mc:Fallback>
            </mc:AlternateContent>
            <a:r>
              <a:rPr lang="en-US" sz="1600" dirty="0"/>
              <a:t>: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″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18</m:t>
                    </m:r>
                  </m:oMath>
                </a14:m>
              </mc:Choice>
              <mc:Fallback>
                <a:r>
                  <a:rPr lang="en-US" sz="1600" dirty="0"/>
                  <a:t>f''(−1)=−18</a:t>
                </a:r>
              </mc:Fallback>
            </mc:AlternateContent>
            <a:r>
              <a:rPr lang="en-US" sz="1600" dirty="0"/>
              <a:t>,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″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18</m:t>
                    </m:r>
                  </m:oMath>
                </a14:m>
              </mc:Choice>
              <mc:Fallback>
                <a:r>
                  <a:rPr lang="en-US" sz="1600" dirty="0"/>
                  <a:t>f''(2)=18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k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3x^(2)+k=0</a:t>
                </a:r>
              </mc:Fallback>
            </mc:AlternateContent>
            <a:r>
              <a:rPr lang="en-US" sz="1600" dirty="0"/>
              <a:t> at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en-US" sz="1600" dirty="0"/>
                  <a:t>x=2</a:t>
                </a:r>
              </mc:Fallback>
            </mc:AlternateContent>
            <a:r>
              <a:rPr lang="en-US" sz="1600" dirty="0"/>
              <a:t>: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k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12+k=0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Watch for:</a:t>
            </a:r>
            <a:endParaRPr lang="en-US" sz="1600" dirty="0"/>
          </a:p>
          <a:p>
            <a:r>
              <a:rPr lang="en-US" sz="1600" dirty="0"/>
              <a:t>Q2 forgetting to divide out the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6</m:t>
                    </m:r>
                  </m:oMath>
                </a14:m>
              </mc:Choice>
              <mc:Fallback>
                <a:r>
                  <a:rPr lang="en-US" sz="1600" dirty="0"/>
                  <a:t>6</a:t>
                </a:r>
              </mc:Fallback>
            </mc:AlternateContent>
            <a:r>
              <a:rPr lang="en-US" sz="1600" dirty="0"/>
              <a:t> is fine, but check both roots are found</a:t>
            </a:r>
            <a:endParaRPr lang="en-US" sz="1600" dirty="0"/>
          </a:p>
          <a:p>
            <a:r>
              <a:rPr lang="en-US" sz="1600" dirty="0"/>
              <a:t>Q3 is a Merit step: a turning point means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′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f'=0</a:t>
                </a:r>
              </mc:Fallback>
            </mc:AlternateContent>
            <a:r>
              <a:rPr lang="en-US" sz="1600" dirty="0"/>
              <a:t>, not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f=0</a:t>
                </a:r>
              </mc:Fallback>
            </mc:AlternateContent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en-US" sz="1600" dirty="0"/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&lt;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&lt;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</m:oMath>
                </a14:m>
              </mc:Choice>
              <mc:Fallback>
                <a:r>
                  <a:rPr lang="en-US" sz="1600" dirty="0"/>
                  <a:t>1&lt;x&lt;3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&lt;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en-US" sz="1600" dirty="0"/>
                  <a:t>x&lt;2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Short solution:</a:t>
            </a:r>
            <a:endParaRPr lang="en-US" sz="1600" dirty="0"/>
          </a:p>
          <a:p>
            <a:r>
              <a:rPr lang="en-US" sz="1600" dirty="0"/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′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</mc:Choice>
              <mc:Fallback>
                <a:r>
                  <a:rPr lang="en-US" sz="1600" dirty="0"/>
                  <a:t>f'(x)=3(x−1)(x−3)</a:t>
                </a:r>
              </mc:Fallback>
            </mc:AlternateContent>
            <a:r>
              <a:rPr lang="en-US" sz="1600" dirty="0"/>
              <a:t>, up-parabola, negative between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en-US" sz="1600" dirty="0"/>
                  <a:t>1</a:t>
                </a:r>
              </mc:Fallback>
            </mc:AlternateContent>
            <a:r>
              <a:rPr lang="en-US" sz="1600" dirty="0"/>
              <a:t> and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</m:oMath>
                </a14:m>
              </mc:Choice>
              <mc:Fallback>
                <a:r>
                  <a:rPr lang="en-US" sz="1600" dirty="0"/>
                  <a:t>3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d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y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d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den>
                    </m:f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&gt;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(dy)/(dx)=4−2x&gt;0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Watch for:</a:t>
            </a:r>
            <a:endParaRPr lang="en-US" sz="1600" dirty="0"/>
          </a:p>
          <a:p>
            <a:r>
              <a:rPr lang="en-US" sz="1600" dirty="0"/>
              <a:t>L3: an answer like “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en-US" sz="1600" dirty="0"/>
                  <a:t>x=1</a:t>
                </a:r>
              </mc:Fallback>
            </mc:AlternateContent>
            <a:r>
              <a:rPr lang="en-US" sz="1600" dirty="0"/>
              <a:t> and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</m:oMath>
                </a14:m>
              </mc:Choice>
              <mc:Fallback>
                <a:r>
                  <a:rPr lang="en-US" sz="1600" dirty="0"/>
                  <a:t>x=3</a:t>
                </a:r>
              </mc:Fallback>
            </mc:AlternateContent>
            <a:r>
              <a:rPr lang="en-US" sz="1600" dirty="0"/>
              <a:t>” is the turning points, not an interval</a:t>
            </a:r>
            <a:endParaRPr lang="en-US" sz="1600" dirty="0"/>
          </a:p>
          <a:p>
            <a:r>
              <a:rPr lang="en-US" sz="1600" dirty="0"/>
              <a:t>Q3 dividing by a negative flips the inequality if the student writes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</m:oMath>
                </a14:m>
              </mc:Choice>
              <mc:Fallback>
                <a:r>
                  <a:rPr lang="en-US" sz="1600" dirty="0"/>
                  <a:t>−2x&gt;−4</a:t>
                </a:r>
              </mc:Fallback>
            </mc:AlternateContent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en-US" sz="1600" dirty="0"/>
              <a:t>Q1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&lt;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5</m:t>
                    </m:r>
                  </m:oMath>
                </a14:m>
              </mc:Choice>
              <mc:Fallback>
                <a:r>
                  <a:rPr lang="en-US" sz="1600" dirty="0"/>
                  <a:t>x&lt;5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&lt;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&lt;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en-US" sz="1600" dirty="0"/>
                  <a:t>−2&lt;x&lt;2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′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&gt;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f'(x)=3x^(2)+3&gt;0</a:t>
                </a:r>
              </mc:Fallback>
            </mc:AlternateContent>
            <a:r>
              <a:rPr lang="en-US" sz="1600" dirty="0"/>
              <a:t> for all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</m:oMath>
                </a14:m>
              </mc:Choice>
              <mc:Fallback>
                <a:r>
                  <a:rPr lang="en-US" sz="1600" dirty="0"/>
                  <a:t>x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Short solution:</a:t>
            </a:r>
            <a:endParaRPr lang="en-US" sz="1600" dirty="0"/>
          </a:p>
          <a:p>
            <a:r>
              <a:rPr lang="en-US" sz="1600" dirty="0"/>
              <a:t>Q1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′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&lt;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f'(x)=2x−10&lt;0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′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e>
                    </m:d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&lt;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f'(x)=3x^(2)−12=3(x−2)(x+2)&lt;0</a:t>
                </a:r>
              </mc:Fallback>
            </mc:AlternateContent>
            <a:r>
              <a:rPr lang="en-US" sz="1600" dirty="0"/>
              <a:t> between the roots</a:t>
            </a:r>
            <a:endParaRPr lang="en-US" sz="1600" dirty="0"/>
          </a:p>
          <a:p>
            <a:r>
              <a:rPr lang="en-US" sz="1600" dirty="0"/>
              <a:t>Q3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≥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x^(2)≥0</a:t>
                </a:r>
              </mc:Fallback>
            </mc:AlternateContent>
            <a:r>
              <a:rPr lang="en-US" sz="1600" dirty="0"/>
              <a:t>, so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≥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&gt;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3x^(2)+3≥3&gt;0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Watch for:</a:t>
            </a:r>
            <a:endParaRPr lang="en-US" sz="1600" dirty="0"/>
          </a:p>
          <a:p>
            <a:r>
              <a:rPr lang="en-US" sz="1600" dirty="0"/>
              <a:t>Q2 writing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&lt;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en-US" sz="1600" dirty="0"/>
                  <a:t>x&lt;2</a:t>
                </a:r>
              </mc:Fallback>
            </mc:AlternateContent>
            <a:r>
              <a:rPr lang="en-US" sz="1600" dirty="0"/>
              <a:t> only; the up-parabola is negative on a bounded interval</a:t>
            </a:r>
            <a:endParaRPr lang="en-US" sz="1600" dirty="0"/>
          </a:p>
          <a:p>
            <a:r>
              <a:rPr lang="en-US" sz="1600" dirty="0"/>
              <a:t>Q3 Merit: the reason (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≥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x^(2)≥0</a:t>
                </a:r>
              </mc:Fallback>
            </mc:AlternateContent>
            <a:r>
              <a:rPr lang="en-US" sz="1600" dirty="0"/>
              <a:t>) must be stated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en-US" sz="1600" dirty="0"/>
              <a:t>Q4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21.6</m:t>
                    </m:r>
                  </m:oMath>
                </a14:m>
              </mc:Choice>
              <mc:Fallback>
                <a:r>
                  <a:rPr lang="en-US" sz="1600" dirty="0"/>
                  <a:t>21.6</a:t>
                </a:r>
              </mc:Fallback>
            </mc:AlternateContent>
            <a:r>
              <a:rPr lang="en-US" sz="1600" dirty="0"/>
              <a:t> m</a:t>
            </a:r>
            <a:endParaRPr lang="en-US" sz="1600" dirty="0"/>
          </a:p>
          <a:p>
            <a:r>
              <a:rPr lang="en-US" sz="1600" dirty="0"/>
              <a:t>Short solution:</a:t>
            </a:r>
            <a:endParaRPr lang="en-US" sz="1600" dirty="0"/>
          </a:p>
          <a:p>
            <a:r>
              <a:rPr lang="en-US" sz="1600" dirty="0"/>
              <a:t>Q4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d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h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d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t</m:t>
                        </m:r>
                      </m:den>
                    </m:f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19.6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9.8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(dh)/(dt)=19.6−9.8t=0</a:t>
                </a:r>
              </mc:Fallback>
            </mc:AlternateContent>
            <a:r>
              <a:rPr lang="en-US" sz="1600" dirty="0"/>
              <a:t>,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en-US" sz="1600" dirty="0"/>
                  <a:t>t=2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Q4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h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39.2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19.6</m:t>
                    </m:r>
                  </m:oMath>
                </a14:m>
              </mc:Choice>
              <mc:Fallback>
                <a:r>
                  <a:rPr lang="en-US" sz="1600" dirty="0"/>
                  <a:t>h=2+39.2−19.6</a:t>
                </a:r>
              </mc:Fallback>
            </mc:AlternateContent>
            <a:r>
              <a:rPr lang="en-US" sz="1600" dirty="0"/>
              <a:t>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d</m:t>
                            </m:r>
                          </m:e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h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d</m:t>
                        </m:r>
                        <m:sSup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t</m:t>
                            </m:r>
                          </m:e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9.8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&lt;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\dfracd^(2)hdt^(2)=−9.8&lt;0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Watch for:</a:t>
            </a:r>
            <a:endParaRPr lang="en-US" sz="1600" dirty="0"/>
          </a:p>
          <a:p>
            <a:r>
              <a:rPr lang="en-US" sz="1600" dirty="0"/>
              <a:t>L5: answering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en-US" sz="1600" dirty="0"/>
                  <a:t>t=2</a:t>
                </a:r>
              </mc:Fallback>
            </mc:AlternateContent>
            <a:r>
              <a:rPr lang="en-US" sz="1600" dirty="0"/>
              <a:t> s instead of the height</a:t>
            </a:r>
            <a:endParaRPr lang="en-US" sz="1600" dirty="0"/>
          </a:p>
          <a:p>
            <a:r>
              <a:rPr lang="en-US" sz="1600" dirty="0"/>
              <a:t>L6: the unit (m)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en-US" sz="1600" dirty="0"/>
              <a:t>Q5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450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m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en-US" sz="1600" dirty="0"/>
                  <a:t>450\ m^(2)</a:t>
                </a:r>
              </mc:Fallback>
            </mc:AlternateContent>
            <a:r>
              <a:rPr lang="en-US" sz="1600" dirty="0"/>
              <a:t> (pen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15</m:t>
                    </m:r>
                  </m:oMath>
                </a14:m>
              </mc:Choice>
              <mc:Fallback>
                <a:r>
                  <a:rPr lang="en-US" sz="1600" dirty="0"/>
                  <a:t>15</a:t>
                </a:r>
              </mc:Fallback>
            </mc:AlternateContent>
            <a:r>
              <a:rPr lang="en-US" sz="1600" dirty="0"/>
              <a:t> m by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30</m:t>
                    </m:r>
                  </m:oMath>
                </a14:m>
              </mc:Choice>
              <mc:Fallback>
                <a:r>
                  <a:rPr lang="en-US" sz="1600" dirty="0"/>
                  <a:t>30</a:t>
                </a:r>
              </mc:Fallback>
            </mc:AlternateContent>
            <a:r>
              <a:rPr lang="en-US" sz="1600" dirty="0"/>
              <a:t> m)</a:t>
            </a:r>
            <a:endParaRPr lang="en-US" sz="1600" dirty="0"/>
          </a:p>
          <a:p>
            <a:r>
              <a:rPr lang="en-US" sz="1600" dirty="0"/>
              <a:t>Short solution:</a:t>
            </a:r>
            <a:endParaRPr lang="en-US" sz="1600" dirty="0"/>
          </a:p>
          <a:p>
            <a:r>
              <a:rPr lang="en-US" sz="1600" dirty="0"/>
              <a:t>Q5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60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60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en-US" sz="1600" dirty="0"/>
                  <a:t>A=x(60−2x)=60x−2x^(2)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Q5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d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A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d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den>
                    </m:f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60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(dA)/(dx)=60−4x=0</a:t>
                </a:r>
              </mc:Fallback>
            </mc:AlternateContent>
            <a:r>
              <a:rPr lang="en-US" sz="1600" dirty="0"/>
              <a:t>,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15</m:t>
                    </m:r>
                  </m:oMath>
                </a14:m>
              </mc:Choice>
              <mc:Fallback>
                <a:r>
                  <a:rPr lang="en-US" sz="1600" dirty="0"/>
                  <a:t>x=15</a:t>
                </a:r>
              </mc:Fallback>
            </mc:AlternateContent>
            <a:r>
              <a:rPr lang="en-US" sz="1600" dirty="0"/>
              <a:t>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d</m:t>
                            </m:r>
                          </m:e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A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d</m:t>
                        </m:r>
                        <m:sSup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&lt;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\dfracd^(2)Adx^(2)=−4&lt;0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Watch for:</a:t>
            </a:r>
            <a:endParaRPr lang="en-US" sz="1600" dirty="0"/>
          </a:p>
          <a:p>
            <a:r>
              <a:rPr lang="en-US" sz="1600" dirty="0"/>
              <a:t>L4: writing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y</m:t>
                    </m:r>
                  </m:oMath>
                </a14:m>
              </mc:Choice>
              <mc:Fallback>
                <a:r>
                  <a:rPr lang="en-US" sz="1600" dirty="0"/>
                  <a:t>A=xy</a:t>
                </a:r>
              </mc:Fallback>
            </mc:AlternateContent>
            <a:r>
              <a:rPr lang="en-US" sz="1600" dirty="0"/>
              <a:t> and differentiating with two letters</a:t>
            </a:r>
            <a:endParaRPr lang="en-US" sz="1600" dirty="0"/>
          </a:p>
          <a:p>
            <a:r>
              <a:rPr lang="en-US" sz="1600" dirty="0"/>
              <a:t>using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y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60</m:t>
                    </m:r>
                  </m:oMath>
                </a14:m>
              </mc:Choice>
              <mc:Fallback>
                <a:r>
                  <a:rPr lang="en-US" sz="1600" dirty="0"/>
                  <a:t>2x+2y=60</a:t>
                </a:r>
              </mc:Fallback>
            </mc:AlternateContent>
            <a:r>
              <a:rPr lang="en-US" sz="1600" dirty="0"/>
              <a:t> (four sides) when the wall is one side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en-US" sz="1600" dirty="0"/>
              <a:t>Q1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30</m:t>
                    </m:r>
                  </m:oMath>
                </a14:m>
              </mc:Choice>
              <mc:Fallback>
                <a:r>
                  <a:rPr lang="en-US" sz="1600" dirty="0"/>
                  <a:t>30</a:t>
                </a:r>
              </mc:Fallback>
            </mc:AlternateContent>
            <a:r>
              <a:rPr lang="en-US" sz="1600" dirty="0"/>
              <a:t> items; profit 1300 dollars</a:t>
            </a:r>
            <a:endParaRPr lang="en-US" sz="1600" dirty="0"/>
          </a:p>
          <a:p>
            <a:r>
              <a:rPr lang="en-US" sz="1600" dirty="0"/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en-US" sz="1600" dirty="0"/>
                  <a:t>x=2</a:t>
                </a:r>
              </mc:Fallback>
            </mc:AlternateContent>
            <a:r>
              <a:rPr lang="en-US" sz="1600" dirty="0"/>
              <a:t> cm; volume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128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c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m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</mc:Choice>
              <mc:Fallback>
                <a:r>
                  <a:rPr lang="en-US" sz="1600" dirty="0"/>
                  <a:t>128\ cm^(3)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Short solution:</a:t>
            </a:r>
            <a:endParaRPr lang="en-US" sz="1600" dirty="0"/>
          </a:p>
          <a:p>
            <a:r>
              <a:rPr lang="en-US" sz="1600" dirty="0"/>
              <a:t>Q1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P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′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120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P'=120−4x=0</a:t>
                </a:r>
              </mc:Fallback>
            </mc:AlternateContent>
            <a:r>
              <a:rPr lang="en-US" sz="1600" dirty="0"/>
              <a:t>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P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3600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1800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500</m:t>
                    </m:r>
                  </m:oMath>
                </a14:m>
              </mc:Choice>
              <mc:Fallback>
                <a:r>
                  <a:rPr lang="en-US" sz="1600" dirty="0"/>
                  <a:t>P=3600−1800−500</a:t>
                </a:r>
              </mc:Fallback>
            </mc:AlternateContent>
            <a:r>
              <a:rPr lang="en-US" sz="1600" dirty="0"/>
              <a:t>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P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″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&lt;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P''=−4&lt;0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V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sSup>
                      <m:e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12</m:t>
                            </m:r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x</m:t>
                            </m:r>
                          </m:e>
                        </m:d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48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144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</m:oMath>
                </a14:m>
              </mc:Choice>
              <mc:Fallback>
                <a:r>
                  <a:rPr lang="en-US" sz="1600" dirty="0"/>
                  <a:t>V=x(12−2x)^(2)=4x^(3)−48x^(2)+144x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V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′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96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144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12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e>
                    </m:d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6</m:t>
                        </m:r>
                      </m:e>
                    </m:d>
                  </m:oMath>
                </a14:m>
              </mc:Choice>
              <mc:Fallback>
                <a:r>
                  <a:rPr lang="en-US" sz="1600" dirty="0"/>
                  <a:t>V'=12x^(2)−96x+144=12(x−2)(x−6)</a:t>
                </a:r>
              </mc:Fallback>
            </mc:AlternateContent>
            <a:r>
              <a:rPr lang="en-US" sz="1600" dirty="0"/>
              <a:t>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6</m:t>
                    </m:r>
                  </m:oMath>
                </a14:m>
              </mc:Choice>
              <mc:Fallback>
                <a:r>
                  <a:rPr lang="en-US" sz="1600" dirty="0"/>
                  <a:t>x=6</a:t>
                </a:r>
              </mc:Fallback>
            </mc:AlternateContent>
            <a:r>
              <a:rPr lang="en-US" sz="1600" dirty="0"/>
              <a:t> gives no box</a:t>
            </a:r>
            <a:endParaRPr lang="en-US" sz="1600" dirty="0"/>
          </a:p>
          <a:p>
            <a:r>
              <a:rPr lang="en-US" sz="1600" dirty="0"/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V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″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24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96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&lt;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V''=24x−96=−48&lt;0</a:t>
                </a:r>
              </mc:Fallback>
            </mc:AlternateContent>
            <a:r>
              <a:rPr lang="en-US" sz="1600" dirty="0"/>
              <a:t> at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en-US" sz="1600" dirty="0"/>
                  <a:t>x=2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Watch for:</a:t>
            </a:r>
            <a:endParaRPr lang="en-US" sz="1600" dirty="0"/>
          </a:p>
          <a:p>
            <a:r>
              <a:rPr lang="en-US" sz="1600" dirty="0"/>
              <a:t>Q2 Excellence: the model must be built and the impossible root rejected with a reason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en-US" sz="1600" dirty="0"/>
              <a:t>Teaching line, not a question slide.</a:t>
            </a:r>
            <a:endParaRPr lang="en-US" sz="1600" dirty="0"/>
          </a:p>
          <a:p>
            <a:r>
              <a:rPr lang="en-US" sz="1600" dirty="0"/>
              <a:t>Full list L1 to L6 in the handout; L6 (units and context) applies to every answer.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en-US" sz="1600" dirty="0"/>
              <a:t>Teaching line, not a question slide.</a:t>
            </a:r>
            <a:endParaRPr lang="en-US" sz="1600" dirty="0"/>
          </a:p>
          <a:p>
            <a:r>
              <a:rPr lang="en-US" sz="1600" dirty="0"/>
              <a:t>Ask the student to say each line back before looking at the screen.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en-US" sz="1600" dirty="0"/>
              <a:t>Q1 maximum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 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64</m:t>
                        </m:r>
                      </m:e>
                    </m:d>
                  </m:oMath>
                </a14:m>
              </mc:Choice>
              <mc:Fallback>
                <a:r>
                  <a:rPr lang="en-US" sz="1600" dirty="0"/>
                  <a:t>(−3, 64)</a:t>
                </a:r>
              </mc:Fallback>
            </mc:AlternateContent>
            <a:r>
              <a:rPr lang="en-US" sz="1600" dirty="0"/>
              <a:t>; minimum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44</m:t>
                        </m:r>
                      </m:e>
                    </m:d>
                  </m:oMath>
                </a14:m>
              </mc:Choice>
              <mc:Fallback>
                <a:r>
                  <a:rPr lang="en-US" sz="1600" dirty="0"/>
                  <a:t>(3, −44)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12.5</m:t>
                    </m:r>
                  </m:oMath>
                </a14:m>
              </mc:Choice>
              <mc:Fallback>
                <a:r>
                  <a:rPr lang="en-US" sz="1600" dirty="0"/>
                  <a:t>12.5</a:t>
                </a:r>
              </mc:Fallback>
            </mc:AlternateContent>
            <a:r>
              <a:rPr lang="en-US" sz="1600" dirty="0"/>
              <a:t> m (at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1.5</m:t>
                    </m:r>
                  </m:oMath>
                </a14:m>
              </mc:Choice>
              <mc:Fallback>
                <a:r>
                  <a:rPr lang="en-US" sz="1600" dirty="0"/>
                  <a:t>t=1.5</a:t>
                </a:r>
              </mc:Fallback>
            </mc:AlternateContent>
            <a:r>
              <a:rPr lang="en-US" sz="1600" dirty="0"/>
              <a:t> s)</a:t>
            </a:r>
            <a:endParaRPr lang="en-US" sz="1600" dirty="0"/>
          </a:p>
          <a:p>
            <a:r>
              <a:rPr lang="en-US" sz="1600" dirty="0"/>
              <a:t>Q3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&lt;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&lt;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2.5</m:t>
                    </m:r>
                  </m:oMath>
                </a14:m>
              </mc:Choice>
              <mc:Fallback>
                <a:r>
                  <a:rPr lang="en-US" sz="1600" dirty="0"/>
                  <a:t>−4&lt;x&lt;2.5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Q4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26.8</m:t>
                    </m:r>
                  </m:oMath>
                </a14:m>
              </mc:Choice>
              <mc:Fallback>
                <a:r>
                  <a:rPr lang="en-US" sz="1600" dirty="0"/>
                  <a:t>26.8</a:t>
                </a:r>
              </mc:Fallback>
            </mc:AlternateContent>
            <a:r>
              <a:rPr lang="en-US" sz="1600" dirty="0"/>
              <a:t> m</a:t>
            </a:r>
            <a:endParaRPr lang="en-US" sz="1600" dirty="0"/>
          </a:p>
          <a:p>
            <a:r>
              <a:rPr lang="en-US" sz="1600" dirty="0"/>
              <a:t>Q5 (i)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352</m:t>
                    </m:r>
                  </m:oMath>
                </a14:m>
              </mc:Choice>
              <mc:Fallback>
                <a:r>
                  <a:rPr lang="en-US" sz="1600" dirty="0"/>
                  <a:t>352</a:t>
                </a:r>
              </mc:Fallback>
            </mc:AlternateContent>
            <a:r>
              <a:rPr lang="en-US" sz="1600" dirty="0"/>
              <a:t> and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352</m:t>
                    </m:r>
                  </m:oMath>
                </a14:m>
              </mc:Choice>
              <mc:Fallback>
                <a:r>
                  <a:rPr lang="en-US" sz="1600" dirty="0"/>
                  <a:t>−352</a:t>
                </a:r>
              </mc:Fallback>
            </mc:AlternateContent>
            <a:r>
              <a:rPr lang="en-US" sz="1600" dirty="0"/>
              <a:t> viewers per month; (ii)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6336</m:t>
                    </m:r>
                  </m:oMath>
                </a14:m>
              </mc:Choice>
              <mc:Fallback>
                <a:r>
                  <a:rPr lang="en-US" sz="1600" dirty="0"/>
                  <a:t>6336</a:t>
                </a:r>
              </mc:Fallback>
            </mc:AlternateContent>
            <a:r>
              <a:rPr lang="en-US" sz="1600" dirty="0"/>
              <a:t> viewers</a:t>
            </a:r>
            <a:endParaRPr lang="en-US" sz="1600" dirty="0"/>
          </a:p>
          <a:p>
            <a:r>
              <a:rPr lang="en-US" sz="1600" dirty="0"/>
              <a:t>Q6 wall height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</m:oMath>
                </a14:m>
              </mc:Choice>
              <mc:Fallback>
                <a:r>
                  <a:rPr lang="en-US" sz="1600" dirty="0"/>
                  <a:t>3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Q7 (i)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169.8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c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m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en-US" sz="1600" dirty="0"/>
                  <a:t>169.8\ cm^(2)</a:t>
                </a:r>
              </mc:Fallback>
            </mc:AlternateContent>
            <a:r>
              <a:rPr lang="en-US" sz="1600" dirty="0"/>
              <a:t>; (ii)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″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6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&lt;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A''=−6π&lt;0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Short solution:</a:t>
            </a:r>
            <a:endParaRPr lang="en-US" sz="1600" dirty="0"/>
          </a:p>
          <a:p>
            <a:r>
              <a:rPr lang="en-US" sz="1600" dirty="0"/>
              <a:t>Q3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′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5</m:t>
                        </m:r>
                      </m:e>
                    </m:d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</mc:Choice>
              <mc:Fallback>
                <a:r>
                  <a:rPr lang="en-US" sz="1600" dirty="0"/>
                  <a:t>f'(x)=2x^(2)+3x−20=(2x−5)(x+4)</a:t>
                </a:r>
              </mc:Fallback>
            </mc:AlternateContent>
            <a:r>
              <a:rPr lang="en-US" sz="1600" dirty="0"/>
              <a:t>, negative between the roots</a:t>
            </a:r>
            <a:endParaRPr lang="en-US" sz="1600" dirty="0"/>
          </a:p>
          <a:p>
            <a:r>
              <a:rPr lang="en-US" sz="1600" dirty="0"/>
              <a:t>Q4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h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′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22.5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9.8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h'=22.5−9.8t=0</a:t>
                </a:r>
              </mc:Fallback>
            </mc:AlternateContent>
            <a:r>
              <a:rPr lang="en-US" sz="1600" dirty="0"/>
              <a:t>,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2.296</m:t>
                    </m:r>
                  </m:oMath>
                </a14:m>
              </mc:Choice>
              <mc:Fallback>
                <a:r>
                  <a:rPr lang="en-US" sz="1600" dirty="0"/>
                  <a:t>t=2.296</a:t>
                </a:r>
              </mc:Fallback>
            </mc:AlternateContent>
            <a:r>
              <a:rPr lang="en-US" sz="1600" dirty="0"/>
              <a:t>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h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″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9.8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&lt;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h''=−9.8&lt;0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Q5 (i)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48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320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t^(2)−48t+320=0</a:t>
                </a:r>
              </mc:Fallback>
            </mc:AlternateContent>
            <a:r>
              <a:rPr lang="en-US" sz="1600" dirty="0"/>
              <a:t>,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8</m:t>
                    </m:r>
                  </m:oMath>
                </a14:m>
              </mc:Choice>
              <mc:Fallback>
                <a:r>
                  <a:rPr lang="en-US" sz="1600" dirty="0"/>
                  <a:t>t=8</a:t>
                </a:r>
              </mc:Fallback>
            </mc:AlternateContent>
            <a:r>
              <a:rPr lang="en-US" sz="1600" dirty="0"/>
              <a:t> or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40</m:t>
                    </m:r>
                  </m:oMath>
                </a14:m>
              </mc:Choice>
              <mc:Fallback>
                <a:r>
                  <a:rPr lang="en-US" sz="1600" dirty="0"/>
                  <a:t>40</a:t>
                </a:r>
              </mc:Fallback>
            </mc:AlternateContent>
            <a:r>
              <a:rPr lang="en-US" sz="1600" dirty="0"/>
              <a:t>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V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′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22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528</m:t>
                    </m:r>
                  </m:oMath>
                </a14:m>
              </mc:Choice>
              <mc:Fallback>
                <a:r>
                  <a:rPr lang="en-US" sz="1600" dirty="0"/>
                  <a:t>V'=−22t+528</a:t>
                </a:r>
              </mc:Fallback>
            </mc:AlternateContent>
            <a:r>
              <a:rPr lang="en-US" sz="1600" dirty="0"/>
              <a:t>; (ii)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24</m:t>
                    </m:r>
                  </m:oMath>
                </a14:m>
              </mc:Choice>
              <mc:Fallback>
                <a:r>
                  <a:rPr lang="en-US" sz="1600" dirty="0"/>
                  <a:t>t=24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Q6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18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</mc:Choice>
              <mc:Fallback>
                <a:r>
                  <a:rPr lang="en-US" sz="1600" dirty="0"/>
                  <a:t>A=2x(9−x^(2))+x· x^(2)=18x−x^(3)</a:t>
                </a:r>
              </mc:Fallback>
            </mc:AlternateContent>
            <a:r>
              <a:rPr lang="en-US" sz="1600" dirty="0"/>
              <a:t>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6</m:t>
                    </m:r>
                  </m:oMath>
                </a14:m>
              </mc:Choice>
              <mc:Fallback>
                <a:r>
                  <a:rPr lang="en-US" sz="1600" dirty="0"/>
                  <a:t>x^(2)=6</a:t>
                </a:r>
              </mc:Fallback>
            </mc:AlternateContent>
            <a:r>
              <a:rPr lang="en-US" sz="1600" dirty="0"/>
              <a:t>; wall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6</m:t>
                    </m:r>
                  </m:oMath>
                </a14:m>
              </mc:Choice>
              <mc:Fallback>
                <a:r>
                  <a:rPr lang="en-US" sz="1600" dirty="0"/>
                  <a:t>9−6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Q7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L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π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r</m:t>
                    </m:r>
                  </m:oMath>
                </a14:m>
              </mc:Choice>
              <mc:Fallback>
                <a:r>
                  <a:rPr lang="en-US" sz="1600" dirty="0"/>
                  <a:t>L=40−π r</a:t>
                </a:r>
              </mc:Fallback>
            </mc:AlternateContent>
            <a:r>
              <a:rPr lang="en-US" sz="1600" dirty="0"/>
              <a:t>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r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L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π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80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π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en-US" sz="1600" dirty="0"/>
                  <a:t>A=2rL−π r^(2)=80r−3π r^(2)</a:t>
                </a:r>
              </mc:Fallback>
            </mc:AlternateContent>
            <a:r>
              <a:rPr lang="en-US" sz="1600" dirty="0"/>
              <a:t>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40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3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</mc:Choice>
              <mc:Fallback>
                <a:r>
                  <a:rPr lang="en-US" sz="1600" dirty="0"/>
                  <a:t>r=(40)/(3π)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Watch for:</a:t>
            </a:r>
            <a:endParaRPr lang="en-US" sz="1600" dirty="0"/>
          </a:p>
          <a:p>
            <a:r>
              <a:rPr lang="en-US" sz="1600" dirty="0"/>
              <a:t>Q5 (i) two times give two rates, one positive, one negative</a:t>
            </a:r>
            <a:endParaRPr lang="en-US" sz="1600" dirty="0"/>
          </a:p>
          <a:p>
            <a:r>
              <a:rPr lang="en-US" sz="1600" dirty="0"/>
              <a:t>Q6 the triangle's height is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en-US" sz="1600" dirty="0"/>
                  <a:t>x^(2)</a:t>
                </a:r>
              </mc:Fallback>
            </mc:AlternateContent>
            <a:r>
              <a:rPr lang="en-US" sz="1600" dirty="0"/>
              <a:t>, not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9</m:t>
                    </m:r>
                  </m:oMath>
                </a14:m>
              </mc:Choice>
              <mc:Fallback>
                <a:r>
                  <a:rPr lang="en-US" sz="1600" dirty="0"/>
                  <a:t>9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Full working: practice answer version (tutor's working, not an official mark scheme)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en-US" sz="1600" dirty="0"/>
              <a:t>Teaching line, not a question slide.</a:t>
            </a:r>
            <a:endParaRPr lang="en-US" sz="1600" dirty="0"/>
          </a:p>
          <a:p>
            <a:r>
              <a:rPr lang="en-US" sz="1600" dirty="0"/>
              <a:t>Answers: homework answer version (tutor's working, not an official mark scheme).</a:t>
            </a:r>
            <a:endParaRPr lang="en-US" sz="1600" dirty="0"/>
          </a:p>
          <a:p>
            <a:r>
              <a:rPr lang="en-US" sz="1600" dirty="0"/>
              <a:t>Next lesson Do Now checks a turning point and a decreasing interval.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