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两小时考前冲刺，一对一，投屏远距离。学生基础好，节奏可以快。</a:t>
            </a:r>
            <a:endParaRPr lang="zh-CN" sz="1600"/>
          </a:p>
          <a:p>
            <a:r>
              <a:rPr lang="zh-CN" sz="1600" dirty="0">
                <a:latin typeface="Arial"/>
                <a:ea typeface="Microsoft YaHei"/>
              </a:rPr>
              <a:t>时间表：Lesson 1 Green Machines 0:00–0:50；Lesson 2 Metallic materials 0:50–1:40；Mini mock 1:40–1:57；作业 1:57–2:00。</a:t>
            </a:r>
            <a:endParaRPr lang="zh-CN" sz="1600"/>
          </a:p>
          <a:p>
            <a:r>
              <a:rPr lang="zh-CN" sz="1600" dirty="0">
                <a:latin typeface="Arial"/>
                <a:ea typeface="Microsoft YaHei"/>
              </a:rPr>
              <a:t>开课前发纸：Classwork (Part A–F) 和 Mini mock 先发 Classwork，Mini mock 到 1:40 再发；Homework 两份下课时发。全部下课收回。</a:t>
            </a:r>
            <a:endParaRPr lang="zh-CN" sz="1600"/>
          </a:p>
          <a:p>
            <a:r>
              <a:rPr lang="zh-CN" sz="1600" dirty="0">
                <a:latin typeface="Arial"/>
                <a:ea typeface="Microsoft YaHei"/>
              </a:rPr>
              <a:t>评分语言统一用 A / M / E：A 写出事实，M 把原因连上，E 把整条链写完整并用数据或对比。</a:t>
            </a:r>
            <a:endParaRPr lang="zh-CN" sz="1600"/>
          </a:p>
          <a:p>
            <a:r>
              <a:rPr lang="zh-CN" sz="1600" dirty="0">
                <a:latin typeface="Arial"/>
                <a:ea typeface="Microsoft YaHei"/>
              </a:rPr>
              <a:t>课件页脚的页码指她的两本 booklet：Green Machines p.X 和 Metals p.X。</a:t>
            </a:r>
            <a:endParaRPr lang="zh-CN" sz="1600"/>
          </a:p>
          <a:p>
            <a:r>
              <a:rPr lang="zh-CN" sz="1600" dirty="0">
                <a:latin typeface="Arial"/>
                <a:ea typeface="Microsoft YaHei"/>
              </a:rPr>
              <a:t>Script:</a:t>
            </a:r>
            <a:endParaRPr lang="zh-CN" sz="1600"/>
          </a:p>
          <a:p>
            <a:r>
              <a:rPr lang="zh-CN" sz="1600" dirty="0">
                <a:latin typeface="Arial"/>
                <a:ea typeface="Microsoft YaHei"/>
              </a:rPr>
              <a:t>说：“今天两个小时，前 50 分钟复习 Green Machines (植物) ，后 50 分钟复习 Metallic materials (金属) ，最后 17 分钟做一份 mini mock (小模考) 。”</a:t>
            </a:r>
            <a:endParaRPr lang="zh-CN" sz="1600"/>
          </a:p>
          <a:p>
            <a:r>
              <a:rPr lang="zh-CN" sz="1600" dirty="0">
                <a:latin typeface="Arial"/>
                <a:ea typeface="Microsoft YaHei"/>
              </a:rPr>
              <a:t>说：“每一段都会先快速回忆单词，再讲重点，再找 Sam 的错误，最后做几道练习题。”</a:t>
            </a:r>
            <a:endParaRPr lang="zh-CN" sz="1600"/>
          </a:p>
          <a:p>
            <a:r>
              <a:rPr lang="zh-CN" sz="1600" dirty="0">
                <a:latin typeface="Arial"/>
                <a:ea typeface="Microsoft YaHei"/>
              </a:rPr>
              <a:t>说：“回答问题的时候，科学词一定用英文说，因为考试要写英文。”</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0:00–0:02。</a:t>
            </a:r>
            <a:endParaRPr lang="zh-CN" sz="1600"/>
          </a:p>
          <a:p>
            <a:r>
              <a:rPr lang="zh-CN" sz="1600" dirty="0">
                <a:latin typeface="Arial"/>
                <a:ea typeface="Microsoft YaHei"/>
              </a:rPr>
              <a:t>告诉她这一小时的三段：Loop 1 reproduction，Loop 2 photosynthesis and respiration，Loop 3 transport。每段结尾 2–3 道 Practice，最后 10 分钟做 Classwork Part A–C。</a:t>
            </a:r>
            <a:endParaRPr lang="zh-CN" sz="1600"/>
          </a:p>
          <a:p>
            <a:r>
              <a:rPr lang="zh-CN" sz="1600" dirty="0">
                <a:latin typeface="Arial"/>
                <a:ea typeface="Microsoft YaHei"/>
              </a:rPr>
              <a:t>她这本 booklet 基本都写了，所以今天不是重新教，而是把答案写到 M 和 E。</a:t>
            </a:r>
            <a:endParaRPr lang="zh-CN" sz="1600"/>
          </a:p>
          <a:p>
            <a:r>
              <a:rPr lang="zh-CN" sz="1600" dirty="0">
                <a:latin typeface="Arial"/>
                <a:ea typeface="Microsoft YaHei"/>
              </a:rPr>
              <a:t>Script:</a:t>
            </a:r>
            <a:endParaRPr lang="zh-CN" sz="1600"/>
          </a:p>
          <a:p>
            <a:r>
              <a:rPr lang="zh-CN" sz="1600" dirty="0">
                <a:latin typeface="Arial"/>
                <a:ea typeface="Microsoft YaHei"/>
              </a:rPr>
              <a:t>说：“第一课，Green Machines。我们要解释三件事：plant 怎么 make food，怎么 move water，怎么 make new plants。”</a:t>
            </a:r>
            <a:endParaRPr lang="zh-CN" sz="1600"/>
          </a:p>
          <a:p>
            <a:r>
              <a:rPr lang="zh-CN" sz="1600" dirty="0">
                <a:latin typeface="Arial"/>
                <a:ea typeface="Microsoft YaHei"/>
              </a:rPr>
              <a:t>说：“你 booklet 基本都做完了，所以今天的目标不是重新学，而是把答案写到 Merit 和 Excellence 的水平。”</a:t>
            </a:r>
            <a:endParaRPr lang="zh-CN" sz="1600"/>
          </a:p>
          <a:p>
            <a:r>
              <a:rPr lang="zh-CN" sz="1600" dirty="0">
                <a:latin typeface="Arial"/>
                <a:ea typeface="Microsoft YaHei"/>
              </a:rPr>
              <a:t>Say it:</a:t>
            </a:r>
            <a:endParaRPr lang="zh-CN" sz="1600"/>
          </a:p>
          <a:p>
            <a:r>
              <a:rPr lang="zh-CN" sz="1600" dirty="0">
                <a:latin typeface="Arial"/>
                <a:ea typeface="Microsoft YaHei"/>
              </a:rPr>
              <a:t>photosynthesis = foh-toh-SIN-thuh-sis</a:t>
            </a:r>
            <a:endParaRPr lang="zh-CN" sz="1600"/>
          </a:p>
          <a:p>
            <a:r>
              <a:rPr lang="zh-CN" sz="1600" dirty="0">
                <a:latin typeface="Arial"/>
                <a:ea typeface="Microsoft YaHei"/>
              </a:rPr>
              <a:t>respiration = res-pih-RAY-shun</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anther</a:t>
            </a:r>
            <a:endParaRPr lang="zh-CN" sz="1600"/>
          </a:p>
          <a:p>
            <a:r>
              <a:rPr lang="zh-CN" sz="1600" dirty="0">
                <a:latin typeface="Arial"/>
                <a:ea typeface="Microsoft YaHei"/>
              </a:rPr>
              <a:t>Q2 fertilisation</a:t>
            </a:r>
            <a:endParaRPr lang="zh-CN" sz="1600"/>
          </a:p>
          <a:p>
            <a:r>
              <a:rPr lang="zh-CN" sz="1600" dirty="0">
                <a:latin typeface="Arial"/>
                <a:ea typeface="Microsoft YaHei"/>
              </a:rPr>
              <a:t>Q3 water, warmth, oxygen</a:t>
            </a:r>
            <a:endParaRPr lang="zh-CN" sz="1600"/>
          </a:p>
          <a:p>
            <a:r>
              <a:rPr lang="zh-CN" sz="1600" dirty="0">
                <a:latin typeface="Arial"/>
                <a:ea typeface="Microsoft YaHei"/>
              </a:rPr>
              <a:t>Q4 carbon dioxide</a:t>
            </a:r>
            <a:endParaRPr lang="zh-CN" sz="1600"/>
          </a:p>
          <a:p>
            <a:r>
              <a:rPr lang="zh-CN" sz="1600" dirty="0">
                <a:latin typeface="Arial"/>
                <a:ea typeface="Microsoft YaHei"/>
              </a:rPr>
              <a:t>Q5 xylem</a:t>
            </a:r>
            <a:endParaRPr lang="zh-CN" sz="1600"/>
          </a:p>
          <a:p>
            <a:r>
              <a:rPr lang="zh-CN" sz="1600" dirty="0">
                <a:latin typeface="Arial"/>
                <a:ea typeface="Microsoft YaHei"/>
              </a:rPr>
              <a:t>Short solution:</a:t>
            </a:r>
            <a:endParaRPr lang="zh-CN" sz="1600"/>
          </a:p>
          <a:p>
            <a:r>
              <a:rPr lang="zh-CN" sz="1600" dirty="0">
                <a:latin typeface="Arial"/>
                <a:ea typeface="Microsoft YaHei"/>
              </a:rPr>
              <a:t>Q1 anther 在 filament 顶端，两者合起来是 stamen</a:t>
            </a:r>
            <a:endParaRPr lang="zh-CN" sz="1600"/>
          </a:p>
          <a:p>
            <a:r>
              <a:rPr lang="zh-CN" sz="1600" dirty="0">
                <a:latin typeface="Arial"/>
                <a:ea typeface="Microsoft YaHei"/>
              </a:rPr>
              <a:t>Q2 pollen 从 anther 到 stigma 是 pollination；两个 nucleus 融合才叫 fertilisation</a:t>
            </a:r>
            <a:endParaRPr lang="zh-CN" sz="1600"/>
          </a:p>
          <a:p>
            <a:r>
              <a:rPr lang="zh-CN" sz="1600" dirty="0">
                <a:latin typeface="Arial"/>
                <a:ea typeface="Microsoft YaHei"/>
              </a:rPr>
              <a:t>Watch for:</a:t>
            </a:r>
            <a:endParaRPr lang="zh-CN" sz="1600"/>
          </a:p>
          <a:p>
            <a:r>
              <a:rPr lang="zh-CN" sz="1600" dirty="0">
                <a:latin typeface="Arial"/>
                <a:ea typeface="Microsoft YaHei"/>
              </a:rPr>
              <a:t>Q2 答 pollination 说明两个词混了，这是她最容易丢的定义分</a:t>
            </a:r>
            <a:endParaRPr lang="zh-CN" sz="1600"/>
          </a:p>
          <a:p>
            <a:r>
              <a:rPr lang="zh-CN" sz="1600" dirty="0">
                <a:latin typeface="Arial"/>
                <a:ea typeface="Microsoft YaHei"/>
              </a:rPr>
              <a:t>Q5 答 “veins” 不够，要写 xylem</a:t>
            </a:r>
            <a:endParaRPr lang="zh-CN" sz="1600"/>
          </a:p>
          <a:p>
            <a:r>
              <a:rPr lang="zh-CN" sz="1600" dirty="0">
                <a:latin typeface="Arial"/>
                <a:ea typeface="Microsoft YaHei"/>
              </a:rPr>
              <a:t>Diagnostic:</a:t>
            </a:r>
            <a:endParaRPr lang="zh-CN" sz="1600"/>
          </a:p>
          <a:p>
            <a:r>
              <a:rPr lang="zh-CN" sz="1600" dirty="0">
                <a:latin typeface="Arial"/>
                <a:ea typeface="Microsoft YaHei"/>
              </a:rPr>
              <a:t>Q2 错：Loop 1 的 “From pollen to seed” 多花 1 分钟</a:t>
            </a:r>
            <a:endParaRPr lang="zh-CN" sz="1600"/>
          </a:p>
          <a:p>
            <a:r>
              <a:rPr lang="zh-CN" sz="1600" dirty="0">
                <a:latin typeface="Arial"/>
                <a:ea typeface="Microsoft YaHei"/>
              </a:rPr>
              <a:t>Q4 答 oxygen：把 photosynthesis 和 respiration 的方程式记反了，Loop 2 先讲方程式</a:t>
            </a:r>
            <a:endParaRPr lang="zh-CN" sz="1600"/>
          </a:p>
          <a:p>
            <a:r>
              <a:rPr lang="zh-CN" sz="1600" dirty="0">
                <a:latin typeface="Arial"/>
                <a:ea typeface="Microsoft YaHei"/>
              </a:rPr>
              <a:t>Q5 答 phloem：xylem 和 phloem 混淆，Loop 3 的 Quick review 先做</a:t>
            </a:r>
            <a:endParaRPr lang="zh-CN" sz="1600"/>
          </a:p>
          <a:p>
            <a:r>
              <a:rPr lang="zh-CN" sz="1600" dirty="0">
                <a:latin typeface="Arial"/>
                <a:ea typeface="Microsoft YaHei"/>
              </a:rPr>
              <a:t>Script:</a:t>
            </a:r>
            <a:endParaRPr lang="zh-CN" sz="1600"/>
          </a:p>
          <a:p>
            <a:r>
              <a:rPr lang="zh-CN" sz="1600" dirty="0">
                <a:latin typeface="Arial"/>
                <a:ea typeface="Microsoft YaHei"/>
              </a:rPr>
              <a:t>说：“先做 Do Now，五道题，每题一个词或一句话，用英文说答案。”</a:t>
            </a:r>
            <a:endParaRPr lang="zh-CN" sz="1600"/>
          </a:p>
          <a:p>
            <a:r>
              <a:rPr lang="zh-CN" sz="1600" dirty="0">
                <a:latin typeface="Arial"/>
                <a:ea typeface="Microsoft YaHei"/>
              </a:rPr>
              <a:t>念第 1 题：“Which part of a flower makes pollen? 花的哪个部分产生 pollen？” 她应答 anther (花药)。</a:t>
            </a:r>
            <a:endParaRPr lang="zh-CN" sz="1600"/>
          </a:p>
          <a:p>
            <a:r>
              <a:rPr lang="zh-CN" sz="1600" dirty="0">
                <a:latin typeface="Arial"/>
                <a:ea typeface="Microsoft YaHei"/>
              </a:rPr>
              <a:t>念第 2 题：“Pollination or fertilisation?” 她应答 fertilisation。如果她答 pollination，说：“pollination 只是把 pollen 送到 stigma (柱头) 上；两个 nucleus 合在一起才叫 fertilisation。”</a:t>
            </a:r>
            <a:endParaRPr lang="zh-CN" sz="1600"/>
          </a:p>
          <a:p>
            <a:r>
              <a:rPr lang="zh-CN" sz="1600" dirty="0">
                <a:latin typeface="Arial"/>
                <a:ea typeface="Microsoft YaHei"/>
              </a:rPr>
              <a:t>念第 3 题，她应答 water, warmth, oxygen，三个都要说出来。</a:t>
            </a:r>
            <a:endParaRPr lang="zh-CN" sz="1600"/>
          </a:p>
          <a:p>
            <a:r>
              <a:rPr lang="zh-CN" sz="1600" dirty="0">
                <a:latin typeface="Arial"/>
                <a:ea typeface="Microsoft YaHei"/>
              </a:rPr>
              <a:t>念第 4、5 题：答案 carbon dioxide (二氧化碳) 和 xylem (木质部，运水的管道)。</a:t>
            </a:r>
            <a:endParaRPr lang="zh-CN" sz="1600"/>
          </a:p>
          <a:p>
            <a:r>
              <a:rPr lang="zh-CN" sz="1600" dirty="0">
                <a:latin typeface="Arial"/>
                <a:ea typeface="Microsoft YaHei"/>
              </a:rPr>
              <a:t>说：“答错的题我们待会儿重点讲。”</a:t>
            </a:r>
            <a:endParaRPr lang="zh-CN" sz="1600"/>
          </a:p>
          <a:p>
            <a:r>
              <a:rPr lang="zh-CN" sz="1600" dirty="0">
                <a:latin typeface="Arial"/>
                <a:ea typeface="Microsoft YaHei"/>
              </a:rPr>
              <a:t>Say it:</a:t>
            </a:r>
            <a:endParaRPr lang="zh-CN" sz="1600"/>
          </a:p>
          <a:p>
            <a:r>
              <a:rPr lang="zh-CN" sz="1600" dirty="0">
                <a:latin typeface="Arial"/>
                <a:ea typeface="Microsoft YaHei"/>
              </a:rPr>
              <a:t>pollination = pol-ih-NAY-shun</a:t>
            </a:r>
            <a:endParaRPr lang="zh-CN" sz="1600"/>
          </a:p>
          <a:p>
            <a:r>
              <a:rPr lang="zh-CN" sz="1600" dirty="0">
                <a:latin typeface="Arial"/>
                <a:ea typeface="Microsoft YaHei"/>
              </a:rPr>
              <a:t>fertilisation = fer-tih-ly-ZAY-shun</a:t>
            </a:r>
            <a:endParaRPr lang="zh-CN" sz="1600"/>
          </a:p>
          <a:p>
            <a:r>
              <a:rPr lang="zh-CN" sz="1600" dirty="0">
                <a:latin typeface="Arial"/>
                <a:ea typeface="Microsoft YaHei"/>
              </a:rPr>
              <a:t>ovule = OV-yool</a:t>
            </a:r>
            <a:endParaRPr lang="zh-CN" sz="1600"/>
          </a:p>
          <a:p>
            <a:r>
              <a:rPr lang="zh-CN" sz="1600" dirty="0">
                <a:latin typeface="Arial"/>
                <a:ea typeface="Microsoft YaHei"/>
              </a:rPr>
              <a:t>germinate = JER-mih-nayt</a:t>
            </a:r>
            <a:endParaRPr lang="zh-CN" sz="1600"/>
          </a:p>
          <a:p>
            <a:r>
              <a:rPr lang="zh-CN" sz="1600" dirty="0">
                <a:latin typeface="Arial"/>
                <a:ea typeface="Microsoft YaHei"/>
              </a:rPr>
              <a:t>xylem = ZY-lum</a:t>
            </a:r>
            <a:endParaRPr lang="zh-CN" sz="1600"/>
          </a:p>
          <a:p>
            <a:r>
              <a:rPr lang="zh-CN" sz="1600" dirty="0">
                <a:latin typeface="Arial"/>
                <a:ea typeface="Microsoft YaHei"/>
              </a:rPr>
              <a:t>phloem = FLOH-um</a:t>
            </a:r>
            <a:endParaRPr lang="zh-CN" sz="1600"/>
          </a:p>
          <a:p>
            <a:r>
              <a:rPr lang="zh-CN" sz="1600" dirty="0">
                <a:latin typeface="Arial"/>
                <a:ea typeface="Microsoft YaHei"/>
              </a:rPr>
              <a:t>stamen = STAY-mun</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0:02–0:03。</a:t>
            </a:r>
            <a:endParaRPr lang="zh-CN" sz="1600"/>
          </a:p>
          <a:p>
            <a:r>
              <a:rPr lang="zh-CN" sz="1600" dirty="0">
                <a:latin typeface="Arial"/>
                <a:ea typeface="Microsoft YaHei"/>
              </a:rPr>
              <a:t>MAKE food = photosynthesis (叶子) ；MOVE materials = transport：water 走 xylem，glucose 走 phloem；MAKE new plants = reproduction：flower、seed、germination。</a:t>
            </a:r>
            <a:endParaRPr lang="zh-CN" sz="1600"/>
          </a:p>
          <a:p>
            <a:r>
              <a:rPr lang="zh-CN" sz="1600" dirty="0">
                <a:latin typeface="Arial"/>
                <a:ea typeface="Microsoft YaHei"/>
              </a:rPr>
              <a:t>问她：“testing a leaf for starch 属于哪一个？” 答：MAKE food，因为 starch 是储存起来的 glucose。</a:t>
            </a:r>
            <a:endParaRPr lang="zh-CN" sz="1600"/>
          </a:p>
          <a:p>
            <a:r>
              <a:rPr lang="zh-CN" sz="1600" dirty="0">
                <a:latin typeface="Arial"/>
                <a:ea typeface="Microsoft YaHei"/>
              </a:rPr>
              <a:t>考试时先判断是哪一件事，再用那一块的术语，答案就不会跑题。</a:t>
            </a:r>
            <a:endParaRPr lang="zh-CN" sz="1600"/>
          </a:p>
          <a:p>
            <a:r>
              <a:rPr lang="zh-CN" sz="1600" dirty="0">
                <a:latin typeface="Arial"/>
                <a:ea typeface="Microsoft YaHei"/>
              </a:rPr>
              <a:t>Script:</a:t>
            </a:r>
            <a:endParaRPr lang="zh-CN" sz="1600"/>
          </a:p>
          <a:p>
            <a:r>
              <a:rPr lang="zh-CN" sz="1600" dirty="0">
                <a:latin typeface="Arial"/>
                <a:ea typeface="Microsoft YaHei"/>
              </a:rPr>
              <a:t>说：“整个单元其实只有三件事：make food、move materials、make new plants。”</a:t>
            </a:r>
            <a:endParaRPr lang="zh-CN" sz="1600"/>
          </a:p>
          <a:p>
            <a:r>
              <a:rPr lang="zh-CN" sz="1600" dirty="0">
                <a:latin typeface="Arial"/>
                <a:ea typeface="Microsoft YaHei"/>
              </a:rPr>
              <a:t>问：“用碘液测叶子里有没有 starch (淀粉)，属于哪一件事？” 她应答：make food，因为 starch 是存起来的 glucose。</a:t>
            </a:r>
            <a:endParaRPr lang="zh-CN" sz="1600"/>
          </a:p>
          <a:p>
            <a:r>
              <a:rPr lang="zh-CN" sz="1600" dirty="0">
                <a:latin typeface="Arial"/>
                <a:ea typeface="Microsoft YaHei"/>
              </a:rPr>
              <a:t>说：“考试拿到一道题，先想它属于哪一件，再用那一块的英文词来写，答案就不会跑题。”</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A stigma, B style, C ovary, D anther, E filament, F sepal</a:t>
            </a:r>
            <a:endParaRPr lang="zh-CN" sz="1600"/>
          </a:p>
          <a:p>
            <a:r>
              <a:rPr lang="zh-CN" sz="1600" dirty="0">
                <a:latin typeface="Arial"/>
                <a:ea typeface="Microsoft YaHei"/>
              </a:rPr>
              <a:t>2. anther and filament (D and E)</a:t>
            </a:r>
            <a:endParaRPr lang="zh-CN" sz="1600"/>
          </a:p>
          <a:p>
            <a:r>
              <a:rPr lang="zh-CN" sz="1600" dirty="0">
                <a:latin typeface="Arial"/>
                <a:ea typeface="Microsoft YaHei"/>
              </a:rPr>
              <a:t>3. stigma, style and ovary (A, B and C)</a:t>
            </a:r>
            <a:endParaRPr lang="zh-CN" sz="1600"/>
          </a:p>
          <a:p>
            <a:r>
              <a:rPr lang="zh-CN" sz="1600" dirty="0">
                <a:latin typeface="Arial"/>
                <a:ea typeface="Microsoft YaHei"/>
              </a:rPr>
              <a:t>4. the ovary (C)</a:t>
            </a:r>
            <a:endParaRPr lang="zh-CN" sz="1600"/>
          </a:p>
          <a:p>
            <a:r>
              <a:rPr lang="zh-CN" sz="1600" dirty="0">
                <a:latin typeface="Arial"/>
                <a:ea typeface="Microsoft YaHei"/>
              </a:rPr>
              <a:t>Short solution:</a:t>
            </a:r>
            <a:endParaRPr lang="zh-CN" sz="1600"/>
          </a:p>
          <a:p>
            <a:r>
              <a:rPr lang="zh-CN" sz="1600" dirty="0">
                <a:latin typeface="Arial"/>
                <a:ea typeface="Microsoft YaHei"/>
              </a:rPr>
              <a:t>4. fertilisation 之后 ovary wall 变成 fruit，里面的 ovule 变成 seed</a:t>
            </a:r>
            <a:endParaRPr lang="zh-CN" sz="1600"/>
          </a:p>
          <a:p>
            <a:r>
              <a:rPr lang="zh-CN" sz="1600" dirty="0">
                <a:latin typeface="Arial"/>
                <a:ea typeface="Microsoft YaHei"/>
              </a:rPr>
              <a:t>Watch for:</a:t>
            </a:r>
            <a:endParaRPr lang="zh-CN" sz="1600"/>
          </a:p>
          <a:p>
            <a:r>
              <a:rPr lang="zh-CN" sz="1600" dirty="0">
                <a:latin typeface="Arial"/>
                <a:ea typeface="Microsoft YaHei"/>
              </a:rPr>
              <a:t>1. sepal 和 petal 不要混：sepal 在花的最外面最下面，花还是花苞时保护它</a:t>
            </a:r>
            <a:endParaRPr lang="zh-CN" sz="1600"/>
          </a:p>
          <a:p>
            <a:r>
              <a:rPr lang="zh-CN" sz="1600" dirty="0">
                <a:latin typeface="Arial"/>
                <a:ea typeface="Microsoft YaHei"/>
              </a:rPr>
              <a:t>3. carpel 也叫 pistil，两个名字都可以</a:t>
            </a:r>
            <a:endParaRPr lang="zh-CN" sz="1600"/>
          </a:p>
          <a:p>
            <a:r>
              <a:rPr lang="zh-CN" sz="1600" dirty="0">
                <a:latin typeface="Arial"/>
                <a:ea typeface="Microsoft YaHei"/>
              </a:rPr>
              <a:t>Script:</a:t>
            </a:r>
            <a:endParaRPr lang="zh-CN" sz="1600"/>
          </a:p>
          <a:p>
            <a:r>
              <a:rPr lang="zh-CN" sz="1600" dirty="0">
                <a:latin typeface="Arial"/>
                <a:ea typeface="Microsoft YaHei"/>
              </a:rPr>
              <a:t>说：“看图，从 A 到 F 说出名字，用英文。”</a:t>
            </a:r>
            <a:endParaRPr lang="zh-CN" sz="1600"/>
          </a:p>
          <a:p>
            <a:r>
              <a:rPr lang="zh-CN" sz="1600" dirty="0">
                <a:latin typeface="Arial"/>
                <a:ea typeface="Microsoft YaHei"/>
              </a:rPr>
              <a:t>她应答：A stigma, B style, C ovary, D anther, E filament, F sepal。sepal 读 SEE-pul。</a:t>
            </a:r>
            <a:endParaRPr lang="zh-CN" sz="1600"/>
          </a:p>
          <a:p>
            <a:r>
              <a:rPr lang="zh-CN" sz="1600" dirty="0">
                <a:latin typeface="Arial"/>
                <a:ea typeface="Microsoft YaHei"/>
              </a:rPr>
              <a:t>问：“Which two parts make the stamen?” 她答 anther and filament。再问：“Which three make the carpel?” 她答 stigma, style, ovary。</a:t>
            </a:r>
            <a:endParaRPr lang="zh-CN" sz="1600"/>
          </a:p>
          <a:p>
            <a:r>
              <a:rPr lang="zh-CN" sz="1600" dirty="0">
                <a:latin typeface="Arial"/>
                <a:ea typeface="Microsoft YaHei"/>
              </a:rPr>
              <a:t>问：“Which part becomes the fruit?” 答 ovary。补一句：“The ovule becomes the seed.”</a:t>
            </a:r>
            <a:endParaRPr lang="zh-CN" sz="1600"/>
          </a:p>
          <a:p>
            <a:r>
              <a:rPr lang="zh-CN" sz="1600" dirty="0">
                <a:latin typeface="Arial"/>
                <a:ea typeface="Microsoft YaHei"/>
              </a:rPr>
              <a:t>Say it:</a:t>
            </a:r>
            <a:endParaRPr lang="zh-CN" sz="1600"/>
          </a:p>
          <a:p>
            <a:r>
              <a:rPr lang="zh-CN" sz="1600" dirty="0">
                <a:latin typeface="Arial"/>
                <a:ea typeface="Microsoft YaHei"/>
              </a:rPr>
              <a:t>sepal = SEE-pul</a:t>
            </a:r>
            <a:endParaRPr lang="zh-CN" sz="1600"/>
          </a:p>
          <a:p>
            <a:r>
              <a:rPr lang="zh-CN" sz="1600" dirty="0">
                <a:latin typeface="Arial"/>
                <a:ea typeface="Microsoft YaHei"/>
              </a:rPr>
              <a:t>carpel = KAR-pul</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0:05–0:07。</a:t>
            </a:r>
            <a:endParaRPr lang="zh-CN" sz="1600"/>
          </a:p>
          <a:p>
            <a:r>
              <a:rPr lang="zh-CN" sz="1600" dirty="0">
                <a:latin typeface="Arial"/>
                <a:ea typeface="Microsoft YaHei"/>
              </a:rPr>
              <a:t>空格答案：Asexual 一栏 one parent / no gametes / identical (clones)；Sexual 一栏 offspring show variation / flowers and seeds。</a:t>
            </a:r>
            <a:endParaRPr lang="zh-CN" sz="1600"/>
          </a:p>
          <a:p>
            <a:r>
              <a:rPr lang="zh-CN" sz="1600" dirty="0">
                <a:latin typeface="Arial"/>
                <a:ea typeface="Microsoft YaHei"/>
              </a:rPr>
              <a:t>问题答案：asexual reproduction，因为只有 one parent，没有 gametes，plantlets 和 parent plant identical (clones)。</a:t>
            </a:r>
            <a:endParaRPr lang="zh-CN" sz="1600"/>
          </a:p>
          <a:p>
            <a:r>
              <a:rPr lang="zh-CN" sz="1600" dirty="0">
                <a:latin typeface="Arial"/>
                <a:ea typeface="Microsoft YaHei"/>
              </a:rPr>
              <a:t>她在 booklet p.4 把 “This specific process involves gametes” 也打了勾，这是 L2：asexual 一定没有 gametes。</a:t>
            </a:r>
            <a:endParaRPr lang="zh-CN" sz="1600"/>
          </a:p>
          <a:p>
            <a:r>
              <a:rPr lang="zh-CN" sz="1600" dirty="0">
                <a:latin typeface="Arial"/>
                <a:ea typeface="Microsoft YaHei"/>
              </a:rPr>
              <a:t>Script:</a:t>
            </a:r>
            <a:endParaRPr lang="zh-CN" sz="1600"/>
          </a:p>
          <a:p>
            <a:r>
              <a:rPr lang="zh-CN" sz="1600" dirty="0">
                <a:latin typeface="Arial"/>
                <a:ea typeface="Microsoft YaHei"/>
              </a:rPr>
              <a:t>说：“表格里有空格，你直接说出来。”</a:t>
            </a:r>
            <a:endParaRPr lang="zh-CN" sz="1600"/>
          </a:p>
          <a:p>
            <a:r>
              <a:rPr lang="zh-CN" sz="1600" dirty="0">
                <a:latin typeface="Arial"/>
                <a:ea typeface="Microsoft YaHei"/>
              </a:rPr>
              <a:t>指 Asexual 一列：她应答 one parent、no gametes、offspring identical (clones)。指 Sexual 一列：offspring show variation、examples are flowers and seeds。</a:t>
            </a:r>
            <a:endParaRPr lang="zh-CN" sz="1600"/>
          </a:p>
          <a:p>
            <a:r>
              <a:rPr lang="zh-CN" sz="1600" dirty="0">
                <a:latin typeface="Arial"/>
                <a:ea typeface="Microsoft YaHei"/>
              </a:rPr>
              <a:t>念下面的问题：“A spider plant grows plantlets. Which type? How do you know?” 她应答：asexual，因为 one parent、no gametes、plantlets are identical to the parent。</a:t>
            </a:r>
            <a:endParaRPr lang="zh-CN" sz="1600"/>
          </a:p>
          <a:p>
            <a:r>
              <a:rPr lang="zh-CN" sz="1600" dirty="0">
                <a:latin typeface="Arial"/>
                <a:ea typeface="Microsoft YaHei"/>
              </a:rPr>
              <a:t>说：“你 booklet 第 4 页这里打错了一个勾：asexual 一定没有 gametes。”</a:t>
            </a:r>
            <a:endParaRPr lang="zh-CN" sz="1600"/>
          </a:p>
          <a:p>
            <a:r>
              <a:rPr lang="zh-CN" sz="1600" dirty="0">
                <a:latin typeface="Arial"/>
                <a:ea typeface="Microsoft YaHei"/>
              </a:rPr>
              <a:t>Say it:</a:t>
            </a:r>
            <a:endParaRPr lang="zh-CN" sz="1600"/>
          </a:p>
          <a:p>
            <a:r>
              <a:rPr lang="zh-CN" sz="1600" dirty="0">
                <a:latin typeface="Arial"/>
                <a:ea typeface="Microsoft YaHei"/>
              </a:rPr>
              <a:t>asexual = ay-SEK-shoo-ul</a:t>
            </a:r>
            <a:endParaRPr lang="zh-CN" sz="1600"/>
          </a:p>
          <a:p>
            <a:r>
              <a:rPr lang="zh-CN" sz="1600" dirty="0">
                <a:latin typeface="Arial"/>
                <a:ea typeface="Microsoft YaHei"/>
              </a:rPr>
              <a:t>gametes = GAM-eets</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0:07–0:08。</a:t>
            </a:r>
            <a:endParaRPr lang="zh-CN" sz="1600"/>
          </a:p>
          <a:p>
            <a:r>
              <a:rPr lang="zh-CN" sz="1600" dirty="0">
                <a:latin typeface="Arial"/>
                <a:ea typeface="Microsoft YaHei"/>
              </a:rPr>
              <a:t>空格：different (show variation) / survive the change (resist the disease) / reproduce / continues。</a:t>
            </a:r>
            <a:endParaRPr lang="zh-CN" sz="1600"/>
          </a:p>
          <a:p>
            <a:r>
              <a:rPr lang="zh-CN" sz="1600" dirty="0">
                <a:latin typeface="Arial"/>
                <a:ea typeface="Microsoft YaHei"/>
              </a:rPr>
              <a:t>问题答案：the plants are clones with the same genetic material，所以如果一株会得这种病，所有植株都会得，没有一株有抵抗力。</a:t>
            </a:r>
            <a:endParaRPr lang="zh-CN" sz="1600"/>
          </a:p>
          <a:p>
            <a:r>
              <a:rPr lang="zh-CN" sz="1600" dirty="0">
                <a:latin typeface="Arial"/>
                <a:ea typeface="Microsoft YaHei"/>
              </a:rPr>
              <a:t>这是 Explain 长答题的标准链条。她 booklet p.7 写 “helps the species to live”，只到 A。要拿 E 必须写出 “some survive → reproduce → species continues”，并且和 asexual 对比。</a:t>
            </a:r>
            <a:endParaRPr lang="zh-CN" sz="1600"/>
          </a:p>
          <a:p>
            <a:r>
              <a:rPr lang="zh-CN" sz="1600" dirty="0">
                <a:latin typeface="Arial"/>
                <a:ea typeface="Microsoft YaHei"/>
              </a:rPr>
              <a:t>Script:</a:t>
            </a:r>
            <a:endParaRPr lang="zh-CN" sz="1600"/>
          </a:p>
          <a:p>
            <a:r>
              <a:rPr lang="zh-CN" sz="1600" dirty="0">
                <a:latin typeface="Arial"/>
                <a:ea typeface="Microsoft YaHei"/>
              </a:rPr>
              <a:t>说：“这一页是 Explain 题的写法，按 1、2、3、4 的顺序填空。”</a:t>
            </a:r>
            <a:endParaRPr lang="zh-CN" sz="1600"/>
          </a:p>
          <a:p>
            <a:r>
              <a:rPr lang="zh-CN" sz="1600" dirty="0">
                <a:latin typeface="Arial"/>
                <a:ea typeface="Microsoft YaHei"/>
              </a:rPr>
              <a:t>她应答：different from each other；survive the change；reproduce；continues。</a:t>
            </a:r>
            <a:endParaRPr lang="zh-CN" sz="1600"/>
          </a:p>
          <a:p>
            <a:r>
              <a:rPr lang="zh-CN" sz="1600" dirty="0">
                <a:latin typeface="Arial"/>
                <a:ea typeface="Microsoft YaHei"/>
              </a:rPr>
              <a:t>问：“Why could a whole field of identical plants die from one disease?” 她应答：they are clones，所以如果一株会得这种病，所有植株都会得。</a:t>
            </a:r>
            <a:endParaRPr lang="zh-CN" sz="1600"/>
          </a:p>
          <a:p>
            <a:r>
              <a:rPr lang="zh-CN" sz="1600" dirty="0">
                <a:latin typeface="Arial"/>
                <a:ea typeface="Microsoft YaHei"/>
              </a:rPr>
              <a:t>说：“考试写这种题，四步都要写，只写 ‘helps the species survive’ 只能拿 A。”</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0:08–0:10。</a:t>
            </a:r>
            <a:endParaRPr lang="zh-CN" sz="1600"/>
          </a:p>
          <a:p>
            <a:r>
              <a:rPr lang="zh-CN" sz="1600" dirty="0">
                <a:latin typeface="Arial"/>
                <a:ea typeface="Microsoft YaHei"/>
              </a:rPr>
              <a:t>顺序：F, B, A, E, D, C。</a:t>
            </a:r>
            <a:endParaRPr lang="zh-CN" sz="1600"/>
          </a:p>
          <a:p>
            <a:r>
              <a:rPr lang="zh-CN" sz="1600" dirty="0">
                <a:latin typeface="Arial"/>
                <a:ea typeface="Microsoft YaHei"/>
              </a:rPr>
              <a:t>Pollination = F 和 B (pollen 从 anther 到 stigma) 。Fertilisation = D (两个 nucleus 融合，形成 zygote) 。</a:t>
            </a:r>
            <a:endParaRPr lang="zh-CN" sz="1600"/>
          </a:p>
          <a:p>
            <a:r>
              <a:rPr lang="zh-CN" sz="1600" dirty="0">
                <a:latin typeface="Arial"/>
                <a:ea typeface="Microsoft YaHei"/>
              </a:rPr>
              <a:t>提醒 L1：pollen 落在 stigma 上还不是 fertilisation。</a:t>
            </a:r>
            <a:endParaRPr lang="zh-CN" sz="1600"/>
          </a:p>
          <a:p>
            <a:r>
              <a:rPr lang="zh-CN" sz="1600" dirty="0">
                <a:latin typeface="Arial"/>
                <a:ea typeface="Microsoft YaHei"/>
              </a:rPr>
              <a:t>D 之后 zygote 长成 embryo，在 seed 里面。</a:t>
            </a:r>
            <a:endParaRPr lang="zh-CN" sz="1600"/>
          </a:p>
          <a:p>
            <a:r>
              <a:rPr lang="zh-CN" sz="1600" dirty="0">
                <a:latin typeface="Arial"/>
                <a:ea typeface="Microsoft YaHei"/>
              </a:rPr>
              <a:t>Script:</a:t>
            </a:r>
            <a:endParaRPr lang="zh-CN" sz="1600"/>
          </a:p>
          <a:p>
            <a:r>
              <a:rPr lang="zh-CN" sz="1600" dirty="0">
                <a:latin typeface="Arial"/>
                <a:ea typeface="Microsoft YaHei"/>
              </a:rPr>
              <a:t>说：“六张卡片，按发生的先后排一下。”</a:t>
            </a:r>
            <a:endParaRPr lang="zh-CN" sz="1600"/>
          </a:p>
          <a:p>
            <a:r>
              <a:rPr lang="zh-CN" sz="1600" dirty="0">
                <a:latin typeface="Arial"/>
                <a:ea typeface="Microsoft YaHei"/>
              </a:rPr>
              <a:t>她应答：F, B, A, E, D, C。</a:t>
            </a:r>
            <a:endParaRPr lang="zh-CN" sz="1600"/>
          </a:p>
          <a:p>
            <a:r>
              <a:rPr lang="zh-CN" sz="1600" dirty="0">
                <a:latin typeface="Arial"/>
                <a:ea typeface="Microsoft YaHei"/>
              </a:rPr>
              <a:t>问：“Which cards are pollination?” 答 F and B。问：“Which card is fertilisation?” 答 D。</a:t>
            </a:r>
            <a:endParaRPr lang="zh-CN" sz="1600"/>
          </a:p>
          <a:p>
            <a:r>
              <a:rPr lang="zh-CN" sz="1600" dirty="0">
                <a:latin typeface="Arial"/>
                <a:ea typeface="Microsoft YaHei"/>
              </a:rPr>
              <a:t>说：“记住：pollen 落在 stigma 上只是 pollination，还没有 fertilisation。”</a:t>
            </a:r>
            <a:endParaRPr lang="zh-CN" sz="1600"/>
          </a:p>
          <a:p>
            <a:r>
              <a:rPr lang="zh-CN" sz="1600" dirty="0">
                <a:latin typeface="Arial"/>
                <a:ea typeface="Microsoft YaHei"/>
              </a:rPr>
              <a:t>Say it:</a:t>
            </a:r>
            <a:endParaRPr lang="zh-CN" sz="1600"/>
          </a:p>
          <a:p>
            <a:r>
              <a:rPr lang="zh-CN" sz="1600" dirty="0">
                <a:latin typeface="Arial"/>
                <a:ea typeface="Microsoft YaHei"/>
              </a:rPr>
              <a:t>micropyle = MY-kroh-pile</a:t>
            </a:r>
            <a:endParaRPr lang="zh-CN" sz="1600"/>
          </a:p>
          <a:p>
            <a:r>
              <a:rPr lang="zh-CN" sz="1600" dirty="0">
                <a:latin typeface="Arial"/>
                <a:ea typeface="Microsoft YaHei"/>
              </a:rPr>
              <a:t>zygote = ZY-goht</a:t>
            </a:r>
            <a:endParaRPr lang="zh-CN" sz="1600"/>
          </a:p>
          <a:p>
            <a:r>
              <a:rPr lang="zh-CN" sz="1600" dirty="0">
                <a:latin typeface="Arial"/>
                <a:ea typeface="Microsoft YaHei"/>
              </a:rPr>
              <a:t>embryo = EM-bree-oh</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0:10–0:12。</a:t>
            </a:r>
            <a:endParaRPr lang="zh-CN" sz="1600"/>
          </a:p>
          <a:p>
            <a:r>
              <a:rPr lang="zh-CN" sz="1600" dirty="0">
                <a:latin typeface="Arial"/>
                <a:ea typeface="Microsoft YaHei"/>
              </a:rPr>
              <a:t>空格：large, brightly coloured, scented, with nectar / large and feathery, hanging outside / firmly attached inside the flower / small, light, made in huge amounts。</a:t>
            </a:r>
            <a:endParaRPr lang="zh-CN" sz="1600"/>
          </a:p>
          <a:p>
            <a:r>
              <a:rPr lang="zh-CN" sz="1600" dirty="0">
                <a:latin typeface="Arial"/>
                <a:ea typeface="Microsoft YaHei"/>
              </a:rPr>
              <a:t>问题答案：so the wind can blow the pollen away from the anthers。只写 “they hang outside” 是 A；写出 “so the wind can carry the pollen” 才是 M。</a:t>
            </a:r>
            <a:endParaRPr lang="zh-CN" sz="1600"/>
          </a:p>
          <a:p>
            <a:r>
              <a:rPr lang="zh-CN" sz="1600" dirty="0">
                <a:latin typeface="Arial"/>
                <a:ea typeface="Microsoft YaHei"/>
              </a:rPr>
              <a:t>这是 L3：每个 feature 后面都要加 “so that ...”。</a:t>
            </a:r>
            <a:endParaRPr lang="zh-CN" sz="1600"/>
          </a:p>
          <a:p>
            <a:r>
              <a:rPr lang="zh-CN" sz="1600" dirty="0">
                <a:latin typeface="Arial"/>
                <a:ea typeface="Microsoft YaHei"/>
              </a:rPr>
              <a:t>Script:</a:t>
            </a:r>
            <a:endParaRPr lang="zh-CN" sz="1600"/>
          </a:p>
          <a:p>
            <a:r>
              <a:rPr lang="zh-CN" sz="1600" dirty="0">
                <a:latin typeface="Arial"/>
                <a:ea typeface="Microsoft YaHei"/>
              </a:rPr>
              <a:t>说：“把四个空格填上，说英文。”</a:t>
            </a:r>
            <a:endParaRPr lang="zh-CN" sz="1600"/>
          </a:p>
          <a:p>
            <a:r>
              <a:rPr lang="zh-CN" sz="1600" dirty="0">
                <a:latin typeface="Arial"/>
                <a:ea typeface="Microsoft YaHei"/>
              </a:rPr>
              <a:t>她应答：insect petals large, brightly coloured, scented, with nectar；wind stigma large and feathery, hanging outside；insect anthers firmly inside the flower；wind pollen small, light, lots of it。</a:t>
            </a:r>
            <a:endParaRPr lang="zh-CN" sz="1600"/>
          </a:p>
          <a:p>
            <a:r>
              <a:rPr lang="zh-CN" sz="1600" dirty="0">
                <a:latin typeface="Arial"/>
                <a:ea typeface="Microsoft YaHei"/>
              </a:rPr>
              <a:t>问：“Why do grass anthers hang outside the flower?” 她要答：so the wind can blow the pollen away。</a:t>
            </a:r>
            <a:endParaRPr lang="zh-CN" sz="1600"/>
          </a:p>
          <a:p>
            <a:r>
              <a:rPr lang="zh-CN" sz="1600" dirty="0">
                <a:latin typeface="Arial"/>
                <a:ea typeface="Microsoft YaHei"/>
              </a:rPr>
              <a:t>说：“每个特征后面都要加 ‘so that…’，不然只有 A。”</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runners have no gametes: the new plant is identical to the parent, a clone (L2)</a:t>
            </a:r>
            <a:endParaRPr lang="zh-CN" sz="1600"/>
          </a:p>
          <a:p>
            <a:r>
              <a:rPr lang="zh-CN" sz="1600" dirty="0">
                <a:latin typeface="Arial"/>
                <a:ea typeface="Microsoft YaHei"/>
              </a:rPr>
              <a:t>2. pollen is carried from the anther to the stigma, not the other way (L1)</a:t>
            </a:r>
            <a:endParaRPr lang="zh-CN" sz="1600"/>
          </a:p>
          <a:p>
            <a:r>
              <a:rPr lang="zh-CN" sz="1600" dirty="0">
                <a:latin typeface="Arial"/>
                <a:ea typeface="Microsoft YaHei"/>
              </a:rPr>
              <a:t>3. that transfer is pollination, not fertilisation (L1)</a:t>
            </a:r>
            <a:endParaRPr lang="zh-CN" sz="1600"/>
          </a:p>
          <a:p>
            <a:r>
              <a:rPr lang="zh-CN" sz="1600" dirty="0">
                <a:latin typeface="Arial"/>
                <a:ea typeface="Microsoft YaHei"/>
              </a:rPr>
              <a:t>Short solution:</a:t>
            </a:r>
            <a:endParaRPr lang="zh-CN" sz="1600"/>
          </a:p>
          <a:p>
            <a:r>
              <a:rPr lang="zh-CN" sz="1600" dirty="0">
                <a:latin typeface="Arial"/>
                <a:ea typeface="Microsoft YaHei"/>
              </a:rPr>
              <a:t>Runners are asexual: one parent, no gametes, so the new plants are identical to the parent. Flowers: pollen is carried from the anther to the stigma (pollination); the pollen nucleus fuses with the ovule nucleus (fertilisation). The seeds show variation because two parents are involved.</a:t>
            </a:r>
            <a:endParaRPr lang="zh-CN" sz="1600"/>
          </a:p>
          <a:p>
            <a:r>
              <a:rPr lang="zh-CN" sz="1600" dirty="0">
                <a:latin typeface="Arial"/>
                <a:ea typeface="Microsoft YaHei"/>
              </a:rPr>
              <a:t>Watch for:</a:t>
            </a:r>
            <a:endParaRPr lang="zh-CN" sz="1600"/>
          </a:p>
          <a:p>
            <a:r>
              <a:rPr lang="zh-CN" sz="1600" dirty="0">
                <a:latin typeface="Arial"/>
                <a:ea typeface="Microsoft YaHei"/>
              </a:rPr>
              <a:t>最后一句是对的。让她先判断每一句，而不是看到 Sam 就全部改掉。</a:t>
            </a:r>
            <a:endParaRPr lang="zh-CN" sz="1600"/>
          </a:p>
          <a:p>
            <a:r>
              <a:rPr lang="zh-CN" sz="1600" dirty="0">
                <a:latin typeface="Arial"/>
                <a:ea typeface="Microsoft YaHei"/>
              </a:rPr>
              <a:t>Script:</a:t>
            </a:r>
            <a:endParaRPr lang="zh-CN" sz="1600"/>
          </a:p>
          <a:p>
            <a:r>
              <a:rPr lang="zh-CN" sz="1600" dirty="0">
                <a:latin typeface="Arial"/>
                <a:ea typeface="Microsoft YaHei"/>
              </a:rPr>
              <a:t>说：“Sam 是一个虚构的同学。他的答案里有 3 个错误，你当老师，一句一句检查。”</a:t>
            </a:r>
            <a:endParaRPr lang="zh-CN" sz="1600"/>
          </a:p>
          <a:p>
            <a:r>
              <a:rPr lang="zh-CN" sz="1600" dirty="0">
                <a:latin typeface="Arial"/>
                <a:ea typeface="Microsoft YaHei"/>
              </a:rPr>
              <a:t>等她找。她应找出：runners have no gametes and make identical clones；pollen goes from anther to stigma；that is pollination, not fertilisation。</a:t>
            </a:r>
            <a:endParaRPr lang="zh-CN" sz="1600"/>
          </a:p>
          <a:p>
            <a:r>
              <a:rPr lang="zh-CN" sz="1600" dirty="0">
                <a:latin typeface="Arial"/>
                <a:ea typeface="Microsoft YaHei"/>
              </a:rPr>
              <a:t>问：“最后一句对不对？” 她应答：对，两个亲本所以有变异。</a:t>
            </a:r>
            <a:endParaRPr lang="zh-CN" sz="1600"/>
          </a:p>
          <a:p>
            <a:r>
              <a:rPr lang="zh-CN" sz="1600" dirty="0">
                <a:latin typeface="Arial"/>
                <a:ea typeface="Microsoft YaHei"/>
              </a:rPr>
              <a:t>说：“不要看到 Sam 就全部改，要一句一句判断。”</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P testa, Q plumule, R radicle, S cotyledon</a:t>
            </a:r>
            <a:endParaRPr lang="zh-CN" sz="1600"/>
          </a:p>
          <a:p>
            <a:r>
              <a:rPr lang="zh-CN" sz="1600" dirty="0">
                <a:latin typeface="Arial"/>
                <a:ea typeface="Microsoft YaHei"/>
              </a:rPr>
              <a:t>2. water, warmth, oxygen</a:t>
            </a:r>
            <a:endParaRPr lang="zh-CN" sz="1600"/>
          </a:p>
          <a:p>
            <a:r>
              <a:rPr lang="zh-CN" sz="1600" dirty="0">
                <a:latin typeface="Arial"/>
                <a:ea typeface="Microsoft YaHei"/>
              </a:rPr>
              <a:t>3. so the new plant does not compete with the parent for light, water, minerals and space</a:t>
            </a:r>
            <a:endParaRPr lang="zh-CN" sz="1600"/>
          </a:p>
          <a:p>
            <a:r>
              <a:rPr lang="zh-CN" sz="1600" dirty="0">
                <a:latin typeface="Arial"/>
                <a:ea typeface="Microsoft YaHei"/>
              </a:rPr>
              <a:t>Short solution:</a:t>
            </a:r>
            <a:endParaRPr lang="zh-CN" sz="1600"/>
          </a:p>
          <a:p>
            <a:r>
              <a:rPr lang="zh-CN" sz="1600" dirty="0">
                <a:latin typeface="Arial"/>
                <a:ea typeface="Microsoft YaHei"/>
              </a:rPr>
              <a:t>1. testa 是保护种子的硬外皮，water 让它变软；radicle 向下长成 root，固定植物并吸水；plumule 向上长成 shoot；cotyledon 是 food store，在叶子能 photosynthesise 之前提供能量</a:t>
            </a:r>
            <a:endParaRPr lang="zh-CN" sz="1600"/>
          </a:p>
          <a:p>
            <a:r>
              <a:rPr lang="zh-CN" sz="1600" dirty="0">
                <a:latin typeface="Arial"/>
                <a:ea typeface="Microsoft YaHei"/>
              </a:rPr>
              <a:t>2. oxygen 用于 respiration，释放生长需要的能量</a:t>
            </a:r>
            <a:endParaRPr lang="zh-CN" sz="1600"/>
          </a:p>
          <a:p>
            <a:r>
              <a:rPr lang="zh-CN" sz="1600" dirty="0">
                <a:latin typeface="Arial"/>
                <a:ea typeface="Microsoft YaHei"/>
              </a:rPr>
              <a:t>Watch for:</a:t>
            </a:r>
            <a:endParaRPr lang="zh-CN" sz="1600"/>
          </a:p>
          <a:p>
            <a:r>
              <a:rPr lang="zh-CN" sz="1600" dirty="0">
                <a:latin typeface="Arial"/>
                <a:ea typeface="Microsoft YaHei"/>
              </a:rPr>
              <a:t>1. booklet 印的是 “Radical”，考试要拼 radicle</a:t>
            </a:r>
            <a:endParaRPr lang="zh-CN" sz="1600"/>
          </a:p>
          <a:p>
            <a:r>
              <a:rPr lang="zh-CN" sz="1600" dirty="0">
                <a:latin typeface="Arial"/>
                <a:ea typeface="Microsoft YaHei"/>
              </a:rPr>
              <a:t>3. 只写 “to spread out” 是 A；要写出 competition 和资源名称</a:t>
            </a:r>
            <a:endParaRPr lang="zh-CN" sz="1600"/>
          </a:p>
          <a:p>
            <a:r>
              <a:rPr lang="zh-CN" sz="1600" dirty="0">
                <a:latin typeface="Arial"/>
                <a:ea typeface="Microsoft YaHei"/>
              </a:rPr>
              <a:t>Script:</a:t>
            </a:r>
            <a:endParaRPr lang="zh-CN" sz="1600"/>
          </a:p>
          <a:p>
            <a:r>
              <a:rPr lang="zh-CN" sz="1600" dirty="0">
                <a:latin typeface="Arial"/>
                <a:ea typeface="Microsoft YaHei"/>
              </a:rPr>
              <a:t>说：“看豆子的图，P 到 S 分别是什么？”</a:t>
            </a:r>
            <a:endParaRPr lang="zh-CN" sz="1600"/>
          </a:p>
          <a:p>
            <a:r>
              <a:rPr lang="zh-CN" sz="1600" dirty="0">
                <a:latin typeface="Arial"/>
                <a:ea typeface="Microsoft YaHei"/>
              </a:rPr>
              <a:t>她应答：P testa, Q plumule, R radicle, S cotyledon。提醒：booklet 印成 Radical，考试要拼 radicle。</a:t>
            </a:r>
            <a:endParaRPr lang="zh-CN" sz="1600"/>
          </a:p>
          <a:p>
            <a:r>
              <a:rPr lang="zh-CN" sz="1600" dirty="0">
                <a:latin typeface="Arial"/>
                <a:ea typeface="Microsoft YaHei"/>
              </a:rPr>
              <a:t>问第 2 题：她答 water, warmth, oxygen。</a:t>
            </a:r>
            <a:endParaRPr lang="zh-CN" sz="1600"/>
          </a:p>
          <a:p>
            <a:r>
              <a:rPr lang="zh-CN" sz="1600" dirty="0">
                <a:latin typeface="Arial"/>
                <a:ea typeface="Microsoft YaHei"/>
              </a:rPr>
              <a:t>问第 3 题：她要说出 competition，以及 light, water, minerals, space。只说 ‘spread out’ 不够。</a:t>
            </a:r>
            <a:endParaRPr lang="zh-CN" sz="1600"/>
          </a:p>
          <a:p>
            <a:r>
              <a:rPr lang="zh-CN" sz="1600" dirty="0">
                <a:latin typeface="Arial"/>
                <a:ea typeface="Microsoft YaHei"/>
              </a:rPr>
              <a:t>Say it:</a:t>
            </a:r>
            <a:endParaRPr lang="zh-CN" sz="1600"/>
          </a:p>
          <a:p>
            <a:r>
              <a:rPr lang="zh-CN" sz="1600" dirty="0">
                <a:latin typeface="Arial"/>
                <a:ea typeface="Microsoft YaHei"/>
              </a:rPr>
              <a:t>plumule = PLOO-myool</a:t>
            </a:r>
            <a:endParaRPr lang="zh-CN" sz="1600"/>
          </a:p>
          <a:p>
            <a:r>
              <a:rPr lang="zh-CN" sz="1600" dirty="0">
                <a:latin typeface="Arial"/>
                <a:ea typeface="Microsoft YaHei"/>
              </a:rPr>
              <a:t>radicle = RAD-ih-kul</a:t>
            </a:r>
            <a:endParaRPr lang="zh-CN" sz="1600"/>
          </a:p>
          <a:p>
            <a:r>
              <a:rPr lang="zh-CN" sz="1600" dirty="0">
                <a:latin typeface="Arial"/>
                <a:ea typeface="Microsoft YaHei"/>
              </a:rPr>
              <a:t>cotyledon = kot-ih-LEE-dun</a:t>
            </a:r>
            <a:endParaRPr lang="zh-CN" sz="1600"/>
          </a:p>
          <a:p>
            <a:r>
              <a:rPr lang="zh-CN" sz="1600" dirty="0">
                <a:latin typeface="Arial"/>
                <a:ea typeface="Microsoft YaHei"/>
              </a:rPr>
              <a:t>dispersed = dis-PERST</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insect-pollinated: large white petals and scent attract insects; nectar is food for insects</a:t>
            </a:r>
            <a:endParaRPr lang="zh-CN" sz="1600"/>
          </a:p>
          <a:p>
            <a:r>
              <a:rPr lang="zh-CN" sz="1600" dirty="0">
                <a:latin typeface="Arial"/>
                <a:ea typeface="Microsoft YaHei"/>
              </a:rPr>
              <a:t>Q2 cuttings are asexual, so the new plants are identical to the best bush and keep its features; seeds come from sexual reproduction and show variation</a:t>
            </a:r>
            <a:endParaRPr lang="zh-CN" sz="1600"/>
          </a:p>
          <a:p>
            <a:r>
              <a:rPr lang="zh-CN" sz="1600" dirty="0">
                <a:latin typeface="Arial"/>
                <a:ea typeface="Microsoft YaHei"/>
              </a:rPr>
              <a:t>Q3 only B germinates; D has no oxygen, so the seed cannot respire to release energy for growth</a:t>
            </a:r>
            <a:endParaRPr lang="zh-CN" sz="1600"/>
          </a:p>
          <a:p>
            <a:r>
              <a:rPr lang="zh-CN" sz="1600" dirty="0">
                <a:latin typeface="Arial"/>
                <a:ea typeface="Microsoft YaHei"/>
              </a:rPr>
              <a:t>Short solution:</a:t>
            </a:r>
            <a:endParaRPr lang="zh-CN" sz="1600"/>
          </a:p>
          <a:p>
            <a:r>
              <a:rPr lang="zh-CN" sz="1600" dirty="0">
                <a:latin typeface="Arial"/>
                <a:ea typeface="Microsoft YaHei"/>
              </a:rPr>
              <a:t>Q3 A 没有 water；C 没有 warmth (fridge 里温度太低) ；D：boiling 把水里溶解的 oxygen 赶走，oil 层不让空气重新溶进去</a:t>
            </a:r>
            <a:endParaRPr lang="zh-CN" sz="1600"/>
          </a:p>
          <a:p>
            <a:r>
              <a:rPr lang="zh-CN" sz="1600" dirty="0">
                <a:latin typeface="Arial"/>
                <a:ea typeface="Microsoft YaHei"/>
              </a:rPr>
              <a:t>Watch for:</a:t>
            </a:r>
            <a:endParaRPr lang="zh-CN" sz="1600"/>
          </a:p>
          <a:p>
            <a:r>
              <a:rPr lang="zh-CN" sz="1600" dirty="0">
                <a:latin typeface="Arial"/>
                <a:ea typeface="Microsoft YaHei"/>
              </a:rPr>
              <a:t>Q1 白色花瓣也算 “large, showy”，不一定要彩色</a:t>
            </a:r>
            <a:endParaRPr lang="zh-CN" sz="1600"/>
          </a:p>
          <a:p>
            <a:r>
              <a:rPr lang="zh-CN" sz="1600" dirty="0">
                <a:latin typeface="Arial"/>
                <a:ea typeface="Microsoft YaHei"/>
              </a:rPr>
              <a:t>Q3 C 的标准答案写 “too cold / no warmth”。D 一定要写 oxygen 的用途 (respiration 释放能量) ，否则只有 M</a:t>
            </a:r>
            <a:endParaRPr lang="zh-CN" sz="1600"/>
          </a:p>
          <a:p>
            <a:r>
              <a:rPr lang="zh-CN" sz="1600" dirty="0">
                <a:latin typeface="Arial"/>
                <a:ea typeface="Microsoft YaHei"/>
              </a:rPr>
              <a:t>Q3 这个 boiled water + oil 的设计和 Lesson 2 的 rusty nail 完全一样，等一下会用到</a:t>
            </a:r>
            <a:endParaRPr lang="zh-CN" sz="1600"/>
          </a:p>
          <a:p>
            <a:r>
              <a:rPr lang="zh-CN" sz="1600" dirty="0">
                <a:latin typeface="Arial"/>
                <a:ea typeface="Microsoft YaHei"/>
              </a:rPr>
              <a:t>Script:</a:t>
            </a:r>
            <a:endParaRPr lang="zh-CN" sz="1600"/>
          </a:p>
          <a:p>
            <a:r>
              <a:rPr lang="zh-CN" sz="1600" dirty="0">
                <a:latin typeface="Arial"/>
                <a:ea typeface="Microsoft YaHei"/>
              </a:rPr>
              <a:t>说：“三道练习题，[A] [M] [E] 是难度。先自己说答案，再看我补充。”</a:t>
            </a:r>
            <a:endParaRPr lang="zh-CN" sz="1600"/>
          </a:p>
          <a:p>
            <a:r>
              <a:rPr lang="zh-CN" sz="1600" dirty="0">
                <a:latin typeface="Arial"/>
                <a:ea typeface="Microsoft YaHei"/>
              </a:rPr>
              <a:t>Q1 她应答：insect-pollinated，因为 large white petals and scent attract insects，nectar is food for insects。</a:t>
            </a:r>
            <a:endParaRPr lang="zh-CN" sz="1600"/>
          </a:p>
          <a:p>
            <a:r>
              <a:rPr lang="zh-CN" sz="1600" dirty="0">
                <a:latin typeface="Arial"/>
                <a:ea typeface="Microsoft YaHei"/>
              </a:rPr>
              <a:t>Q2 她应答：cuttings are asexual, so new plants are identical and keep the good features; seeds show variation。</a:t>
            </a:r>
            <a:endParaRPr lang="zh-CN" sz="1600"/>
          </a:p>
          <a:p>
            <a:r>
              <a:rPr lang="zh-CN" sz="1600" dirty="0">
                <a:latin typeface="Arial"/>
                <a:ea typeface="Microsoft YaHei"/>
              </a:rPr>
              <a:t>Q3 她应答：only B；D has no oxygen, so the seed cannot respire to release energy。如果她只说 ‘no oxygen’，追问：“oxygen 是用来做什么的？”</a:t>
            </a:r>
            <a:endParaRPr lang="zh-CN" sz="1600"/>
          </a:p>
          <a:p>
            <a:r>
              <a:rPr lang="zh-CN" sz="1600" dirty="0">
                <a:latin typeface="Arial"/>
                <a:ea typeface="Microsoft YaHei"/>
              </a:rPr>
              <a:t>说：“记住 D 这个设计 (煮过的水 + 油层 = 没有氧气) ，第二课生锈实验会再用到。”</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A waxy cuticle, B upper epidermis, C palisade layer, D spongy layer, E vein (xylem and phloem), F lower epidermis, G guard cell, H stoma</a:t>
            </a:r>
            <a:endParaRPr lang="zh-CN" sz="1600"/>
          </a:p>
          <a:p>
            <a:r>
              <a:rPr lang="zh-CN" sz="1600" dirty="0">
                <a:latin typeface="Arial"/>
                <a:ea typeface="Microsoft YaHei"/>
              </a:rPr>
              <a:t>2. the palisade layer (C)</a:t>
            </a:r>
            <a:endParaRPr lang="zh-CN" sz="1600"/>
          </a:p>
          <a:p>
            <a:r>
              <a:rPr lang="zh-CN" sz="1600" dirty="0">
                <a:latin typeface="Arial"/>
                <a:ea typeface="Microsoft YaHei"/>
              </a:rPr>
              <a:t>Short solution:</a:t>
            </a:r>
            <a:endParaRPr lang="zh-CN" sz="1600"/>
          </a:p>
          <a:p>
            <a:r>
              <a:rPr lang="zh-CN" sz="1600" dirty="0">
                <a:latin typeface="Arial"/>
                <a:ea typeface="Microsoft YaHei"/>
              </a:rPr>
              <a:t>2. palisade cells 又高又窄、排得很紧，在叶子上部，含最多 chloroplasts</a:t>
            </a:r>
            <a:endParaRPr lang="zh-CN" sz="1600"/>
          </a:p>
          <a:p>
            <a:r>
              <a:rPr lang="zh-CN" sz="1600" dirty="0">
                <a:latin typeface="Arial"/>
                <a:ea typeface="Microsoft YaHei"/>
              </a:rPr>
              <a:t>Watch for:</a:t>
            </a:r>
            <a:endParaRPr lang="zh-CN" sz="1600"/>
          </a:p>
          <a:p>
            <a:r>
              <a:rPr lang="zh-CN" sz="1600" dirty="0">
                <a:latin typeface="Arial"/>
                <a:ea typeface="Microsoft YaHei"/>
              </a:rPr>
              <a:t>1. H 的复数是 stomata；拼写常错</a:t>
            </a:r>
            <a:endParaRPr lang="zh-CN" sz="1600"/>
          </a:p>
          <a:p>
            <a:r>
              <a:rPr lang="zh-CN" sz="1600" dirty="0">
                <a:latin typeface="Arial"/>
                <a:ea typeface="Microsoft YaHei"/>
              </a:rPr>
              <a:t>1. 她 booklet p.15 把 “transports water and minerals” 填成 spongy layer。应该是 vein 里面的 xylem (L7)</a:t>
            </a:r>
            <a:endParaRPr lang="zh-CN" sz="1600"/>
          </a:p>
          <a:p>
            <a:r>
              <a:rPr lang="zh-CN" sz="1600" dirty="0">
                <a:latin typeface="Arial"/>
                <a:ea typeface="Microsoft YaHei"/>
              </a:rPr>
              <a:t>Script:</a:t>
            </a:r>
            <a:endParaRPr lang="zh-CN" sz="1600"/>
          </a:p>
          <a:p>
            <a:r>
              <a:rPr lang="zh-CN" sz="1600" dirty="0">
                <a:latin typeface="Arial"/>
                <a:ea typeface="Microsoft YaHei"/>
              </a:rPr>
              <a:t>说：“叶子的横切面，从上到下说出 A 到 H。”</a:t>
            </a:r>
            <a:endParaRPr lang="zh-CN" sz="1600"/>
          </a:p>
          <a:p>
            <a:r>
              <a:rPr lang="zh-CN" sz="1600" dirty="0">
                <a:latin typeface="Arial"/>
                <a:ea typeface="Microsoft YaHei"/>
              </a:rPr>
              <a:t>她应答：A waxy cuticle, B upper epidermis, C palisade layer, D spongy layer, E vein, F lower epidermis, G guard cell, H stoma。</a:t>
            </a:r>
            <a:endParaRPr lang="zh-CN" sz="1600"/>
          </a:p>
          <a:p>
            <a:r>
              <a:rPr lang="zh-CN" sz="1600" dirty="0">
                <a:latin typeface="Arial"/>
                <a:ea typeface="Microsoft YaHei"/>
              </a:rPr>
              <a:t>问：“Which layer does most photosynthesis?” 答 palisade layer，因为它在上面、chloroplasts 最多。</a:t>
            </a:r>
            <a:endParaRPr lang="zh-CN" sz="1600"/>
          </a:p>
          <a:p>
            <a:r>
              <a:rPr lang="zh-CN" sz="1600" dirty="0">
                <a:latin typeface="Arial"/>
                <a:ea typeface="Microsoft YaHei"/>
              </a:rPr>
              <a:t>说：“vein 里面有 xylem 和 phloem。问 ‘哪个运水’ 要答 xylem，只写 vein 不够。”</a:t>
            </a:r>
            <a:endParaRPr lang="zh-CN" sz="1600"/>
          </a:p>
          <a:p>
            <a:r>
              <a:rPr lang="zh-CN" sz="1600" dirty="0">
                <a:latin typeface="Arial"/>
                <a:ea typeface="Microsoft YaHei"/>
              </a:rPr>
              <a:t>Say it:</a:t>
            </a:r>
            <a:endParaRPr lang="zh-CN" sz="1600"/>
          </a:p>
          <a:p>
            <a:r>
              <a:rPr lang="zh-CN" sz="1600" dirty="0">
                <a:latin typeface="Arial"/>
                <a:ea typeface="Microsoft YaHei"/>
              </a:rPr>
              <a:t>cuticle = KYOO-tih-kul</a:t>
            </a:r>
            <a:endParaRPr lang="zh-CN" sz="1600"/>
          </a:p>
          <a:p>
            <a:r>
              <a:rPr lang="zh-CN" sz="1600" dirty="0">
                <a:latin typeface="Arial"/>
                <a:ea typeface="Microsoft YaHei"/>
              </a:rPr>
              <a:t>epidermis = ep-ih-DER-mis</a:t>
            </a:r>
            <a:endParaRPr lang="zh-CN" sz="1600"/>
          </a:p>
          <a:p>
            <a:r>
              <a:rPr lang="zh-CN" sz="1600" dirty="0">
                <a:latin typeface="Arial"/>
                <a:ea typeface="Microsoft YaHei"/>
              </a:rPr>
              <a:t>palisade = pal-ih-SAYD</a:t>
            </a:r>
            <a:endParaRPr lang="zh-CN" sz="1600"/>
          </a:p>
          <a:p>
            <a:r>
              <a:rPr lang="zh-CN" sz="1600" dirty="0">
                <a:latin typeface="Arial"/>
                <a:ea typeface="Microsoft YaHei"/>
              </a:rPr>
              <a:t>stomata = STOH-muh-tuh</a:t>
            </a:r>
            <a:endParaRPr lang="zh-CN" sz="1600"/>
          </a:p>
          <a:p>
            <a:r>
              <a:rPr lang="zh-CN" sz="1600" dirty="0">
                <a:latin typeface="Arial"/>
                <a:ea typeface="Microsoft YaHei"/>
              </a:rPr>
              <a:t>chloroplasts = KLOR-uh-plasts</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0:19–0:21。</a:t>
            </a:r>
            <a:endParaRPr lang="zh-CN" sz="1600"/>
          </a:p>
          <a:p>
            <a:r>
              <a:rPr lang="zh-CN" sz="1600" dirty="0">
                <a:latin typeface="Arial"/>
                <a:ea typeface="Microsoft YaHei"/>
              </a:rPr>
              <a:t>方程式：carbon dioxide + water → glucose + oxygen；箭头上面写 light energy，下面写 chlorophyll。</a:t>
            </a:r>
            <a:endParaRPr lang="zh-CN" sz="1600"/>
          </a:p>
          <a:p>
            <a:r>
              <a:rPr lang="zh-CN" sz="1600" dirty="0">
                <a:latin typeface="Arial"/>
                <a:ea typeface="Microsoft YaHei"/>
              </a:rPr>
              <a:t>carbon dioxide 从 stomata 进入；water 从 root hairs 进入 (osmosis)，经 xylem 到叶子。</a:t>
            </a:r>
            <a:endParaRPr lang="zh-CN" sz="1600"/>
          </a:p>
          <a:p>
            <a:r>
              <a:rPr lang="zh-CN" sz="1600" dirty="0">
                <a:latin typeface="Arial"/>
                <a:ea typeface="Microsoft YaHei"/>
              </a:rPr>
              <a:t>chlorophyll：absorbs light energy (真实的科学) 。booklet p.20 写的是 chlorophyll “speeds up the reaction”，按学校的说法两种都可以接受。</a:t>
            </a:r>
            <a:endParaRPr lang="zh-CN" sz="1600"/>
          </a:p>
          <a:p>
            <a:r>
              <a:rPr lang="zh-CN" sz="1600" dirty="0">
                <a:latin typeface="Arial"/>
                <a:ea typeface="Microsoft YaHei"/>
              </a:rPr>
              <a:t>L4：light 和 chlorophyll 不是反应物，写在箭头上下。</a:t>
            </a:r>
            <a:endParaRPr lang="zh-CN" sz="1600"/>
          </a:p>
          <a:p>
            <a:r>
              <a:rPr lang="zh-CN" sz="1600" dirty="0">
                <a:latin typeface="Arial"/>
                <a:ea typeface="Microsoft YaHei"/>
              </a:rPr>
              <a:t>Script:</a:t>
            </a:r>
            <a:endParaRPr lang="zh-CN" sz="1600"/>
          </a:p>
          <a:p>
            <a:r>
              <a:rPr lang="zh-CN" sz="1600" dirty="0">
                <a:latin typeface="Arial"/>
                <a:ea typeface="Microsoft YaHei"/>
              </a:rPr>
              <a:t>说：“这是光合作用的文字方程式，你把四个空和箭头上下的两个空说出来。”</a:t>
            </a:r>
            <a:endParaRPr lang="zh-CN" sz="1600"/>
          </a:p>
          <a:p>
            <a:r>
              <a:rPr lang="zh-CN" sz="1600" dirty="0">
                <a:latin typeface="Arial"/>
                <a:ea typeface="Microsoft YaHei"/>
              </a:rPr>
              <a:t>她应答：carbon dioxide + water → glucose + oxygen；arrow 上面 light energy，下面 chlorophyll。</a:t>
            </a:r>
            <a:endParaRPr lang="zh-CN" sz="1600"/>
          </a:p>
          <a:p>
            <a:r>
              <a:rPr lang="zh-CN" sz="1600" dirty="0">
                <a:latin typeface="Arial"/>
                <a:ea typeface="Microsoft YaHei"/>
              </a:rPr>
              <a:t>问：“Where does carbon dioxide get in?” 答 through the stomata。问水的路线：root hairs → xylem → leaf。</a:t>
            </a:r>
            <a:endParaRPr lang="zh-CN" sz="1600"/>
          </a:p>
          <a:p>
            <a:r>
              <a:rPr lang="zh-CN" sz="1600" dirty="0">
                <a:latin typeface="Arial"/>
                <a:ea typeface="Microsoft YaHei"/>
              </a:rPr>
              <a:t>问：“What does chlorophyll do?” 答 absorbs light energy。</a:t>
            </a:r>
            <a:endParaRPr lang="zh-CN" sz="1600"/>
          </a:p>
          <a:p>
            <a:r>
              <a:rPr lang="zh-CN" sz="1600" dirty="0">
                <a:latin typeface="Arial"/>
                <a:ea typeface="Microsoft YaHei"/>
              </a:rPr>
              <a:t>说：“light 和 chlorophyll 不是原料，写在箭头上下，不要写进加号里。”</a:t>
            </a:r>
            <a:endParaRPr lang="zh-CN" sz="1600"/>
          </a:p>
          <a:p>
            <a:r>
              <a:rPr lang="zh-CN" sz="1600" dirty="0">
                <a:latin typeface="Arial"/>
                <a:ea typeface="Microsoft YaHei"/>
              </a:rPr>
              <a:t>Say it:</a:t>
            </a:r>
            <a:endParaRPr lang="zh-CN" sz="1600"/>
          </a:p>
          <a:p>
            <a:r>
              <a:rPr lang="zh-CN" sz="1600" dirty="0">
                <a:latin typeface="Arial"/>
                <a:ea typeface="Microsoft YaHei"/>
              </a:rPr>
              <a:t>chlorophyll = KLOR-uh-fil</a:t>
            </a:r>
            <a:endParaRPr lang="zh-CN" sz="1600"/>
          </a:p>
          <a:p>
            <a:r>
              <a:rPr lang="zh-CN" sz="1600" dirty="0">
                <a:latin typeface="Arial"/>
                <a:ea typeface="Microsoft YaHei"/>
              </a:rPr>
              <a:t>osmosis = oz-MOH-sis</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0:21–0:23。</a:t>
            </a:r>
            <a:endParaRPr lang="zh-CN" sz="1600"/>
          </a:p>
          <a:p>
            <a:r>
              <a:rPr lang="zh-CN" sz="1600" dirty="0">
                <a:latin typeface="Arial"/>
                <a:ea typeface="Microsoft YaHei"/>
              </a:rPr>
              <a:t>方程式：glucose + oxygen → carbon dioxide + water (+ energy)。在 mitochondria 里进行。</a:t>
            </a:r>
            <a:endParaRPr lang="zh-CN" sz="1600"/>
          </a:p>
          <a:p>
            <a:r>
              <a:rPr lang="zh-CN" sz="1600" dirty="0">
                <a:latin typeface="Arial"/>
                <a:ea typeface="Microsoft YaHei"/>
              </a:rPr>
              <a:t>表格：Day 两个都 active；Night photosynthesis not active，respiration active。</a:t>
            </a:r>
            <a:endParaRPr lang="zh-CN" sz="1600"/>
          </a:p>
          <a:p>
            <a:r>
              <a:rPr lang="zh-CN" sz="1600" dirty="0">
                <a:latin typeface="Arial"/>
                <a:ea typeface="Microsoft YaHei"/>
              </a:rPr>
              <a:t>问题答案：respiration。</a:t>
            </a:r>
            <a:endParaRPr lang="zh-CN" sz="1600"/>
          </a:p>
          <a:p>
            <a:r>
              <a:rPr lang="zh-CN" sz="1600" dirty="0">
                <a:latin typeface="Arial"/>
                <a:ea typeface="Microsoft YaHei"/>
              </a:rPr>
              <a:t>L5：植物白天也 respire，只是白天 photosynthesis 更快，所以白天净放出 oxygen。</a:t>
            </a:r>
            <a:endParaRPr lang="zh-CN" sz="1600"/>
          </a:p>
          <a:p>
            <a:r>
              <a:rPr lang="zh-CN" sz="1600" dirty="0">
                <a:latin typeface="Arial"/>
                <a:ea typeface="Microsoft YaHei"/>
              </a:rPr>
              <a:t>Script:</a:t>
            </a:r>
            <a:endParaRPr lang="zh-CN" sz="1600"/>
          </a:p>
          <a:p>
            <a:r>
              <a:rPr lang="zh-CN" sz="1600" dirty="0">
                <a:latin typeface="Arial"/>
                <a:ea typeface="Microsoft YaHei"/>
              </a:rPr>
              <a:t>说：“呼吸作用正好是光合作用倒过来。”</a:t>
            </a:r>
            <a:endParaRPr lang="zh-CN" sz="1600"/>
          </a:p>
          <a:p>
            <a:r>
              <a:rPr lang="zh-CN" sz="1600" dirty="0">
                <a:latin typeface="Arial"/>
                <a:ea typeface="Microsoft YaHei"/>
              </a:rPr>
              <a:t>她应答：glucose + oxygen → carbon dioxide + water + energy。</a:t>
            </a:r>
            <a:endParaRPr lang="zh-CN" sz="1600"/>
          </a:p>
          <a:p>
            <a:r>
              <a:rPr lang="zh-CN" sz="1600" dirty="0">
                <a:latin typeface="Arial"/>
                <a:ea typeface="Microsoft YaHei"/>
              </a:rPr>
              <a:t>指表格：Day 两个都 active；Night photosynthesis not active, respiration active。</a:t>
            </a:r>
            <a:endParaRPr lang="zh-CN" sz="1600"/>
          </a:p>
          <a:p>
            <a:r>
              <a:rPr lang="zh-CN" sz="1600" dirty="0">
                <a:latin typeface="Arial"/>
                <a:ea typeface="Microsoft YaHei"/>
              </a:rPr>
              <a:t>问：“Which process happens in every living cell, all the time?” 答 respiration。</a:t>
            </a:r>
            <a:endParaRPr lang="zh-CN" sz="1600"/>
          </a:p>
          <a:p>
            <a:r>
              <a:rPr lang="zh-CN" sz="1600" dirty="0">
                <a:latin typeface="Arial"/>
                <a:ea typeface="Microsoft YaHei"/>
              </a:rPr>
              <a:t>说：“很多学生写 ‘plants respire at night’，错，植物白天晚上都 respire。”</a:t>
            </a:r>
            <a:endParaRPr lang="zh-CN" sz="1600"/>
          </a:p>
          <a:p>
            <a:r>
              <a:rPr lang="zh-CN" sz="1600" dirty="0">
                <a:latin typeface="Arial"/>
                <a:ea typeface="Microsoft YaHei"/>
              </a:rPr>
              <a:t>Say it:</a:t>
            </a:r>
            <a:endParaRPr lang="zh-CN" sz="1600"/>
          </a:p>
          <a:p>
            <a:r>
              <a:rPr lang="zh-CN" sz="1600" dirty="0">
                <a:latin typeface="Arial"/>
                <a:ea typeface="Microsoft YaHei"/>
              </a:rPr>
              <a:t>mitochondria = my-toh-KON-dree-uh</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0:23–0:25。</a:t>
            </a:r>
            <a:endParaRPr lang="zh-CN" sz="1600"/>
          </a:p>
          <a:p>
            <a:r>
              <a:rPr lang="zh-CN" sz="1600" dirty="0">
                <a:latin typeface="Arial"/>
                <a:ea typeface="Microsoft YaHei"/>
              </a:rPr>
              <a:t>1. kills the leaf and stops its reactions (so the starch stays)</a:t>
            </a:r>
            <a:endParaRPr lang="zh-CN" sz="1600"/>
          </a:p>
          <a:p>
            <a:r>
              <a:rPr lang="zh-CN" sz="1600" dirty="0">
                <a:latin typeface="Arial"/>
                <a:ea typeface="Microsoft YaHei"/>
              </a:rPr>
              <a:t>2. removes the chlorophyll, so the colour change can be seen</a:t>
            </a:r>
            <a:endParaRPr lang="zh-CN" sz="1600"/>
          </a:p>
          <a:p>
            <a:r>
              <a:rPr lang="zh-CN" sz="1600" dirty="0">
                <a:latin typeface="Arial"/>
                <a:ea typeface="Microsoft YaHei"/>
              </a:rPr>
              <a:t>3. softens the leaf and washes off the ethanol</a:t>
            </a:r>
            <a:endParaRPr lang="zh-CN" sz="1600"/>
          </a:p>
          <a:p>
            <a:r>
              <a:rPr lang="zh-CN" sz="1600" dirty="0">
                <a:latin typeface="Arial"/>
                <a:ea typeface="Microsoft YaHei"/>
              </a:rPr>
              <a:t>4. starch is present；没有 starch 时保持 brown / yellow-brown</a:t>
            </a:r>
            <a:endParaRPr lang="zh-CN" sz="1600"/>
          </a:p>
          <a:p>
            <a:r>
              <a:rPr lang="zh-CN" sz="1600" dirty="0">
                <a:latin typeface="Arial"/>
                <a:ea typeface="Microsoft YaHei"/>
              </a:rPr>
              <a:t>问题答案：ethanol is flammable，不能靠近明火。</a:t>
            </a:r>
            <a:endParaRPr lang="zh-CN" sz="1600"/>
          </a:p>
          <a:p>
            <a:r>
              <a:rPr lang="zh-CN" sz="1600" dirty="0">
                <a:latin typeface="Arial"/>
                <a:ea typeface="Microsoft YaHei"/>
              </a:rPr>
              <a:t>实验题常考 “why each step”，她最容易只写步骤不写原因。</a:t>
            </a:r>
            <a:endParaRPr lang="zh-CN" sz="1600"/>
          </a:p>
          <a:p>
            <a:r>
              <a:rPr lang="zh-CN" sz="1600" dirty="0">
                <a:latin typeface="Arial"/>
                <a:ea typeface="Microsoft YaHei"/>
              </a:rPr>
              <a:t>Script:</a:t>
            </a:r>
            <a:endParaRPr lang="zh-CN" sz="1600"/>
          </a:p>
          <a:p>
            <a:r>
              <a:rPr lang="zh-CN" sz="1600" dirty="0">
                <a:latin typeface="Arial"/>
                <a:ea typeface="Microsoft YaHei"/>
              </a:rPr>
              <a:t>说：“实验题常考 ‘每一步为什么做’，这一页四步，每步说一个原因。”</a:t>
            </a:r>
            <a:endParaRPr lang="zh-CN" sz="1600"/>
          </a:p>
          <a:p>
            <a:r>
              <a:rPr lang="zh-CN" sz="1600" dirty="0">
                <a:latin typeface="Arial"/>
                <a:ea typeface="Microsoft YaHei"/>
              </a:rPr>
              <a:t>她应答：1 kills the leaf；2 removes the chlorophyll so the colour change can be seen；3 softens the leaf；4 starch is present。</a:t>
            </a:r>
            <a:endParaRPr lang="zh-CN" sz="1600"/>
          </a:p>
          <a:p>
            <a:r>
              <a:rPr lang="zh-CN" sz="1600" dirty="0">
                <a:latin typeface="Arial"/>
                <a:ea typeface="Microsoft YaHei"/>
              </a:rPr>
              <a:t>问最后一题：答 ethanol is flammable (易燃)。</a:t>
            </a:r>
            <a:endParaRPr lang="zh-CN" sz="1600"/>
          </a:p>
          <a:p>
            <a:r>
              <a:rPr lang="zh-CN" sz="1600" dirty="0">
                <a:latin typeface="Arial"/>
                <a:ea typeface="Microsoft YaHei"/>
              </a:rPr>
              <a:t>说：“只写步骤不写原因，实验题拿不到 M。”</a:t>
            </a:r>
            <a:endParaRPr lang="zh-CN" sz="1600"/>
          </a:p>
          <a:p>
            <a:r>
              <a:rPr lang="zh-CN" sz="1600" dirty="0">
                <a:latin typeface="Arial"/>
                <a:ea typeface="Microsoft YaHei"/>
              </a:rPr>
              <a:t>Say it:</a:t>
            </a:r>
            <a:endParaRPr lang="zh-CN" sz="1600"/>
          </a:p>
          <a:p>
            <a:r>
              <a:rPr lang="zh-CN" sz="1600" dirty="0">
                <a:latin typeface="Arial"/>
                <a:ea typeface="Microsoft YaHei"/>
              </a:rPr>
              <a:t>ethanol = ETH-uh-nol</a:t>
            </a:r>
            <a:endParaRPr lang="zh-CN" sz="1600"/>
          </a:p>
          <a:p>
            <a:r>
              <a:rPr lang="zh-CN" sz="1600" dirty="0">
                <a:latin typeface="Arial"/>
                <a:ea typeface="Microsoft YaHei"/>
              </a:rPr>
              <a:t>iodine = EYE-uh-dyne</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(a) J (green, not covered): blue-black</a:t>
            </a:r>
            <a:endParaRPr lang="zh-CN" sz="1600"/>
          </a:p>
          <a:p>
            <a:r>
              <a:rPr lang="zh-CN" sz="1600" dirty="0">
                <a:latin typeface="Arial"/>
                <a:ea typeface="Microsoft YaHei"/>
              </a:rPr>
              <a:t>(b) K (white): stays brown</a:t>
            </a:r>
            <a:endParaRPr lang="zh-CN" sz="1600"/>
          </a:p>
          <a:p>
            <a:r>
              <a:rPr lang="zh-CN" sz="1600" dirty="0">
                <a:latin typeface="Arial"/>
                <a:ea typeface="Microsoft YaHei"/>
              </a:rPr>
              <a:t>(c) L (under the foil): stays brown, even where it is green</a:t>
            </a:r>
            <a:endParaRPr lang="zh-CN" sz="1600"/>
          </a:p>
          <a:p>
            <a:r>
              <a:rPr lang="zh-CN" sz="1600" dirty="0">
                <a:latin typeface="Arial"/>
                <a:ea typeface="Microsoft YaHei"/>
              </a:rPr>
              <a:t>Short solution:</a:t>
            </a:r>
            <a:endParaRPr lang="zh-CN" sz="1600"/>
          </a:p>
          <a:p>
            <a:r>
              <a:rPr lang="zh-CN" sz="1600" dirty="0">
                <a:latin typeface="Arial"/>
                <a:ea typeface="Microsoft YaHei"/>
              </a:rPr>
              <a:t>J 有 chlorophyll 也有 light，进行 photosynthesis，glucose 变成 starch 储存</a:t>
            </a:r>
            <a:endParaRPr lang="zh-CN" sz="1600"/>
          </a:p>
          <a:p>
            <a:r>
              <a:rPr lang="zh-CN" sz="1600" dirty="0">
                <a:latin typeface="Arial"/>
                <a:ea typeface="Microsoft YaHei"/>
              </a:rPr>
              <a:t>K 没有 chlorophyll，不能 photosynthesise，没有 starch</a:t>
            </a:r>
            <a:endParaRPr lang="zh-CN" sz="1600"/>
          </a:p>
          <a:p>
            <a:r>
              <a:rPr lang="zh-CN" sz="1600" dirty="0">
                <a:latin typeface="Arial"/>
                <a:ea typeface="Microsoft YaHei"/>
              </a:rPr>
              <a:t>L 没有 light，不能 photosynthesise，没有 starch</a:t>
            </a:r>
            <a:endParaRPr lang="zh-CN" sz="1600"/>
          </a:p>
          <a:p>
            <a:r>
              <a:rPr lang="zh-CN" sz="1600" dirty="0">
                <a:latin typeface="Arial"/>
                <a:ea typeface="Microsoft YaHei"/>
              </a:rPr>
              <a:t>Watch for:</a:t>
            </a:r>
            <a:endParaRPr lang="zh-CN" sz="1600"/>
          </a:p>
          <a:p>
            <a:r>
              <a:rPr lang="zh-CN" sz="1600" dirty="0">
                <a:latin typeface="Arial"/>
                <a:ea typeface="Microsoft YaHei"/>
              </a:rPr>
              <a:t>这是 booklet p.22 第 2 题，她没写。每个区域都要说 “缺什么”：K 缺 chlorophyll，L 缺 light</a:t>
            </a:r>
            <a:endParaRPr lang="zh-CN" sz="1600"/>
          </a:p>
          <a:p>
            <a:r>
              <a:rPr lang="zh-CN" sz="1600" dirty="0">
                <a:latin typeface="Arial"/>
                <a:ea typeface="Microsoft YaHei"/>
              </a:rPr>
              <a:t>Script:</a:t>
            </a:r>
            <a:endParaRPr lang="zh-CN" sz="1600"/>
          </a:p>
          <a:p>
            <a:r>
              <a:rPr lang="zh-CN" sz="1600" dirty="0">
                <a:latin typeface="Arial"/>
                <a:ea typeface="Microsoft YaHei"/>
              </a:rPr>
              <a:t>说：“这是你 booklet 第 22 页没做的题，我们现在做。”</a:t>
            </a:r>
            <a:endParaRPr lang="zh-CN" sz="1600"/>
          </a:p>
          <a:p>
            <a:r>
              <a:rPr lang="zh-CN" sz="1600" dirty="0">
                <a:latin typeface="Arial"/>
                <a:ea typeface="Microsoft YaHei"/>
              </a:rPr>
              <a:t>问：“Which areas turn blue-black?” 她应答：only J。</a:t>
            </a:r>
            <a:endParaRPr lang="zh-CN" sz="1600"/>
          </a:p>
          <a:p>
            <a:r>
              <a:rPr lang="zh-CN" sz="1600" dirty="0">
                <a:latin typeface="Arial"/>
                <a:ea typeface="Microsoft YaHei"/>
              </a:rPr>
              <a:t>让她解释：K has no chlorophyll；L has no light；所以都不能 photosynthesise，没有 starch。</a:t>
            </a:r>
            <a:endParaRPr lang="zh-CN" sz="1600"/>
          </a:p>
          <a:p>
            <a:r>
              <a:rPr lang="zh-CN" sz="1600" dirty="0">
                <a:latin typeface="Arial"/>
                <a:ea typeface="Microsoft YaHei"/>
              </a:rPr>
              <a:t>说：“每个区域都要说清楚缺了什么：K 缺 chlorophyll，L 缺 light。”</a:t>
            </a:r>
            <a:endParaRPr lang="zh-CN" sz="1600"/>
          </a:p>
          <a:p>
            <a:r>
              <a:rPr lang="zh-CN" sz="1600" dirty="0">
                <a:latin typeface="Arial"/>
                <a:ea typeface="Microsoft YaHei"/>
              </a:rPr>
              <a:t>Say it:</a:t>
            </a:r>
            <a:endParaRPr lang="zh-CN" sz="1600"/>
          </a:p>
          <a:p>
            <a:r>
              <a:rPr lang="zh-CN" sz="1600" dirty="0">
                <a:latin typeface="Arial"/>
                <a:ea typeface="Microsoft YaHei"/>
              </a:rPr>
              <a:t>variegated = VAIR-ee-uh-gay-tid</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carbon dioxide + water → glucose + oxygen: Sam swapped oxygen and carbon dioxide (L4)</a:t>
            </a:r>
            <a:endParaRPr lang="zh-CN" sz="1600"/>
          </a:p>
          <a:p>
            <a:r>
              <a:rPr lang="zh-CN" sz="1600" dirty="0">
                <a:latin typeface="Arial"/>
                <a:ea typeface="Microsoft YaHei"/>
              </a:rPr>
              <a:t>2. blue-black shows starch, not glucose (L6)</a:t>
            </a:r>
            <a:endParaRPr lang="zh-CN" sz="1600"/>
          </a:p>
          <a:p>
            <a:r>
              <a:rPr lang="zh-CN" sz="1600" dirty="0">
                <a:latin typeface="Arial"/>
                <a:ea typeface="Microsoft YaHei"/>
              </a:rPr>
              <a:t>3. plants respire all the time, day and night (L5)</a:t>
            </a:r>
            <a:endParaRPr lang="zh-CN" sz="1600"/>
          </a:p>
          <a:p>
            <a:r>
              <a:rPr lang="zh-CN" sz="1600" dirty="0">
                <a:latin typeface="Arial"/>
                <a:ea typeface="Microsoft YaHei"/>
              </a:rPr>
              <a:t>Short solution:</a:t>
            </a:r>
            <a:endParaRPr lang="zh-CN" sz="1600"/>
          </a:p>
          <a:p>
            <a:r>
              <a:rPr lang="zh-CN" sz="1600" dirty="0">
                <a:latin typeface="Arial"/>
                <a:ea typeface="Microsoft YaHei"/>
              </a:rPr>
              <a:t>carbon dioxide + water → glucose + oxygen, with light energy above the arrow and chlorophyll below. Blue-black with iodine shows the leaf contains starch. Plants respire all the time; they photosynthesise only in the light.</a:t>
            </a:r>
            <a:endParaRPr lang="zh-CN" sz="1600"/>
          </a:p>
          <a:p>
            <a:r>
              <a:rPr lang="zh-CN" sz="1600" dirty="0">
                <a:latin typeface="Arial"/>
                <a:ea typeface="Microsoft YaHei"/>
              </a:rPr>
              <a:t>Watch for:</a:t>
            </a:r>
            <a:endParaRPr lang="zh-CN" sz="1600"/>
          </a:p>
          <a:p>
            <a:r>
              <a:rPr lang="zh-CN" sz="1600" dirty="0">
                <a:latin typeface="Arial"/>
                <a:ea typeface="Microsoft YaHei"/>
              </a:rPr>
              <a:t>实验步骤那一句是对的。</a:t>
            </a:r>
            <a:endParaRPr lang="zh-CN" sz="1600"/>
          </a:p>
          <a:p>
            <a:r>
              <a:rPr lang="zh-CN" sz="1600" dirty="0">
                <a:latin typeface="Arial"/>
                <a:ea typeface="Microsoft YaHei"/>
              </a:rPr>
              <a:t>Script:</a:t>
            </a:r>
            <a:endParaRPr lang="zh-CN" sz="1600"/>
          </a:p>
          <a:p>
            <a:r>
              <a:rPr lang="zh-CN" sz="1600" dirty="0">
                <a:latin typeface="Arial"/>
                <a:ea typeface="Microsoft YaHei"/>
              </a:rPr>
              <a:t>说：“又是 Sam，3 个错误。”</a:t>
            </a:r>
            <a:endParaRPr lang="zh-CN" sz="1600"/>
          </a:p>
          <a:p>
            <a:r>
              <a:rPr lang="zh-CN" sz="1600" dirty="0">
                <a:latin typeface="Arial"/>
                <a:ea typeface="Microsoft YaHei"/>
              </a:rPr>
              <a:t>她应找出：carbon dioxide and oxygen are swapped；iodine shows starch, not glucose；plants respire all the time。</a:t>
            </a:r>
            <a:endParaRPr lang="zh-CN" sz="1600"/>
          </a:p>
          <a:p>
            <a:r>
              <a:rPr lang="zh-CN" sz="1600" dirty="0">
                <a:latin typeface="Arial"/>
                <a:ea typeface="Microsoft YaHei"/>
              </a:rPr>
              <a:t>问：“实验步骤那句对吗？” 答：对。</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plant 1 stays brown (no starch); plant 2 turns blue-black (starch)</a:t>
            </a:r>
            <a:endParaRPr lang="zh-CN" sz="1600"/>
          </a:p>
          <a:p>
            <a:r>
              <a:rPr lang="zh-CN" sz="1600" dirty="0">
                <a:latin typeface="Arial"/>
                <a:ea typeface="Microsoft YaHei"/>
              </a:rPr>
              <a:t>Q2 at night only respiration happens, which gives out carbon dioxide; in the day photosynthesis takes in carbon dioxide faster than respiration gives it out</a:t>
            </a:r>
            <a:endParaRPr lang="zh-CN" sz="1600"/>
          </a:p>
          <a:p>
            <a:r>
              <a:rPr lang="zh-CN" sz="1600" dirty="0">
                <a:latin typeface="Arial"/>
                <a:ea typeface="Microsoft YaHei"/>
              </a:rPr>
              <a:t>Short solution:</a:t>
            </a:r>
            <a:endParaRPr lang="zh-CN" sz="1600"/>
          </a:p>
          <a:p>
            <a:r>
              <a:rPr lang="zh-CN" sz="1600" dirty="0">
                <a:latin typeface="Arial"/>
                <a:ea typeface="Microsoft YaHei"/>
              </a:rPr>
              <a:t>Q1 jar 1 没有 carbon dioxide，不能 photosynthesise，不能做 glucose，所以没有 starch；jar 2 有 carbon dioxide，是 control</a:t>
            </a:r>
            <a:endParaRPr lang="zh-CN" sz="1600"/>
          </a:p>
          <a:p>
            <a:r>
              <a:rPr lang="zh-CN" sz="1600" dirty="0">
                <a:latin typeface="Arial"/>
                <a:ea typeface="Microsoft YaHei"/>
              </a:rPr>
              <a:t>Q2 要写清两个过程，以及白天 “photosynthesis is faster than respiration”</a:t>
            </a:r>
            <a:endParaRPr lang="zh-CN" sz="1600"/>
          </a:p>
          <a:p>
            <a:r>
              <a:rPr lang="zh-CN" sz="1600" dirty="0">
                <a:latin typeface="Arial"/>
                <a:ea typeface="Microsoft YaHei"/>
              </a:rPr>
              <a:t>Watch for:</a:t>
            </a:r>
            <a:endParaRPr lang="zh-CN" sz="1600"/>
          </a:p>
          <a:p>
            <a:r>
              <a:rPr lang="zh-CN" sz="1600" dirty="0">
                <a:latin typeface="Arial"/>
                <a:ea typeface="Microsoft YaHei"/>
              </a:rPr>
              <a:t>Q1 她 booklet p.21 只写了 “there won't be photosynthesis”，没写原因 (缺 carbon dioxide)，只能拿 A</a:t>
            </a:r>
            <a:endParaRPr lang="zh-CN" sz="1600"/>
          </a:p>
          <a:p>
            <a:r>
              <a:rPr lang="zh-CN" sz="1600" dirty="0">
                <a:latin typeface="Arial"/>
                <a:ea typeface="Microsoft YaHei"/>
              </a:rPr>
              <a:t>Q2 写 “plants respire at night” 只答了一半；只写 “plants breathe out carbon dioxide” 不给分</a:t>
            </a:r>
            <a:endParaRPr lang="zh-CN" sz="1600"/>
          </a:p>
          <a:p>
            <a:r>
              <a:rPr lang="zh-CN" sz="1600" dirty="0">
                <a:latin typeface="Arial"/>
                <a:ea typeface="Microsoft YaHei"/>
              </a:rPr>
              <a:t>Script:</a:t>
            </a:r>
            <a:endParaRPr lang="zh-CN" sz="1600"/>
          </a:p>
          <a:p>
            <a:r>
              <a:rPr lang="zh-CN" sz="1600" dirty="0">
                <a:latin typeface="Arial"/>
                <a:ea typeface="Microsoft YaHei"/>
              </a:rPr>
              <a:t>念 Q1，问：“Predict and explain.” 她应答：plant 1 stays brown because there is no carbon dioxide, so no photosynthesis, no starch；plant 2 turns blue-black。</a:t>
            </a:r>
            <a:endParaRPr lang="zh-CN" sz="1600"/>
          </a:p>
          <a:p>
            <a:r>
              <a:rPr lang="zh-CN" sz="1600" dirty="0">
                <a:latin typeface="Arial"/>
                <a:ea typeface="Microsoft YaHei"/>
              </a:rPr>
              <a:t>追问：“Jar 2 有什么用？” 答：it is the control (对照)。</a:t>
            </a:r>
            <a:endParaRPr lang="zh-CN" sz="1600"/>
          </a:p>
          <a:p>
            <a:r>
              <a:rPr lang="zh-CN" sz="1600" dirty="0">
                <a:latin typeface="Arial"/>
                <a:ea typeface="Microsoft YaHei"/>
              </a:rPr>
              <a:t>念 Q2，她应答：at night only respiration, which gives out carbon dioxide；in the day photosynthesis uses carbon dioxide faster than respiration makes it。</a:t>
            </a:r>
            <a:endParaRPr lang="zh-CN" sz="1600"/>
          </a:p>
          <a:p>
            <a:r>
              <a:rPr lang="zh-CN" sz="1600" dirty="0">
                <a:latin typeface="Arial"/>
                <a:ea typeface="Microsoft YaHei"/>
              </a:rPr>
              <a:t>说：“只写 ‘plants respire at night’ 只答了一半。”</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D</a:t>
            </a:r>
            <a:endParaRPr lang="zh-CN" sz="1600"/>
          </a:p>
          <a:p>
            <a:r>
              <a:rPr lang="zh-CN" sz="1600" dirty="0">
                <a:latin typeface="Arial"/>
                <a:ea typeface="Microsoft YaHei"/>
              </a:rPr>
              <a:t>2. A</a:t>
            </a:r>
            <a:endParaRPr lang="zh-CN" sz="1600"/>
          </a:p>
          <a:p>
            <a:r>
              <a:rPr lang="zh-CN" sz="1600" dirty="0">
                <a:latin typeface="Arial"/>
                <a:ea typeface="Microsoft YaHei"/>
              </a:rPr>
              <a:t>3. C</a:t>
            </a:r>
            <a:endParaRPr lang="zh-CN" sz="1600"/>
          </a:p>
          <a:p>
            <a:r>
              <a:rPr lang="zh-CN" sz="1600" dirty="0">
                <a:latin typeface="Arial"/>
                <a:ea typeface="Microsoft YaHei"/>
              </a:rPr>
              <a:t>4. B</a:t>
            </a:r>
            <a:endParaRPr lang="zh-CN" sz="1600"/>
          </a:p>
          <a:p>
            <a:r>
              <a:rPr lang="zh-CN" sz="1600" dirty="0">
                <a:latin typeface="Arial"/>
                <a:ea typeface="Microsoft YaHei"/>
              </a:rPr>
              <a:t>5. E</a:t>
            </a:r>
            <a:endParaRPr lang="zh-CN" sz="1600"/>
          </a:p>
          <a:p>
            <a:r>
              <a:rPr lang="zh-CN" sz="1600" dirty="0">
                <a:latin typeface="Arial"/>
                <a:ea typeface="Microsoft YaHei"/>
              </a:rPr>
              <a:t>Short solution:</a:t>
            </a:r>
            <a:endParaRPr lang="zh-CN" sz="1600"/>
          </a:p>
          <a:p>
            <a:r>
              <a:rPr lang="zh-CN" sz="1600" dirty="0">
                <a:latin typeface="Arial"/>
                <a:ea typeface="Microsoft YaHei"/>
              </a:rPr>
              <a:t>记法：xylem 运 water 向上；phloem 运 food (glucose) 到需要或储存的地方</a:t>
            </a:r>
            <a:endParaRPr lang="zh-CN" sz="1600"/>
          </a:p>
          <a:p>
            <a:r>
              <a:rPr lang="zh-CN" sz="1600" dirty="0">
                <a:latin typeface="Arial"/>
                <a:ea typeface="Microsoft YaHei"/>
              </a:rPr>
              <a:t>Watch for:</a:t>
            </a:r>
            <a:endParaRPr lang="zh-CN" sz="1600"/>
          </a:p>
          <a:p>
            <a:r>
              <a:rPr lang="zh-CN" sz="1600" dirty="0">
                <a:latin typeface="Arial"/>
                <a:ea typeface="Microsoft YaHei"/>
              </a:rPr>
              <a:t>2. phloem 的拼写：ph 开头，-oem 结尾</a:t>
            </a:r>
            <a:endParaRPr lang="zh-CN" sz="1600"/>
          </a:p>
          <a:p>
            <a:r>
              <a:rPr lang="zh-CN" sz="1600" dirty="0">
                <a:latin typeface="Arial"/>
                <a:ea typeface="Microsoft YaHei"/>
              </a:rPr>
              <a:t>5. booklet p.16 说 guard cells “swell to close” stomata。真实情况是 guard cells 吸水 swell 时 stomata 打开。考试如果问 swell 和 open 的关系，按 booklet 写，并提醒她两种说法都见过</a:t>
            </a:r>
            <a:endParaRPr lang="zh-CN" sz="1600"/>
          </a:p>
          <a:p>
            <a:r>
              <a:rPr lang="zh-CN" sz="1600" dirty="0">
                <a:latin typeface="Arial"/>
                <a:ea typeface="Microsoft YaHei"/>
              </a:rPr>
              <a:t>Script:</a:t>
            </a:r>
            <a:endParaRPr lang="zh-CN" sz="1600"/>
          </a:p>
          <a:p>
            <a:r>
              <a:rPr lang="zh-CN" sz="1600" dirty="0">
                <a:latin typeface="Arial"/>
                <a:ea typeface="Microsoft YaHei"/>
              </a:rPr>
              <a:t>说：“配对，说数字加字母。”</a:t>
            </a:r>
            <a:endParaRPr lang="zh-CN" sz="1600"/>
          </a:p>
          <a:p>
            <a:r>
              <a:rPr lang="zh-CN" sz="1600" dirty="0">
                <a:latin typeface="Arial"/>
                <a:ea typeface="Microsoft YaHei"/>
              </a:rPr>
              <a:t>她应答：1 D, 2 A, 3 C, 4 B, 5 E。</a:t>
            </a:r>
            <a:endParaRPr lang="zh-CN" sz="1600"/>
          </a:p>
          <a:p>
            <a:r>
              <a:rPr lang="zh-CN" sz="1600" dirty="0">
                <a:latin typeface="Arial"/>
                <a:ea typeface="Microsoft YaHei"/>
              </a:rPr>
              <a:t>说：“记法：xylem 运 water 往上，phloem 运 food，也就是 glucose。”</a:t>
            </a:r>
            <a:endParaRPr lang="zh-CN" sz="1600"/>
          </a:p>
          <a:p>
            <a:r>
              <a:rPr lang="zh-CN" sz="1600" dirty="0">
                <a:latin typeface="Arial"/>
                <a:ea typeface="Microsoft YaHei"/>
              </a:rPr>
              <a:t>提醒拼写：phloem 是 ph 开头。</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0:31–0:33。</a:t>
            </a:r>
            <a:endParaRPr lang="zh-CN" sz="1600"/>
          </a:p>
          <a:p>
            <a:r>
              <a:rPr lang="zh-CN" sz="1600" dirty="0">
                <a:latin typeface="Arial"/>
                <a:ea typeface="Microsoft YaHei"/>
              </a:rPr>
              <a:t>空格：osmosis / xylem / stomata。</a:t>
            </a:r>
            <a:endParaRPr lang="zh-CN" sz="1600"/>
          </a:p>
          <a:p>
            <a:r>
              <a:rPr lang="zh-CN" sz="1600" dirty="0">
                <a:latin typeface="Arial"/>
                <a:ea typeface="Microsoft YaHei"/>
              </a:rPr>
              <a:t>问题答案：transpiration。</a:t>
            </a:r>
            <a:endParaRPr lang="zh-CN" sz="1600"/>
          </a:p>
          <a:p>
            <a:r>
              <a:rPr lang="zh-CN" sz="1600" dirty="0">
                <a:latin typeface="Arial"/>
                <a:ea typeface="Microsoft YaHei"/>
              </a:rPr>
              <a:t>Script:</a:t>
            </a:r>
            <a:endParaRPr lang="zh-CN" sz="1600"/>
          </a:p>
          <a:p>
            <a:r>
              <a:rPr lang="zh-CN" sz="1600" dirty="0">
                <a:latin typeface="Arial"/>
                <a:ea typeface="Microsoft YaHei"/>
              </a:rPr>
              <a:t>说：“跟着箭头走一遍，把空格说出来。”</a:t>
            </a:r>
            <a:endParaRPr lang="zh-CN" sz="1600"/>
          </a:p>
          <a:p>
            <a:r>
              <a:rPr lang="zh-CN" sz="1600" dirty="0">
                <a:latin typeface="Arial"/>
                <a:ea typeface="Microsoft YaHei"/>
              </a:rPr>
              <a:t>她应答：osmosis；xylem；stomata。</a:t>
            </a:r>
            <a:endParaRPr lang="zh-CN" sz="1600"/>
          </a:p>
          <a:p>
            <a:r>
              <a:rPr lang="zh-CN" sz="1600" dirty="0">
                <a:latin typeface="Arial"/>
                <a:ea typeface="Microsoft YaHei"/>
              </a:rPr>
              <a:t>问：“What is the loss of water vapour from the leaves called?” 答 transpiration。</a:t>
            </a:r>
            <a:endParaRPr lang="zh-CN" sz="1600"/>
          </a:p>
          <a:p>
            <a:r>
              <a:rPr lang="zh-CN" sz="1600" dirty="0">
                <a:latin typeface="Arial"/>
                <a:ea typeface="Microsoft YaHei"/>
              </a:rPr>
              <a:t>Say it:</a:t>
            </a:r>
            <a:endParaRPr lang="zh-CN" sz="1600"/>
          </a:p>
          <a:p>
            <a:r>
              <a:rPr lang="zh-CN" sz="1600" dirty="0">
                <a:latin typeface="Arial"/>
                <a:ea typeface="Microsoft YaHei"/>
              </a:rPr>
              <a:t>transpiration = tran-spih-RAY-shun</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0:33–0:35。</a:t>
            </a:r>
            <a:endParaRPr lang="zh-CN" sz="1600"/>
          </a:p>
          <a:p>
            <a:r>
              <a:rPr lang="zh-CN" sz="1600" dirty="0">
                <a:latin typeface="Arial"/>
                <a:ea typeface="Microsoft YaHei"/>
              </a:rPr>
              <a:t>空格：evaporates (is lost) / pulls / xylem / leaves / xylem vessels。</a:t>
            </a:r>
            <a:endParaRPr lang="zh-CN" sz="1600"/>
          </a:p>
          <a:p>
            <a:r>
              <a:rPr lang="zh-CN" sz="1600" dirty="0">
                <a:latin typeface="Arial"/>
                <a:ea typeface="Microsoft YaHei"/>
              </a:rPr>
              <a:t>她 booklet p.17 的答案是 “The water in the cylinder are being transport up to the stem. The food colour will change the colour of plant”，只到 A：没有 xylem，没有原因。</a:t>
            </a:r>
            <a:endParaRPr lang="zh-CN" sz="1600"/>
          </a:p>
          <a:p>
            <a:r>
              <a:rPr lang="zh-CN" sz="1600" dirty="0">
                <a:latin typeface="Arial"/>
                <a:ea typeface="Microsoft YaHei"/>
              </a:rPr>
              <a:t>L9：不能写 “the plant sucks / drinks”，要写 transpiration 造成 pull。</a:t>
            </a:r>
            <a:endParaRPr lang="zh-CN" sz="1600"/>
          </a:p>
          <a:p>
            <a:r>
              <a:rPr lang="zh-CN" sz="1600" dirty="0">
                <a:latin typeface="Arial"/>
                <a:ea typeface="Microsoft YaHei"/>
              </a:rPr>
              <a:t>Script:</a:t>
            </a:r>
            <a:endParaRPr lang="zh-CN" sz="1600"/>
          </a:p>
          <a:p>
            <a:r>
              <a:rPr lang="zh-CN" sz="1600" dirty="0">
                <a:latin typeface="Arial"/>
                <a:ea typeface="Microsoft YaHei"/>
              </a:rPr>
              <a:t>说：“芹菜实验，按四步解释。”</a:t>
            </a:r>
            <a:endParaRPr lang="zh-CN" sz="1600"/>
          </a:p>
          <a:p>
            <a:r>
              <a:rPr lang="zh-CN" sz="1600" dirty="0">
                <a:latin typeface="Arial"/>
                <a:ea typeface="Microsoft YaHei"/>
              </a:rPr>
              <a:t>她应答：water evaporates from the leaves；this pulls more water up the xylem；the leaves turn blue；the dots show the xylem。</a:t>
            </a:r>
            <a:endParaRPr lang="zh-CN" sz="1600"/>
          </a:p>
          <a:p>
            <a:r>
              <a:rPr lang="zh-CN" sz="1600" dirty="0">
                <a:latin typeface="Arial"/>
                <a:ea typeface="Microsoft YaHei"/>
              </a:rPr>
              <a:t>说：“千万不要写 ‘the plant sucks up water’ 或 ‘it is thirsty’，要写 transpiration 造成的 pull。”</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0:35–0:37。</a:t>
            </a:r>
            <a:endParaRPr lang="zh-CN" sz="1600"/>
          </a:p>
          <a:p>
            <a:r>
              <a:rPr lang="zh-CN" sz="1600" dirty="0">
                <a:latin typeface="Arial"/>
                <a:ea typeface="Microsoft YaHei"/>
              </a:rPr>
              <a:t>1. the small circles (六边形是 sugar molecules)</a:t>
            </a:r>
            <a:endParaRPr lang="zh-CN" sz="1600"/>
          </a:p>
          <a:p>
            <a:r>
              <a:rPr lang="zh-CN" sz="1600" dirty="0">
                <a:latin typeface="Arial"/>
                <a:ea typeface="Microsoft YaHei"/>
              </a:rPr>
              <a:t>2. from right to left, into the sugar solution</a:t>
            </a:r>
            <a:endParaRPr lang="zh-CN" sz="1600"/>
          </a:p>
          <a:p>
            <a:r>
              <a:rPr lang="zh-CN" sz="1600" dirty="0">
                <a:latin typeface="Arial"/>
                <a:ea typeface="Microsoft YaHei"/>
              </a:rPr>
              <a:t>3. the sugar molecules are too large to fit through the membrane</a:t>
            </a:r>
            <a:endParaRPr lang="zh-CN" sz="1600"/>
          </a:p>
          <a:p>
            <a:r>
              <a:rPr lang="zh-CN" sz="1600" dirty="0">
                <a:latin typeface="Arial"/>
                <a:ea typeface="Microsoft YaHei"/>
              </a:rPr>
              <a:t>定义空格：water / high / low / semi-permeable。</a:t>
            </a:r>
            <a:endParaRPr lang="zh-CN" sz="1600"/>
          </a:p>
          <a:p>
            <a:r>
              <a:rPr lang="zh-CN" sz="1600" dirty="0">
                <a:latin typeface="Arial"/>
                <a:ea typeface="Microsoft YaHei"/>
              </a:rPr>
              <a:t>L8：说 “sugar moves” 或者漏掉 membrane 都会丢分；“high to low” 一定要说是 water 的浓度。</a:t>
            </a:r>
            <a:endParaRPr lang="zh-CN" sz="1600"/>
          </a:p>
          <a:p>
            <a:r>
              <a:rPr lang="zh-CN" sz="1600" dirty="0">
                <a:latin typeface="Arial"/>
                <a:ea typeface="Microsoft YaHei"/>
              </a:rPr>
              <a:t>Script:</a:t>
            </a:r>
            <a:endParaRPr lang="zh-CN" sz="1600"/>
          </a:p>
          <a:p>
            <a:r>
              <a:rPr lang="zh-CN" sz="1600" dirty="0">
                <a:latin typeface="Arial"/>
                <a:ea typeface="Microsoft YaHei"/>
              </a:rPr>
              <a:t>说：“看放大图，小圆圈和六边形哪个是水？”</a:t>
            </a:r>
            <a:endParaRPr lang="zh-CN" sz="1600"/>
          </a:p>
          <a:p>
            <a:r>
              <a:rPr lang="zh-CN" sz="1600" dirty="0">
                <a:latin typeface="Arial"/>
                <a:ea typeface="Microsoft YaHei"/>
              </a:rPr>
              <a:t>她应答：small circles are water；water moves from right to left into the sugar solution；sugar molecules are too big to fit through。</a:t>
            </a:r>
            <a:endParaRPr lang="zh-CN" sz="1600"/>
          </a:p>
          <a:p>
            <a:r>
              <a:rPr lang="zh-CN" sz="1600" dirty="0">
                <a:latin typeface="Arial"/>
                <a:ea typeface="Microsoft YaHei"/>
              </a:rPr>
              <a:t>让她念完整定义：Osmosis is the movement of water from a high concentration of water to a low concentration of water through a semi-permeable membrane。</a:t>
            </a:r>
            <a:endParaRPr lang="zh-CN" sz="1600"/>
          </a:p>
          <a:p>
            <a:r>
              <a:rPr lang="zh-CN" sz="1600" dirty="0">
                <a:latin typeface="Arial"/>
                <a:ea typeface="Microsoft YaHei"/>
              </a:rPr>
              <a:t>说：“‘high to low’ 后面一定要说 ‘of water’，也一定要说 membrane。”</a:t>
            </a:r>
            <a:endParaRPr lang="zh-CN" sz="1600"/>
          </a:p>
          <a:p>
            <a:r>
              <a:rPr lang="zh-CN" sz="1600" dirty="0">
                <a:latin typeface="Arial"/>
                <a:ea typeface="Microsoft YaHei"/>
              </a:rPr>
              <a:t>Say it:</a:t>
            </a:r>
            <a:endParaRPr lang="zh-CN" sz="1600"/>
          </a:p>
          <a:p>
            <a:r>
              <a:rPr lang="zh-CN" sz="1600" dirty="0">
                <a:latin typeface="Arial"/>
                <a:ea typeface="Microsoft YaHei"/>
              </a:rPr>
              <a:t>semi-permeable = sem-ee-PER-mee-uh-bul</a:t>
            </a:r>
            <a:endParaRPr lang="zh-CN" sz="1600"/>
          </a:p>
          <a:p>
            <a:r>
              <a:rPr lang="zh-CN" sz="1600" dirty="0">
                <a:latin typeface="Arial"/>
                <a:ea typeface="Microsoft YaHei"/>
              </a:rPr>
              <a:t>molecule = MOL-ih-kyool</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Z (the Visking tubing) is the root hair; X (the capillary tube) is the stem</a:t>
            </a:r>
            <a:endParaRPr lang="zh-CN" sz="1600"/>
          </a:p>
          <a:p>
            <a:r>
              <a:rPr lang="zh-CN" sz="1600" dirty="0">
                <a:latin typeface="Arial"/>
                <a:ea typeface="Microsoft YaHei"/>
              </a:rPr>
              <a:t>2. water moves into the sucrose solution by osmosis, from the beaker (high concentration of water) through the membrane, so the liquid is pushed up the tube</a:t>
            </a:r>
            <a:endParaRPr lang="zh-CN" sz="1600"/>
          </a:p>
          <a:p>
            <a:r>
              <a:rPr lang="zh-CN" sz="1600" dirty="0">
                <a:latin typeface="Arial"/>
                <a:ea typeface="Microsoft YaHei"/>
              </a:rPr>
              <a:t>3. it has a large surface area, so it can absorb more water by osmosis</a:t>
            </a:r>
            <a:endParaRPr lang="zh-CN" sz="1600"/>
          </a:p>
          <a:p>
            <a:r>
              <a:rPr lang="zh-CN" sz="1600" dirty="0">
                <a:latin typeface="Arial"/>
                <a:ea typeface="Microsoft YaHei"/>
              </a:rPr>
              <a:t>Short solution:</a:t>
            </a:r>
            <a:endParaRPr lang="zh-CN" sz="1600"/>
          </a:p>
          <a:p>
            <a:r>
              <a:rPr lang="zh-CN" sz="1600" dirty="0">
                <a:latin typeface="Arial"/>
                <a:ea typeface="Microsoft YaHei"/>
              </a:rPr>
              <a:t>2. Visking tubing 是 semi-permeable membrane：water 可以过，sucrose 不能过</a:t>
            </a:r>
            <a:endParaRPr lang="zh-CN" sz="1600"/>
          </a:p>
          <a:p>
            <a:r>
              <a:rPr lang="zh-CN" sz="1600" dirty="0">
                <a:latin typeface="Arial"/>
                <a:ea typeface="Microsoft YaHei"/>
              </a:rPr>
              <a:t>Watch for:</a:t>
            </a:r>
            <a:endParaRPr lang="zh-CN" sz="1600"/>
          </a:p>
          <a:p>
            <a:r>
              <a:rPr lang="zh-CN" sz="1600" dirty="0">
                <a:latin typeface="Arial"/>
                <a:ea typeface="Microsoft YaHei"/>
              </a:rPr>
              <a:t>1. 这是 booklet p.18 的 Conclusions，她没写</a:t>
            </a:r>
            <a:endParaRPr lang="zh-CN" sz="1600"/>
          </a:p>
          <a:p>
            <a:r>
              <a:rPr lang="zh-CN" sz="1600" dirty="0">
                <a:latin typeface="Arial"/>
                <a:ea typeface="Microsoft YaHei"/>
              </a:rPr>
              <a:t>3. 只写 “absorbs water” 不够，要说 surface area</a:t>
            </a:r>
            <a:endParaRPr lang="zh-CN" sz="1600"/>
          </a:p>
          <a:p>
            <a:r>
              <a:rPr lang="zh-CN" sz="1600" dirty="0">
                <a:latin typeface="Arial"/>
                <a:ea typeface="Microsoft YaHei"/>
              </a:rPr>
              <a:t>Script:</a:t>
            </a:r>
            <a:endParaRPr lang="zh-CN" sz="1600"/>
          </a:p>
          <a:p>
            <a:r>
              <a:rPr lang="zh-CN" sz="1600" dirty="0">
                <a:latin typeface="Arial"/>
                <a:ea typeface="Microsoft YaHei"/>
              </a:rPr>
              <a:t>说：“这是 booklet 第 18 页的老师演示，你当时没写结论，我们现在说。”</a:t>
            </a:r>
            <a:endParaRPr lang="zh-CN" sz="1600"/>
          </a:p>
          <a:p>
            <a:r>
              <a:rPr lang="zh-CN" sz="1600" dirty="0">
                <a:latin typeface="Arial"/>
                <a:ea typeface="Microsoft YaHei"/>
              </a:rPr>
              <a:t>她应答：Z is the root hair, X is the stem；water moves into the sucrose solution by osmosis, so the liquid rises；long and thin gives a large surface area, so it absorbs more water。</a:t>
            </a:r>
            <a:endParaRPr lang="zh-CN" sz="1600"/>
          </a:p>
          <a:p>
            <a:r>
              <a:rPr lang="zh-CN" sz="1600" dirty="0">
                <a:latin typeface="Arial"/>
                <a:ea typeface="Microsoft YaHei"/>
              </a:rPr>
              <a:t>说：“第 3 问一定要说 surface area。”</a:t>
            </a:r>
            <a:endParaRPr lang="zh-CN" sz="1600"/>
          </a:p>
          <a:p>
            <a:r>
              <a:rPr lang="zh-CN" sz="1600" dirty="0">
                <a:latin typeface="Arial"/>
                <a:ea typeface="Microsoft YaHei"/>
              </a:rPr>
              <a:t>Say it:</a:t>
            </a:r>
            <a:endParaRPr lang="zh-CN" sz="1600"/>
          </a:p>
          <a:p>
            <a:r>
              <a:rPr lang="zh-CN" sz="1600" dirty="0">
                <a:latin typeface="Arial"/>
                <a:ea typeface="Microsoft YaHei"/>
              </a:rPr>
              <a:t>sucrose = SOO-krohs</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the water goes up the xylem, not the phloem (L7)</a:t>
            </a:r>
            <a:endParaRPr lang="zh-CN" sz="1600"/>
          </a:p>
          <a:p>
            <a:r>
              <a:rPr lang="zh-CN" sz="1600" dirty="0">
                <a:latin typeface="Arial"/>
                <a:ea typeface="Microsoft YaHei"/>
              </a:rPr>
              <a:t>2. not “sucks because it is thirsty”: water evaporates through the stomata (transpiration) and pulls water up the xylem (L9)</a:t>
            </a:r>
            <a:endParaRPr lang="zh-CN" sz="1600"/>
          </a:p>
          <a:p>
            <a:r>
              <a:rPr lang="zh-CN" sz="1600" dirty="0">
                <a:latin typeface="Arial"/>
                <a:ea typeface="Microsoft YaHei"/>
              </a:rPr>
              <a:t>3. osmosis is from a high to a low concentration of water (L8)</a:t>
            </a:r>
            <a:endParaRPr lang="zh-CN" sz="1600"/>
          </a:p>
          <a:p>
            <a:r>
              <a:rPr lang="zh-CN" sz="1600" dirty="0">
                <a:latin typeface="Arial"/>
                <a:ea typeface="Microsoft YaHei"/>
              </a:rPr>
              <a:t>Short solution:</a:t>
            </a:r>
            <a:endParaRPr lang="zh-CN" sz="1600"/>
          </a:p>
          <a:p>
            <a:r>
              <a:rPr lang="zh-CN" sz="1600" dirty="0">
                <a:latin typeface="Arial"/>
                <a:ea typeface="Microsoft YaHei"/>
              </a:rPr>
              <a:t>Water evaporates from the flower and leaves through the stomata (transpiration). This pulls water, with the dye, up the xylem, so the petals turn blue. Water enters root hairs by osmosis, from a high to a low concentration of water.</a:t>
            </a:r>
            <a:endParaRPr lang="zh-CN" sz="1600"/>
          </a:p>
          <a:p>
            <a:r>
              <a:rPr lang="zh-CN" sz="1600" dirty="0">
                <a:latin typeface="Arial"/>
                <a:ea typeface="Microsoft YaHei"/>
              </a:rPr>
              <a:t>Watch for:</a:t>
            </a:r>
            <a:endParaRPr lang="zh-CN" sz="1600"/>
          </a:p>
          <a:p>
            <a:r>
              <a:rPr lang="zh-CN" sz="1600" dirty="0">
                <a:latin typeface="Arial"/>
                <a:ea typeface="Microsoft YaHei"/>
              </a:rPr>
              <a:t>第 3 句只算一个 error (方向反了) 。</a:t>
            </a:r>
            <a:endParaRPr lang="zh-CN" sz="1600"/>
          </a:p>
          <a:p>
            <a:r>
              <a:rPr lang="zh-CN" sz="1600" dirty="0">
                <a:latin typeface="Arial"/>
                <a:ea typeface="Microsoft YaHei"/>
              </a:rPr>
              <a:t>Script:</a:t>
            </a:r>
            <a:endParaRPr lang="zh-CN" sz="1600"/>
          </a:p>
          <a:p>
            <a:r>
              <a:rPr lang="zh-CN" sz="1600" dirty="0">
                <a:latin typeface="Arial"/>
                <a:ea typeface="Microsoft YaHei"/>
              </a:rPr>
              <a:t>说：“Sam 的第三份答案，3 个错误。”</a:t>
            </a:r>
            <a:endParaRPr lang="zh-CN" sz="1600"/>
          </a:p>
          <a:p>
            <a:r>
              <a:rPr lang="zh-CN" sz="1600" dirty="0">
                <a:latin typeface="Arial"/>
                <a:ea typeface="Microsoft YaHei"/>
              </a:rPr>
              <a:t>她应找出：xylem not phloem；not sucking, transpiration pulls the water up；osmosis is from high to low concentration of water。</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osmosis; xylem</a:t>
            </a:r>
            <a:endParaRPr lang="zh-CN" sz="1600"/>
          </a:p>
          <a:p>
            <a:r>
              <a:rPr lang="zh-CN" sz="1600" dirty="0">
                <a:latin typeface="Arial"/>
                <a:ea typeface="Microsoft YaHei"/>
              </a:rPr>
              <a:t>Q2 (a) 1.8 mm per minute</a:t>
            </a:r>
            <a:endParaRPr lang="zh-CN" sz="1600"/>
          </a:p>
          <a:p>
            <a:r>
              <a:rPr lang="zh-CN" sz="1600" dirty="0">
                <a:latin typeface="Arial"/>
                <a:ea typeface="Microsoft YaHei"/>
              </a:rPr>
              <a:t>Q2 (b) water enters the sugar solution by osmosis through the membrane, so the volume rises</a:t>
            </a:r>
            <a:endParaRPr lang="zh-CN" sz="1600"/>
          </a:p>
          <a:p>
            <a:r>
              <a:rPr lang="zh-CN" sz="1600" dirty="0">
                <a:latin typeface="Arial"/>
                <a:ea typeface="Microsoft YaHei"/>
              </a:rPr>
              <a:t>Q3 the salty water has a lower concentration of water than the root cells, so water moves out of the roots by osmosis; the plant loses water and wilts</a:t>
            </a:r>
            <a:endParaRPr lang="zh-CN" sz="1600"/>
          </a:p>
          <a:p>
            <a:r>
              <a:rPr lang="zh-CN" sz="1600" dirty="0">
                <a:latin typeface="Arial"/>
                <a:ea typeface="Microsoft YaHei"/>
              </a:rPr>
              <a:t>Short solution:</a:t>
            </a:r>
            <a:endParaRPr lang="zh-CN" sz="1600"/>
          </a:p>
          <a:p>
            <a:r>
              <a:rPr lang="zh-CN" sz="1600" dirty="0">
                <a:latin typeface="Arial"/>
                <a:ea typeface="Microsoft YaHei"/>
              </a:rPr>
              <a:t>Q2 (a) rise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r>
                      <a:rPr lang="en-US" sz="1600" i="0">
                        <a:latin typeface="Cambria Math" panose="02040503050406030204" pitchFamily="18" charset="0"/>
                      </a:rPr>
                      <m:t>48</m:t>
                    </m:r>
                    <m:r>
                      <m:rPr>
                        <m:sty m:val="p"/>
                      </m:rPr>
                      <a:rPr lang="en-US" sz="1600" i="0">
                        <a:latin typeface="Cambria Math" panose="02040503050406030204" pitchFamily="18" charset="0"/>
                      </a:rPr>
                      <m:t>−</m:t>
                    </m:r>
                    <m:r>
                      <a:rPr lang="en-US" sz="1600" i="0">
                        <a:latin typeface="Cambria Math" panose="02040503050406030204" pitchFamily="18" charset="0"/>
                      </a:rPr>
                      <m:t>12</m:t>
                    </m:r>
                    <m:r>
                      <m:rPr>
                        <m:sty m:val="p"/>
                      </m:rPr>
                      <a:rPr lang="en-US" sz="1600" i="0">
                        <a:latin typeface="Cambria Math" panose="02040503050406030204" pitchFamily="18" charset="0"/>
                      </a:rPr>
                      <m:t>=</m:t>
                    </m:r>
                    <m:r>
                      <a:rPr lang="en-US" sz="1600" i="0">
                        <a:latin typeface="Cambria Math" panose="02040503050406030204" pitchFamily="18" charset="0"/>
                      </a:rPr>
                      <m:t>36</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m</m:t>
                    </m:r>
                  </m:oMath>
                </a14:m>
              </mc:Choice>
              <mc:Fallback>
                <a:r>
                  <a:rPr lang="zh-CN" sz="1600" dirty="0">
                    <a:latin typeface="Arial"/>
                    <a:ea typeface="Microsoft YaHei"/>
                  </a:rPr>
                  <a:t>= 48 - 12 = 36 mm</a:t>
                </a:r>
              </mc:Fallback>
            </mc:AlternateContent>
            <a:r>
              <a:rPr lang="zh-CN" sz="1600" dirty="0">
                <a:latin typeface="Arial"/>
                <a:ea typeface="Microsoft YaHei"/>
              </a:rPr>
              <a:t>; rate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f>
                      <m:fPr>
                        <m:type m:val="bar"/>
                      </m:fPr>
                      <m:num>
                        <m:r>
                          <a:rPr lang="en-US" sz="1600" i="0">
                            <a:latin typeface="Cambria Math" panose="02040503050406030204" pitchFamily="18" charset="0"/>
                          </a:rPr>
                          <m:t>36</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m</m:t>
                        </m:r>
                      </m:num>
                      <m:den>
                        <m:r>
                          <a:rPr lang="en-US" sz="1600" i="0">
                            <a:latin typeface="Cambria Math" panose="02040503050406030204" pitchFamily="18" charset="0"/>
                          </a:rPr>
                          <m:t>20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i</m:t>
                        </m:r>
                        <m:r>
                          <m:rPr>
                            <m:sty m:val="p"/>
                          </m:rPr>
                          <a:rPr lang="en-US" sz="1600" i="0">
                            <a:latin typeface="Cambria Math" panose="02040503050406030204" pitchFamily="18" charset="0"/>
                          </a:rPr>
                          <m:t>n</m:t>
                        </m:r>
                      </m:den>
                    </m:f>
                    <m:r>
                      <m:rPr>
                        <m:sty m:val="p"/>
                      </m:rPr>
                      <a:rPr lang="en-US" sz="1600" i="0">
                        <a:latin typeface="Cambria Math" panose="02040503050406030204" pitchFamily="18" charset="0"/>
                      </a:rPr>
                      <m:t>=</m:t>
                    </m:r>
                    <m:r>
                      <a:rPr lang="en-US" sz="1600" i="0">
                        <a:latin typeface="Cambria Math" panose="02040503050406030204" pitchFamily="18" charset="0"/>
                      </a:rPr>
                      <m:t>1.8</m:t>
                    </m:r>
                  </m:oMath>
                </a14:m>
              </mc:Choice>
              <mc:Fallback>
                <a:r>
                  <a:rPr lang="zh-CN" sz="1600" dirty="0">
                    <a:latin typeface="Arial"/>
                    <a:ea typeface="Microsoft YaHei"/>
                  </a:rPr>
                  <a:t>= \dfrac36 mm20 min = 1.8</a:t>
                </a:r>
              </mc:Fallback>
            </mc:AlternateContent>
            <a:r>
              <a:rPr lang="zh-CN" sz="1600" dirty="0">
                <a:latin typeface="Arial"/>
                <a:ea typeface="Microsoft YaHei"/>
              </a:rPr>
              <a:t> mm per minute</a:t>
            </a:r>
            <a:endParaRPr lang="zh-CN" sz="1600"/>
          </a:p>
          <a:p>
            <a:r>
              <a:rPr lang="zh-CN" sz="1600" dirty="0">
                <a:latin typeface="Arial"/>
                <a:ea typeface="Microsoft YaHei"/>
              </a:rPr>
              <a:t>Q3 先比较 water concentration (外面低、里面高) ，再说方向 (out of the roots) ，最后说结果 (wilts)</a:t>
            </a:r>
            <a:endParaRPr lang="zh-CN" sz="1600"/>
          </a:p>
          <a:p>
            <a:r>
              <a:rPr lang="zh-CN" sz="1600" dirty="0">
                <a:latin typeface="Arial"/>
                <a:ea typeface="Microsoft YaHei"/>
              </a:rPr>
              <a:t>Watch for:</a:t>
            </a:r>
            <a:endParaRPr lang="zh-CN" sz="1600"/>
          </a:p>
          <a:p>
            <a:r>
              <a:rPr lang="zh-CN" sz="1600" dirty="0">
                <a:latin typeface="Arial"/>
                <a:ea typeface="Microsoft YaHei"/>
              </a:rPr>
              <a:t>Q2 (a) 常见错误：用 48 除以 20 = 2.4，忘了减去开始的 12 mm</a:t>
            </a:r>
            <a:endParaRPr lang="zh-CN" sz="1600"/>
          </a:p>
          <a:p>
            <a:r>
              <a:rPr lang="zh-CN" sz="1600" dirty="0">
                <a:latin typeface="Arial"/>
                <a:ea typeface="Microsoft YaHei"/>
              </a:rPr>
              <a:t>Q3 这是 osmosis 换个角度问：水从 high 到 low，所以这次是从根里往外走</a:t>
            </a:r>
            <a:endParaRPr lang="zh-CN" sz="1600"/>
          </a:p>
          <a:p>
            <a:r>
              <a:rPr lang="zh-CN" sz="1600" dirty="0">
                <a:latin typeface="Arial"/>
                <a:ea typeface="Microsoft YaHei"/>
              </a:rPr>
              <a:t>Script:</a:t>
            </a:r>
            <a:endParaRPr lang="zh-CN" sz="1600"/>
          </a:p>
          <a:p>
            <a:r>
              <a:rPr lang="zh-CN" sz="1600" dirty="0">
                <a:latin typeface="Arial"/>
                <a:ea typeface="Microsoft YaHei"/>
              </a:rPr>
              <a:t>Q1 她应答：osmosis；xylem。</a:t>
            </a:r>
            <a:endParaRPr lang="zh-CN" sz="1600"/>
          </a:p>
          <a:p>
            <a:r>
              <a:rPr lang="zh-CN" sz="1600" dirty="0">
                <a:latin typeface="Arial"/>
                <a:ea typeface="Microsoft YaHei"/>
              </a:rPr>
              <a:t>Q2 (a) 让她说算式：48 minus 12 is 36，36 divided by 20 is 1.8 mm per minute。如果她算出 2.4，提醒她先减去开始的 12。</a:t>
            </a:r>
            <a:endParaRPr lang="zh-CN" sz="1600"/>
          </a:p>
          <a:p>
            <a:r>
              <a:rPr lang="zh-CN" sz="1600" dirty="0">
                <a:latin typeface="Arial"/>
                <a:ea typeface="Microsoft YaHei"/>
              </a:rPr>
              <a:t>Q3 她应答：salty water has a lower concentration of water, so water moves out of the roots by osmosis, and the plant wilts。</a:t>
            </a:r>
            <a:endParaRPr lang="zh-CN" sz="1600"/>
          </a:p>
          <a:p>
            <a:r>
              <a:rPr lang="zh-CN" sz="1600" dirty="0">
                <a:latin typeface="Arial"/>
                <a:ea typeface="Microsoft YaHei"/>
              </a:rPr>
              <a:t>说：“Q3 是 osmosis 换个角度问，方向还是从高到低，这次是从根里往外。”</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0:38–0:39。</a:t>
            </a:r>
            <a:endParaRPr lang="zh-CN" sz="1600"/>
          </a:p>
          <a:p>
            <a:r>
              <a:rPr lang="zh-CN" sz="1600" dirty="0">
                <a:latin typeface="Arial"/>
                <a:ea typeface="Microsoft YaHei"/>
              </a:rPr>
              <a:t>让她每一条说一个今天课上出现过的例子：L1 Spot the error 1；L2 spider plant；L4 和 L6 Spot the error 2；L7 carnation。</a:t>
            </a:r>
            <a:endParaRPr lang="zh-CN" sz="1600"/>
          </a:p>
          <a:p>
            <a:r>
              <a:rPr lang="zh-CN" sz="1600" dirty="0">
                <a:latin typeface="Arial"/>
                <a:ea typeface="Microsoft YaHei"/>
              </a:rPr>
              <a:t>L8 和 L9 在作业 hw1 里还会再练。</a:t>
            </a:r>
            <a:endParaRPr lang="zh-CN" sz="1600"/>
          </a:p>
          <a:p>
            <a:r>
              <a:rPr lang="zh-CN" sz="1600" dirty="0">
                <a:latin typeface="Arial"/>
                <a:ea typeface="Microsoft YaHei"/>
              </a:rPr>
              <a:t>Script:</a:t>
            </a:r>
            <a:endParaRPr lang="zh-CN" sz="1600"/>
          </a:p>
          <a:p>
            <a:r>
              <a:rPr lang="zh-CN" sz="1600" dirty="0">
                <a:latin typeface="Arial"/>
                <a:ea typeface="Microsoft YaHei"/>
              </a:rPr>
              <a:t>说：“这六条是今天最容易丢分的地方，你每条说一个刚才出现过的例子。”</a:t>
            </a:r>
            <a:endParaRPr lang="zh-CN" sz="1600"/>
          </a:p>
          <a:p>
            <a:r>
              <a:rPr lang="zh-CN" sz="1600" dirty="0">
                <a:latin typeface="Arial"/>
                <a:ea typeface="Microsoft YaHei"/>
              </a:rPr>
              <a:t>她可以举：L1 Sam 的第一份答案；L2 spider plant；L4 和 L6 Sam 的第二份答案；L7 康乃馨。</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0:39–0:40。</a:t>
            </a:r>
            <a:endParaRPr lang="zh-CN" sz="1600"/>
          </a:p>
          <a:p>
            <a:r>
              <a:rPr lang="zh-CN" sz="1600" dirty="0">
                <a:latin typeface="Arial"/>
                <a:ea typeface="Microsoft YaHei"/>
              </a:rPr>
              <a:t>让她闭上眼说一遍这四句，再看屏幕对一下。</a:t>
            </a:r>
            <a:endParaRPr lang="zh-CN" sz="1600"/>
          </a:p>
          <a:p>
            <a:r>
              <a:rPr lang="zh-CN" sz="1600" dirty="0">
                <a:latin typeface="Arial"/>
                <a:ea typeface="Microsoft YaHei"/>
              </a:rPr>
              <a:t>Script:</a:t>
            </a:r>
            <a:endParaRPr lang="zh-CN" sz="1600"/>
          </a:p>
          <a:p>
            <a:r>
              <a:rPr lang="zh-CN" sz="1600" dirty="0">
                <a:latin typeface="Arial"/>
                <a:ea typeface="Microsoft YaHei"/>
              </a:rPr>
              <a:t>说：“闭上眼睛，把这四句用英文说一遍。”</a:t>
            </a:r>
            <a:endParaRPr lang="zh-CN" sz="1600"/>
          </a:p>
          <a:p>
            <a:r>
              <a:rPr lang="zh-CN" sz="1600" dirty="0">
                <a:latin typeface="Arial"/>
                <a:ea typeface="Microsoft YaHei"/>
              </a:rPr>
              <a:t>她说完后再看屏幕对一下，漏了哪个词就补哪个词。</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0:40–0:50。</a:t>
            </a:r>
            <a:endParaRPr lang="zh-CN" sz="1600"/>
          </a:p>
          <a:p>
            <a:r>
              <a:rPr lang="zh-CN" sz="1600" dirty="0">
                <a:latin typeface="Arial"/>
                <a:ea typeface="Microsoft YaHei"/>
              </a:rPr>
              <a:t>她做的时候老师不要讲，最后 2 分钟对 Part C 的图 (标尺、轴标签、单位、描点) 。</a:t>
            </a:r>
            <a:endParaRPr lang="zh-CN" sz="1600"/>
          </a:p>
          <a:p>
            <a:r>
              <a:rPr lang="zh-CN" sz="1600" dirty="0">
                <a:latin typeface="Arial"/>
                <a:ea typeface="Microsoft YaHei"/>
              </a:rPr>
              <a:t>答案在 classwork_answers.pdf：Part A 重点是 pollination 和 fertilisation 的区分；Part B 重点是 bell jar 实验的 control；Part C 的图从 0 到 25 分钟是直线上升，之后变平。</a:t>
            </a:r>
            <a:endParaRPr lang="zh-CN" sz="1600"/>
          </a:p>
          <a:p>
            <a:r>
              <a:rPr lang="zh-CN" sz="1600" dirty="0">
                <a:latin typeface="Arial"/>
                <a:ea typeface="Microsoft YaHei"/>
              </a:rPr>
              <a:t>时间不够就把 Part C 的画图留到下课后。</a:t>
            </a:r>
            <a:endParaRPr lang="zh-CN" sz="1600"/>
          </a:p>
          <a:p>
            <a:r>
              <a:rPr lang="zh-CN" sz="1600" dirty="0">
                <a:latin typeface="Arial"/>
                <a:ea typeface="Microsoft YaHei"/>
              </a:rPr>
              <a:t>Script:</a:t>
            </a:r>
            <a:endParaRPr lang="zh-CN" sz="1600"/>
          </a:p>
          <a:p>
            <a:r>
              <a:rPr lang="zh-CN" sz="1600" dirty="0">
                <a:latin typeface="Arial"/>
                <a:ea typeface="Microsoft YaHei"/>
              </a:rPr>
              <a:t>说：“现在做 Classwork 的 Part A 到 C，大约 10 分钟，explain 题写完整句子。”</a:t>
            </a:r>
            <a:endParaRPr lang="zh-CN" sz="1600"/>
          </a:p>
          <a:p>
            <a:r>
              <a:rPr lang="zh-CN" sz="1600" dirty="0">
                <a:latin typeface="Arial"/>
                <a:ea typeface="Microsoft YaHei"/>
              </a:rPr>
              <a:t>她做的时候你不要提示。最后 2 分钟一起检查 Part C 的图：坐标轴、刻度、单位、点有没有描准。</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0:50–0:51。</a:t>
            </a:r>
            <a:endParaRPr lang="zh-CN" sz="1600"/>
          </a:p>
          <a:p>
            <a:r>
              <a:rPr lang="zh-CN" sz="1600" dirty="0">
                <a:latin typeface="Arial"/>
                <a:ea typeface="Microsoft YaHei"/>
              </a:rPr>
              <a:t>这本 booklet 从 p.9 Alloys 往后她几乎没写，学校教过。所以 Loop 2–4 每一页都要让她自己说，不要老师先讲。</a:t>
            </a:r>
            <a:endParaRPr lang="zh-CN" sz="1600"/>
          </a:p>
          <a:p>
            <a:r>
              <a:rPr lang="zh-CN" sz="1600" dirty="0">
                <a:latin typeface="Arial"/>
                <a:ea typeface="Microsoft YaHei"/>
              </a:rPr>
              <a:t>四段：Loop 1 properties and density，Loop 2 heat treatment and alloys，Loop 3 corrosion，Loop 4 reactions and the reactivity series。</a:t>
            </a:r>
            <a:endParaRPr lang="zh-CN" sz="1600"/>
          </a:p>
          <a:p>
            <a:r>
              <a:rPr lang="zh-CN" sz="1600" dirty="0">
                <a:latin typeface="Arial"/>
                <a:ea typeface="Microsoft YaHei"/>
              </a:rPr>
              <a:t>Script:</a:t>
            </a:r>
            <a:endParaRPr lang="zh-CN" sz="1600"/>
          </a:p>
          <a:p>
            <a:r>
              <a:rPr lang="zh-CN" sz="1600" dirty="0">
                <a:latin typeface="Arial"/>
                <a:ea typeface="Microsoft YaHei"/>
              </a:rPr>
              <a:t>说：“第二课，metals。这本 booklet 后半本你没写，我们今天一起把它补上。”</a:t>
            </a:r>
            <a:endParaRPr lang="zh-CN" sz="1600"/>
          </a:p>
          <a:p>
            <a:r>
              <a:rPr lang="zh-CN" sz="1600" dirty="0">
                <a:latin typeface="Arial"/>
                <a:ea typeface="Microsoft YaHei"/>
              </a:rPr>
              <a:t>说：“四段：properties and density；heat treatment and alloys；corrosion (腐蚀)；reactions and the reactivity series (金属活动性顺序)。”</a:t>
            </a:r>
            <a:endParaRPr lang="zh-CN" sz="1600"/>
          </a:p>
          <a:p>
            <a:r>
              <a:rPr lang="zh-CN" sz="1600" dirty="0">
                <a:latin typeface="Arial"/>
                <a:ea typeface="Microsoft YaHei"/>
              </a:rPr>
              <a:t>Say it:</a:t>
            </a:r>
            <a:endParaRPr lang="zh-CN" sz="1600"/>
          </a:p>
          <a:p>
            <a:r>
              <a:rPr lang="zh-CN" sz="1600" dirty="0">
                <a:latin typeface="Arial"/>
                <a:ea typeface="Microsoft YaHei"/>
              </a:rPr>
              <a:t>reactivity = ree-ak-TIV-ih-tee</a:t>
            </a:r>
            <a:endParaRPr lang="zh-CN" sz="1600"/>
          </a:p>
          <a:p>
            <a:r>
              <a:rPr lang="zh-CN" sz="1600" dirty="0">
                <a:latin typeface="Arial"/>
                <a:ea typeface="Microsoft YaHei"/>
              </a:rPr>
              <a:t>alloys = AL-oyz</a:t>
            </a:r>
            <a:endParaRPr lang="zh-CN" sz="1600"/>
          </a:p>
          <a:p>
            <a:r>
              <a:rPr lang="zh-CN" sz="1600" dirty="0">
                <a:latin typeface="Arial"/>
                <a:ea typeface="Microsoft YaHei"/>
              </a:rPr>
              <a:t>corrosion = kuh-ROH-zhun</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any two: lustrous, malleable, ductile, sonorous, good conductors of heat and electricity, high melting point</a:t>
            </a:r>
            <a:endParaRPr lang="zh-CN" sz="1600"/>
          </a:p>
          <a:p>
            <a:r>
              <a:rPr lang="zh-CN" sz="1600" dirty="0">
                <a:latin typeface="Arial"/>
                <a:ea typeface="Microsoft YaHei"/>
              </a:rPr>
              <a:t>Q2 iron, nickel, cobalt</a:t>
            </a:r>
            <a:endParaRPr lang="zh-CN" sz="1600"/>
          </a:p>
          <a:p>
            <a:r>
              <a:rPr lang="zh-CN" sz="1600" dirty="0">
                <a:latin typeface="Arial"/>
                <a:ea typeface="Microsoft YaHei"/>
              </a:rPr>
              <a:t>Q3 density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f>
                      <m:fPr>
                        <m:type m:val="bar"/>
                      </m:fPr>
                      <m:num>
                        <m:r>
                          <m:rPr>
                            <m:nor/>
                            <m:sty m:val="p"/>
                          </m:rPr>
                          <a:rPr lang="en-US" sz="1600" i="0">
                            <a:latin typeface="Cambria Math" panose="02040503050406030204" pitchFamily="18" charset="0"/>
                          </a:rPr>
                          <m:t>mass</m:t>
                        </m:r>
                      </m:num>
                      <m:den>
                        <m:r>
                          <m:rPr>
                            <m:nor/>
                            <m:sty m:val="p"/>
                          </m:rPr>
                          <a:rPr lang="en-US" sz="1600" i="0">
                            <a:latin typeface="Cambria Math" panose="02040503050406030204" pitchFamily="18" charset="0"/>
                          </a:rPr>
                          <m:t>volume</m:t>
                        </m:r>
                      </m:den>
                    </m:f>
                  </m:oMath>
                </a14:m>
              </mc:Choice>
              <mc:Fallback>
                <a:r>
                  <a:rPr lang="zh-CN" sz="1600" dirty="0">
                    <a:latin typeface="Arial"/>
                    <a:ea typeface="Microsoft YaHei"/>
                  </a:rPr>
                  <a:t>= \dfracmassvolume</a:t>
                </a:r>
              </mc:Fallback>
            </mc:AlternateContent>
            <a:endParaRPr lang="zh-CN" sz="1600"/>
          </a:p>
          <a:p>
            <a:r>
              <a:rPr lang="zh-CN" sz="1600" dirty="0">
                <a:latin typeface="Arial"/>
                <a:ea typeface="Microsoft YaHei"/>
              </a:rPr>
              <a:t>Q4 liquid</a:t>
            </a:r>
            <a:endParaRPr lang="zh-CN" sz="1600"/>
          </a:p>
          <a:p>
            <a:r>
              <a:rPr lang="zh-CN" sz="1600" dirty="0">
                <a:latin typeface="Arial"/>
                <a:ea typeface="Microsoft YaHei"/>
              </a:rPr>
              <a:t>Q5 annealing</a:t>
            </a:r>
            <a:endParaRPr lang="zh-CN" sz="1600"/>
          </a:p>
          <a:p>
            <a:r>
              <a:rPr lang="zh-CN" sz="1600" dirty="0">
                <a:latin typeface="Arial"/>
                <a:ea typeface="Microsoft YaHei"/>
              </a:rPr>
              <a:t>Short solution:</a:t>
            </a:r>
            <a:endParaRPr lang="zh-CN" sz="1600"/>
          </a:p>
          <a:p>
            <a:r>
              <a:rPr lang="zh-CN" sz="1600" dirty="0">
                <a:latin typeface="Arial"/>
                <a:ea typeface="Microsoft YaHei"/>
              </a:rPr>
              <a:t>Q4 温度高于 melting point 就是 liquid</a:t>
            </a:r>
            <a:endParaRPr lang="zh-CN" sz="1600"/>
          </a:p>
          <a:p>
            <a:r>
              <a:rPr lang="zh-CN" sz="1600" dirty="0">
                <a:latin typeface="Arial"/>
                <a:ea typeface="Microsoft YaHei"/>
              </a:rPr>
              <a:t>Q5 annealing = cool slowly；quenching = cool quickly in cold water</a:t>
            </a:r>
            <a:endParaRPr lang="zh-CN" sz="1600"/>
          </a:p>
          <a:p>
            <a:r>
              <a:rPr lang="zh-CN" sz="1600" dirty="0">
                <a:latin typeface="Arial"/>
                <a:ea typeface="Microsoft YaHei"/>
              </a:rPr>
              <a:t>Watch for:</a:t>
            </a:r>
            <a:endParaRPr lang="zh-CN" sz="1600"/>
          </a:p>
          <a:p>
            <a:r>
              <a:rPr lang="zh-CN" sz="1600" dirty="0">
                <a:latin typeface="Arial"/>
                <a:ea typeface="Microsoft YaHei"/>
              </a:rPr>
              <a:t>Q1 写 “shiny” 可以，但考试更喜欢 lustrous；写 “strong” 不算通用性质</a:t>
            </a:r>
            <a:endParaRPr lang="zh-CN" sz="1600"/>
          </a:p>
          <a:p>
            <a:r>
              <a:rPr lang="zh-CN" sz="1600" dirty="0">
                <a:latin typeface="Arial"/>
                <a:ea typeface="Microsoft YaHei"/>
              </a:rPr>
              <a:t>Q3 写成 mass × volume 是 booklet p.4 她表格里出过的错 (L10)</a:t>
            </a:r>
            <a:endParaRPr lang="zh-CN" sz="1600"/>
          </a:p>
          <a:p>
            <a:r>
              <a:rPr lang="zh-CN" sz="1600" dirty="0">
                <a:latin typeface="Arial"/>
                <a:ea typeface="Microsoft YaHei"/>
              </a:rPr>
              <a:t>Diagnostic:</a:t>
            </a:r>
            <a:endParaRPr lang="zh-CN" sz="1600"/>
          </a:p>
          <a:p>
            <a:r>
              <a:rPr lang="zh-CN" sz="1600" dirty="0">
                <a:latin typeface="Arial"/>
                <a:ea typeface="Microsoft YaHei"/>
              </a:rPr>
              <a:t>Q3 错：Loop 1 的 density 两页要慢讲</a:t>
            </a:r>
            <a:endParaRPr lang="zh-CN" sz="1600"/>
          </a:p>
          <a:p>
            <a:r>
              <a:rPr lang="zh-CN" sz="1600" dirty="0">
                <a:latin typeface="Arial"/>
                <a:ea typeface="Microsoft YaHei"/>
              </a:rPr>
              <a:t>Q5 错：heat treatment 名称不熟，Loop 2 的 Quick review 先做</a:t>
            </a:r>
            <a:endParaRPr lang="zh-CN" sz="1600"/>
          </a:p>
          <a:p>
            <a:r>
              <a:rPr lang="zh-CN" sz="1600" dirty="0">
                <a:latin typeface="Arial"/>
                <a:ea typeface="Microsoft YaHei"/>
              </a:rPr>
              <a:t>Script:</a:t>
            </a:r>
            <a:endParaRPr lang="zh-CN" sz="1600"/>
          </a:p>
          <a:p>
            <a:r>
              <a:rPr lang="zh-CN" sz="1600" dirty="0">
                <a:latin typeface="Arial"/>
                <a:ea typeface="Microsoft YaHei"/>
              </a:rPr>
              <a:t>说：“Do Now，五道题，用英文回答。”</a:t>
            </a:r>
            <a:endParaRPr lang="zh-CN" sz="1600"/>
          </a:p>
          <a:p>
            <a:r>
              <a:rPr lang="zh-CN" sz="1600" dirty="0">
                <a:latin typeface="Arial"/>
                <a:ea typeface="Microsoft YaHei"/>
              </a:rPr>
              <a:t>第 1 题她可以说 lustrous, malleable, ductile, sonorous, good conductor 中任意两个。</a:t>
            </a:r>
            <a:endParaRPr lang="zh-CN" sz="1600"/>
          </a:p>
          <a:p>
            <a:r>
              <a:rPr lang="zh-CN" sz="1600" dirty="0">
                <a:latin typeface="Arial"/>
                <a:ea typeface="Microsoft YaHei"/>
              </a:rPr>
              <a:t>第 2 题：iron, nickel, cobalt。第 3 题：density = mass divided by volume。如果她说乘，记下来，待会儿重点讲。</a:t>
            </a:r>
            <a:endParaRPr lang="zh-CN" sz="1600"/>
          </a:p>
          <a:p>
            <a:r>
              <a:rPr lang="zh-CN" sz="1600" dirty="0">
                <a:latin typeface="Arial"/>
                <a:ea typeface="Microsoft YaHei"/>
              </a:rPr>
              <a:t>第 4 题：liquid。第 5 题：annealing。如果她答 quenching (淬火)，说：“quenching 是快速冷却，慢慢冷却叫 annealing。”</a:t>
            </a:r>
            <a:endParaRPr lang="zh-CN" sz="1600"/>
          </a:p>
          <a:p>
            <a:r>
              <a:rPr lang="zh-CN" sz="1600" dirty="0">
                <a:latin typeface="Arial"/>
                <a:ea typeface="Microsoft YaHei"/>
              </a:rPr>
              <a:t>Say it:</a:t>
            </a:r>
            <a:endParaRPr lang="zh-CN" sz="1600"/>
          </a:p>
          <a:p>
            <a:r>
              <a:rPr lang="zh-CN" sz="1600" dirty="0">
                <a:latin typeface="Arial"/>
                <a:ea typeface="Microsoft YaHei"/>
              </a:rPr>
              <a:t>malleable = MAL-ee-uh-bul</a:t>
            </a:r>
            <a:endParaRPr lang="zh-CN" sz="1600"/>
          </a:p>
          <a:p>
            <a:r>
              <a:rPr lang="zh-CN" sz="1600" dirty="0">
                <a:latin typeface="Arial"/>
                <a:ea typeface="Microsoft YaHei"/>
              </a:rPr>
              <a:t>ductile = DUK-tile</a:t>
            </a:r>
            <a:endParaRPr lang="zh-CN" sz="1600"/>
          </a:p>
          <a:p>
            <a:r>
              <a:rPr lang="zh-CN" sz="1600" dirty="0">
                <a:latin typeface="Arial"/>
                <a:ea typeface="Microsoft YaHei"/>
              </a:rPr>
              <a:t>lustrous = LUS-trus</a:t>
            </a:r>
            <a:endParaRPr lang="zh-CN" sz="1600"/>
          </a:p>
          <a:p>
            <a:r>
              <a:rPr lang="zh-CN" sz="1600" dirty="0">
                <a:latin typeface="Arial"/>
                <a:ea typeface="Microsoft YaHei"/>
              </a:rPr>
              <a:t>annealing = uh-NEE-ling</a:t>
            </a:r>
            <a:endParaRPr lang="zh-CN" sz="1600"/>
          </a:p>
          <a:p>
            <a:r>
              <a:rPr lang="zh-CN" sz="1600" dirty="0">
                <a:latin typeface="Arial"/>
                <a:ea typeface="Microsoft YaHei"/>
              </a:rPr>
              <a:t>gallium = GAL-ee-um</a:t>
            </a:r>
            <a:endParaRPr lang="zh-CN" sz="1600"/>
          </a:p>
          <a:p>
            <a:r>
              <a:rPr lang="zh-CN" sz="1600" dirty="0">
                <a:latin typeface="Arial"/>
                <a:ea typeface="Microsoft YaHei"/>
              </a:rPr>
              <a:t>sonorous = SON-uh-rus</a:t>
            </a:r>
            <a:endParaRPr lang="zh-CN" sz="1600"/>
          </a:p>
          <a:p>
            <a:r>
              <a:rPr lang="zh-CN" sz="1600" dirty="0">
                <a:latin typeface="Arial"/>
                <a:ea typeface="Microsoft YaHei"/>
              </a:rPr>
              <a:t>quenching = KWEN-ching</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0:54–0:55。</a:t>
            </a:r>
            <a:endParaRPr lang="zh-CN" sz="1600"/>
          </a:p>
          <a:p>
            <a:r>
              <a:rPr lang="zh-CN" sz="1600" dirty="0">
                <a:latin typeface="Arial"/>
                <a:ea typeface="Microsoft YaHei"/>
              </a:rPr>
              <a:t>上排：atoms 怎么排列 → physical properties (malleable, conductor, density) → uses。alloy 也在这一排。</a:t>
            </a:r>
            <a:endParaRPr lang="zh-CN" sz="1600"/>
          </a:p>
          <a:p>
            <a:r>
              <a:rPr lang="zh-CN" sz="1600" dirty="0">
                <a:latin typeface="Arial"/>
                <a:ea typeface="Microsoft YaHei"/>
              </a:rPr>
              <a:t>下排：reactivity → 和 oxygen、water、acid 的反应 → rusting 和怎么保护。</a:t>
            </a:r>
            <a:endParaRPr lang="zh-CN" sz="1600"/>
          </a:p>
          <a:p>
            <a:r>
              <a:rPr lang="zh-CN" sz="1600" dirty="0">
                <a:latin typeface="Arial"/>
                <a:ea typeface="Microsoft YaHei"/>
              </a:rPr>
              <a:t>问她：“为什么 gold 做首饰？” 两排都用到：lustrous (上排) + very unreactive，不会 corrode (下排) 。</a:t>
            </a:r>
            <a:endParaRPr lang="zh-CN" sz="1600"/>
          </a:p>
          <a:p>
            <a:r>
              <a:rPr lang="zh-CN" sz="1600" dirty="0">
                <a:latin typeface="Arial"/>
                <a:ea typeface="Microsoft YaHei"/>
              </a:rPr>
              <a:t>Script:</a:t>
            </a:r>
            <a:endParaRPr lang="zh-CN" sz="1600"/>
          </a:p>
          <a:p>
            <a:r>
              <a:rPr lang="zh-CN" sz="1600" dirty="0">
                <a:latin typeface="Arial"/>
                <a:ea typeface="Microsoft YaHei"/>
              </a:rPr>
              <a:t>说：“金属这一课分两排：上排是 physical properties，下排是 chemical reactions。”</a:t>
            </a:r>
            <a:endParaRPr lang="zh-CN" sz="1600"/>
          </a:p>
          <a:p>
            <a:r>
              <a:rPr lang="zh-CN" sz="1600" dirty="0">
                <a:latin typeface="Arial"/>
                <a:ea typeface="Microsoft YaHei"/>
              </a:rPr>
              <a:t>问：“为什么金子用来做首饰？” 她应答：lustrous (上排) + very unreactive, does not corrode (下排) 。</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B</a:t>
            </a:r>
            <a:endParaRPr lang="zh-CN" sz="1600"/>
          </a:p>
          <a:p>
            <a:r>
              <a:rPr lang="zh-CN" sz="1600" dirty="0">
                <a:latin typeface="Arial"/>
                <a:ea typeface="Microsoft YaHei"/>
              </a:rPr>
              <a:t>2. D</a:t>
            </a:r>
            <a:endParaRPr lang="zh-CN" sz="1600"/>
          </a:p>
          <a:p>
            <a:r>
              <a:rPr lang="zh-CN" sz="1600" dirty="0">
                <a:latin typeface="Arial"/>
                <a:ea typeface="Microsoft YaHei"/>
              </a:rPr>
              <a:t>3. A</a:t>
            </a:r>
            <a:endParaRPr lang="zh-CN" sz="1600"/>
          </a:p>
          <a:p>
            <a:r>
              <a:rPr lang="zh-CN" sz="1600" dirty="0">
                <a:latin typeface="Arial"/>
                <a:ea typeface="Microsoft YaHei"/>
              </a:rPr>
              <a:t>4. C</a:t>
            </a:r>
            <a:endParaRPr lang="zh-CN" sz="1600"/>
          </a:p>
          <a:p>
            <a:r>
              <a:rPr lang="zh-CN" sz="1600" dirty="0">
                <a:latin typeface="Arial"/>
                <a:ea typeface="Microsoft YaHei"/>
              </a:rPr>
              <a:t>5. E</a:t>
            </a:r>
            <a:endParaRPr lang="zh-CN" sz="1600"/>
          </a:p>
          <a:p>
            <a:r>
              <a:rPr lang="zh-CN" sz="1600" dirty="0">
                <a:latin typeface="Arial"/>
                <a:ea typeface="Microsoft YaHei"/>
              </a:rPr>
              <a:t>Short solution:</a:t>
            </a:r>
            <a:endParaRPr lang="zh-CN" sz="1600"/>
          </a:p>
          <a:p>
            <a:r>
              <a:rPr lang="zh-CN" sz="1600" dirty="0">
                <a:latin typeface="Arial"/>
                <a:ea typeface="Microsoft YaHei"/>
              </a:rPr>
              <a:t>记法：malleable 像 mallet (锤子) ；ductile 像 duct (管子、拉长)</a:t>
            </a:r>
            <a:endParaRPr lang="zh-CN" sz="1600"/>
          </a:p>
          <a:p>
            <a:r>
              <a:rPr lang="zh-CN" sz="1600" dirty="0">
                <a:latin typeface="Arial"/>
                <a:ea typeface="Microsoft YaHei"/>
              </a:rPr>
              <a:t>Watch for:</a:t>
            </a:r>
            <a:endParaRPr lang="zh-CN" sz="1600"/>
          </a:p>
          <a:p>
            <a:r>
              <a:rPr lang="zh-CN" sz="1600" dirty="0">
                <a:latin typeface="Arial"/>
                <a:ea typeface="Microsoft YaHei"/>
              </a:rPr>
              <a:t>1. 拼写：两个 l，-eable 结尾 (malleable)</a:t>
            </a:r>
            <a:endParaRPr lang="zh-CN" sz="1600"/>
          </a:p>
          <a:p>
            <a:r>
              <a:rPr lang="zh-CN" sz="1600" dirty="0">
                <a:latin typeface="Arial"/>
                <a:ea typeface="Microsoft YaHei"/>
              </a:rPr>
              <a:t>4. sonorous 只有一个 n 在开头</a:t>
            </a:r>
            <a:endParaRPr lang="zh-CN" sz="1600"/>
          </a:p>
          <a:p>
            <a:r>
              <a:rPr lang="zh-CN" sz="1600" dirty="0">
                <a:latin typeface="Arial"/>
                <a:ea typeface="Microsoft YaHei"/>
              </a:rPr>
              <a:t>Script:</a:t>
            </a:r>
            <a:endParaRPr lang="zh-CN" sz="1600"/>
          </a:p>
          <a:p>
            <a:r>
              <a:rPr lang="zh-CN" sz="1600" dirty="0">
                <a:latin typeface="Arial"/>
                <a:ea typeface="Microsoft YaHei"/>
              </a:rPr>
              <a:t>说：“配对，然后把 malleable 拼给我听。”</a:t>
            </a:r>
            <a:endParaRPr lang="zh-CN" sz="1600"/>
          </a:p>
          <a:p>
            <a:r>
              <a:rPr lang="zh-CN" sz="1600" dirty="0">
                <a:latin typeface="Arial"/>
                <a:ea typeface="Microsoft YaHei"/>
              </a:rPr>
              <a:t>她应答：1 B, 2 D, 3 A, 4 C, 5 E。</a:t>
            </a:r>
            <a:endParaRPr lang="zh-CN" sz="1600"/>
          </a:p>
          <a:p>
            <a:r>
              <a:rPr lang="zh-CN" sz="1600" dirty="0">
                <a:latin typeface="Arial"/>
                <a:ea typeface="Microsoft YaHei"/>
              </a:rPr>
              <a:t>说：“记法：malleable 像 mallet 锤子；ductile 像 duct 管子，拉长。”</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0:57–0:59。</a:t>
            </a:r>
            <a:endParaRPr lang="zh-CN" sz="1600"/>
          </a:p>
          <a:p>
            <a:r>
              <a:rPr lang="zh-CN" sz="1600" dirty="0">
                <a:latin typeface="Arial"/>
                <a:ea typeface="Microsoft YaHei"/>
              </a:rPr>
              <a:t>(a) W：strength high，melting point high</a:t>
            </a:r>
            <a:endParaRPr lang="zh-CN" sz="1600"/>
          </a:p>
          <a:p>
            <a:r>
              <a:rPr lang="zh-CN" sz="1600" dirty="0">
                <a:latin typeface="Arial"/>
                <a:ea typeface="Microsoft YaHei"/>
              </a:rPr>
              <a:t>(b) Y：electrical conductivity very high</a:t>
            </a:r>
            <a:endParaRPr lang="zh-CN" sz="1600"/>
          </a:p>
          <a:p>
            <a:r>
              <a:rPr lang="zh-CN" sz="1600" dirty="0">
                <a:latin typeface="Arial"/>
                <a:ea typeface="Microsoft YaHei"/>
              </a:rPr>
              <a:t>(c) X：conductivity high and density low (2.7)，所以 light</a:t>
            </a:r>
            <a:endParaRPr lang="zh-CN" sz="1600"/>
          </a:p>
          <a:p>
            <a:r>
              <a:rPr lang="zh-CN" sz="1600" dirty="0">
                <a:latin typeface="Arial"/>
                <a:ea typeface="Microsoft YaHei"/>
              </a:rPr>
              <a:t>(d) X 和 Z：melting point 都低于 800 ° C</a:t>
            </a:r>
            <a:endParaRPr lang="zh-CN" sz="1600"/>
          </a:p>
          <a:p>
            <a:r>
              <a:rPr lang="zh-CN" sz="1600" dirty="0">
                <a:latin typeface="Arial"/>
                <a:ea typeface="Microsoft YaHei"/>
              </a:rPr>
              <a:t>这一页先只说选哪个，下一页再练怎么写理由。</a:t>
            </a:r>
            <a:endParaRPr lang="zh-CN" sz="1600"/>
          </a:p>
          <a:p>
            <a:r>
              <a:rPr lang="zh-CN" sz="1600" dirty="0">
                <a:latin typeface="Arial"/>
                <a:ea typeface="Microsoft YaHei"/>
              </a:rPr>
              <a:t>Script:</a:t>
            </a:r>
            <a:endParaRPr lang="zh-CN" sz="1600"/>
          </a:p>
          <a:p>
            <a:r>
              <a:rPr lang="zh-CN" sz="1600" dirty="0">
                <a:latin typeface="Arial"/>
                <a:ea typeface="Microsoft YaHei"/>
              </a:rPr>
              <a:t>说：“先只说选哪种，下一页再练怎么写理由。”</a:t>
            </a:r>
            <a:endParaRPr lang="zh-CN" sz="1600"/>
          </a:p>
          <a:p>
            <a:r>
              <a:rPr lang="zh-CN" sz="1600" dirty="0">
                <a:latin typeface="Arial"/>
                <a:ea typeface="Microsoft YaHei"/>
              </a:rPr>
              <a:t>她应答：(a) W，(b) Y，(c) X，(d) X and Z。</a:t>
            </a:r>
            <a:endParaRPr lang="zh-CN" sz="1600"/>
          </a:p>
          <a:p>
            <a:r>
              <a:rPr lang="zh-CN" sz="1600" dirty="0">
                <a:latin typeface="Arial"/>
                <a:ea typeface="Microsoft YaHei"/>
              </a:rPr>
              <a:t>如果她 (c) 选 Y，问：“Y 的密度是多少？8.9，比 X 重三倍多。”</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0:59–1:01。</a:t>
            </a:r>
            <a:endParaRPr lang="zh-CN" sz="1600"/>
          </a:p>
          <a:p>
            <a:r>
              <a:rPr lang="zh-CN" sz="1600" dirty="0">
                <a:latin typeface="Arial"/>
                <a:ea typeface="Microsoft YaHei"/>
              </a:rPr>
              <a:t>E 级范例：I choose X because it has a high electrical conductivity and a low density of 2.7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 A light cable puts less weight on the pylons and does not sag. Y conducts even better, but its density is 8.9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 more than three times heavier.</a:t>
            </a:r>
            <a:endParaRPr lang="zh-CN" sz="1600"/>
          </a:p>
          <a:p>
            <a:r>
              <a:rPr lang="zh-CN" sz="1600" dirty="0">
                <a:latin typeface="Arial"/>
                <a:ea typeface="Microsoft YaHei"/>
              </a:rPr>
              <a:t>她 booklet p.6 第 5 题写 “Copper, good conductivity and won't burn you to death”：有 property，但没有 “为什么这个 property 重要”，也没有对比，只有 A (L12)。</a:t>
            </a:r>
            <a:endParaRPr lang="zh-CN" sz="1600"/>
          </a:p>
          <a:p>
            <a:r>
              <a:rPr lang="zh-CN" sz="1600" dirty="0">
                <a:latin typeface="Arial"/>
                <a:ea typeface="Microsoft YaHei"/>
              </a:rPr>
              <a:t>Script:</a:t>
            </a:r>
            <a:endParaRPr lang="zh-CN" sz="1600"/>
          </a:p>
          <a:p>
            <a:r>
              <a:rPr lang="zh-CN" sz="1600" dirty="0">
                <a:latin typeface="Arial"/>
                <a:ea typeface="Microsoft YaHei"/>
              </a:rPr>
              <a:t>说：“这是选择题写理由的四步，我们用高架电缆做一遍。”</a:t>
            </a:r>
            <a:endParaRPr lang="zh-CN" sz="1600"/>
          </a:p>
          <a:p>
            <a:r>
              <a:rPr lang="zh-CN" sz="1600" dirty="0">
                <a:latin typeface="Arial"/>
                <a:ea typeface="Microsoft YaHei"/>
              </a:rPr>
              <a:t>她应说出：I choose X because it has high conductivity and a low density of 2.7. A light cable puts less weight on the pylons. Y conducts better, but its density is 8.9, over three times heavier。</a:t>
            </a:r>
            <a:endParaRPr lang="zh-CN" sz="1600"/>
          </a:p>
          <a:p>
            <a:r>
              <a:rPr lang="zh-CN" sz="1600" dirty="0">
                <a:latin typeface="Arial"/>
                <a:ea typeface="Microsoft YaHei"/>
              </a:rPr>
              <a:t>说：“你 booklet 第 6 页写 copper 时只有性质，没有第 3、4 步，所以只有 A。”</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1:01–1:03。</a:t>
            </a:r>
            <a:endParaRPr lang="zh-CN" sz="1600"/>
          </a:p>
          <a:p>
            <a:r>
              <a:rPr lang="zh-CN" sz="1600" dirty="0">
                <a:latin typeface="Arial"/>
                <a:ea typeface="Microsoft YaHei"/>
              </a:rPr>
              <a:t>空格：mass / volume；g/mL；length × width × height；displacement。</a:t>
            </a:r>
            <a:endParaRPr lang="zh-CN" sz="1600"/>
          </a:p>
          <a:p>
            <a:r>
              <a:rPr lang="zh-CN" sz="1600" dirty="0">
                <a:latin typeface="Arial"/>
                <a:ea typeface="Microsoft YaHei"/>
              </a:rPr>
              <a:t>问题答案：29 − 22 = 7 mL (读刻度：before 22 mL，after 29 mL) 。</a:t>
            </a:r>
            <a:endParaRPr lang="zh-CN" sz="1600"/>
          </a:p>
          <a:p>
            <a:r>
              <a:rPr lang="zh-CN" sz="1600" dirty="0">
                <a:latin typeface="Arial"/>
                <a:ea typeface="Microsoft YaHei"/>
              </a:rPr>
              <a:t>1 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 = 1 mL，所以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 和 g/mL 是同一个单位。</a:t>
            </a:r>
            <a:endParaRPr lang="zh-CN" sz="1600"/>
          </a:p>
          <a:p>
            <a:r>
              <a:rPr lang="zh-CN" sz="1600" dirty="0">
                <a:latin typeface="Arial"/>
                <a:ea typeface="Microsoft YaHei"/>
              </a:rPr>
              <a:t>Script:</a:t>
            </a:r>
            <a:endParaRPr lang="zh-CN" sz="1600"/>
          </a:p>
          <a:p>
            <a:r>
              <a:rPr lang="zh-CN" sz="1600" dirty="0">
                <a:latin typeface="Arial"/>
                <a:ea typeface="Microsoft YaHei"/>
              </a:rPr>
              <a:t>说：“密度公式，分子分母分别是什么？” 她应答：mass over volume。</a:t>
            </a:r>
            <a:endParaRPr lang="zh-CN" sz="1600"/>
          </a:p>
          <a:p>
            <a:r>
              <a:rPr lang="zh-CN" sz="1600" dirty="0">
                <a:latin typeface="Arial"/>
                <a:ea typeface="Microsoft YaHei"/>
              </a:rPr>
              <a:t>问单位：g/cm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 or g/mL。问规则物体体积：length × width × height。问不规则物体：displacement method。</a:t>
            </a:r>
            <a:endParaRPr lang="zh-CN" sz="1600"/>
          </a:p>
          <a:p>
            <a:r>
              <a:rPr lang="zh-CN" sz="1600" dirty="0">
                <a:latin typeface="Arial"/>
                <a:ea typeface="Microsoft YaHei"/>
              </a:rPr>
              <a:t>指量筒：“读一下 before 和 after。” 她应答：22 and 29，所以 volume is 7 mL。</a:t>
            </a:r>
            <a:endParaRPr lang="zh-CN" sz="1600"/>
          </a:p>
          <a:p>
            <a:r>
              <a:rPr lang="zh-CN" sz="1600" dirty="0">
                <a:latin typeface="Arial"/>
                <a:ea typeface="Microsoft YaHei"/>
              </a:rPr>
              <a:t>Say it:</a:t>
            </a:r>
            <a:endParaRPr lang="zh-CN" sz="1600"/>
          </a:p>
          <a:p>
            <a:r>
              <a:rPr lang="zh-CN" sz="1600" dirty="0">
                <a:latin typeface="Arial"/>
                <a:ea typeface="Microsoft YaHei"/>
              </a:rPr>
              <a:t>displacement = dis-PLAYS-ment</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1:03–1:04。</a:t>
            </a:r>
            <a:endParaRPr lang="zh-CN" sz="1600"/>
          </a:p>
          <a:p>
            <a:r>
              <a:rPr lang="zh-CN" sz="1600" dirty="0">
                <a:latin typeface="Arial"/>
                <a:ea typeface="Microsoft YaHei"/>
              </a:rPr>
              <a:t>Step 1：</a:t>
            </a:r>
            <mc:AlternateContent xmlns:mc="http://schemas.openxmlformats.org/markup-compatibility/2006">
              <mc:Choice xmlns:a14="http://schemas.microsoft.com/office/drawing/2010/main" Requires="a14">
                <a14:m>
                  <m:oMath xmlns:m="http://schemas.openxmlformats.org/officeDocument/2006/math">
                    <m:r>
                      <a:rPr lang="en-US" sz="1600" i="0">
                        <a:latin typeface="Cambria Math" panose="02040503050406030204" pitchFamily="18" charset="0"/>
                      </a:rPr>
                      <m:t>33.0</m:t>
                    </m:r>
                    <m:r>
                      <m:rPr>
                        <m:sty m:val="p"/>
                      </m:rPr>
                      <a:rPr lang="en-US" sz="1600" i="0">
                        <a:latin typeface="Cambria Math" panose="02040503050406030204" pitchFamily="18" charset="0"/>
                      </a:rPr>
                      <m:t>−</m:t>
                    </m:r>
                    <m:r>
                      <a:rPr lang="en-US" sz="1600" i="0">
                        <a:latin typeface="Cambria Math" panose="02040503050406030204" pitchFamily="18" charset="0"/>
                      </a:rPr>
                      <m:t>30.0</m:t>
                    </m:r>
                    <m:r>
                      <m:rPr>
                        <m:sty m:val="p"/>
                      </m:rPr>
                      <a:rPr lang="en-US" sz="1600" i="0">
                        <a:latin typeface="Cambria Math" panose="02040503050406030204" pitchFamily="18" charset="0"/>
                      </a:rPr>
                      <m:t>=</m:t>
                    </m:r>
                    <m:r>
                      <a:rPr lang="en-US" sz="1600" i="0">
                        <a:latin typeface="Cambria Math" panose="02040503050406030204" pitchFamily="18" charset="0"/>
                      </a:rPr>
                      <m:t>3.0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L</m:t>
                    </m:r>
                  </m:oMath>
                </a14:m>
              </mc:Choice>
              <mc:Fallback>
                <a:r>
                  <a:rPr lang="zh-CN" sz="1600" dirty="0">
                    <a:latin typeface="Arial"/>
                    <a:ea typeface="Microsoft YaHei"/>
                  </a:rPr>
                  <a:t>33.0 - 30.0 = 3.0 mL</a:t>
                </a:r>
              </mc:Fallback>
            </mc:AlternateContent>
            <a:endParaRPr lang="zh-CN" sz="1600"/>
          </a:p>
          <a:p>
            <a:r>
              <a:rPr lang="zh-CN" sz="1600" dirty="0">
                <a:latin typeface="Arial"/>
                <a:ea typeface="Microsoft YaHei"/>
              </a:rPr>
              <a:t>Step 2：</a:t>
            </a:r>
            <mc:AlternateContent xmlns:mc="http://schemas.openxmlformats.org/markup-compatibility/2006">
              <mc:Choice xmlns:a14="http://schemas.microsoft.com/office/drawing/2010/main" Requires="a14">
                <a14:m>
                  <m:oMath xmlns:m="http://schemas.openxmlformats.org/officeDocument/2006/math">
                    <m:f>
                      <m:fPr>
                        <m:type m:val="bar"/>
                      </m:fPr>
                      <m:num>
                        <m:r>
                          <a:rPr lang="en-US" sz="1600" i="0">
                            <a:latin typeface="Cambria Math" panose="02040503050406030204" pitchFamily="18" charset="0"/>
                          </a:rPr>
                          <m:t>25.5</m:t>
                        </m:r>
                        <m:r>
                          <a:rPr lang="en-US" sz="1600" i="0">
                            <a:latin typeface="Cambria Math" panose="02040503050406030204" pitchFamily="18" charset="0"/>
                          </a:rPr>
                          <m:t> </m:t>
                        </m:r>
                        <m:r>
                          <m:rPr>
                            <m:sty m:val="p"/>
                          </m:rPr>
                          <a:rPr lang="en-US" sz="1600" i="0">
                            <a:latin typeface="Cambria Math" panose="02040503050406030204" pitchFamily="18" charset="0"/>
                          </a:rPr>
                          <m:t>g</m:t>
                        </m:r>
                      </m:num>
                      <m:den>
                        <m:r>
                          <a:rPr lang="en-US" sz="1600" i="0">
                            <a:latin typeface="Cambria Math" panose="02040503050406030204" pitchFamily="18" charset="0"/>
                          </a:rPr>
                          <m:t>3.0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L</m:t>
                        </m:r>
                      </m:den>
                    </m:f>
                  </m:oMath>
                </a14:m>
              </mc:Choice>
              <mc:Fallback>
                <a:r>
                  <a:rPr lang="zh-CN" sz="1600" dirty="0">
                    <a:latin typeface="Arial"/>
                    <a:ea typeface="Microsoft YaHei"/>
                  </a:rPr>
                  <a:t>\dfrac25.5 g3.0 mL</a:t>
                </a:r>
              </mc:Fallback>
            </mc:AlternateContent>
            <a:endParaRPr lang="zh-CN" sz="1600"/>
          </a:p>
          <a:p>
            <a:r>
              <a:rPr lang="zh-CN" sz="1600" dirty="0">
                <a:latin typeface="Arial"/>
                <a:ea typeface="Microsoft YaHei"/>
              </a:rPr>
              <a:t>Step 3：8.5 g/mL</a:t>
            </a:r>
            <a:endParaRPr lang="zh-CN" sz="1600"/>
          </a:p>
          <a:p>
            <a:r>
              <a:rPr lang="zh-CN" sz="1600" dirty="0">
                <a:latin typeface="Arial"/>
                <a:ea typeface="Microsoft YaHei"/>
              </a:rPr>
              <a:t>L11：volume 是两次读数的差，不是最后的读数。L10：除法，单位 g/mL。</a:t>
            </a:r>
            <a:endParaRPr lang="zh-CN" sz="1600"/>
          </a:p>
          <a:p>
            <a:r>
              <a:rPr lang="zh-CN" sz="1600" dirty="0">
                <a:latin typeface="Arial"/>
                <a:ea typeface="Microsoft YaHei"/>
              </a:rPr>
              <a:t>Script:</a:t>
            </a:r>
            <a:endParaRPr lang="zh-CN" sz="1600"/>
          </a:p>
          <a:p>
            <a:r>
              <a:rPr lang="zh-CN" sz="1600" dirty="0">
                <a:latin typeface="Arial"/>
                <a:ea typeface="Microsoft YaHei"/>
              </a:rPr>
              <a:t>说：“三步走，你说我听。”</a:t>
            </a:r>
            <a:endParaRPr lang="zh-CN" sz="1600"/>
          </a:p>
          <a:p>
            <a:r>
              <a:rPr lang="zh-CN" sz="1600" dirty="0">
                <a:latin typeface="Arial"/>
                <a:ea typeface="Microsoft YaHei"/>
              </a:rPr>
              <a:t>她应答：volume 33.0 minus 30.0 equals 3.0 mL；density 25.5 divided by 3.0 equals 8.5 g/mL。</a:t>
            </a:r>
            <a:endParaRPr lang="zh-CN" sz="1600"/>
          </a:p>
          <a:p>
            <a:r>
              <a:rPr lang="zh-CN" sz="1600" dirty="0">
                <a:latin typeface="Arial"/>
                <a:ea typeface="Microsoft YaHei"/>
              </a:rPr>
              <a:t>说：“最后检查一下：会沉的东西密度一定大于 1，8.5 合理。”</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volume = 25.0 − 20.0 = 5.0 mL, not 25.0 mL (L11)</a:t>
            </a:r>
            <a:endParaRPr lang="zh-CN" sz="1600"/>
          </a:p>
          <a:p>
            <a:r>
              <a:rPr lang="zh-CN" sz="1600" dirty="0">
                <a:latin typeface="Arial"/>
                <a:ea typeface="Microsoft YaHei"/>
              </a:rPr>
              <a:t>2. density = mass divided by volume, not multiplied (L10)</a:t>
            </a:r>
            <a:endParaRPr lang="zh-CN" sz="1600"/>
          </a:p>
          <a:p>
            <a:r>
              <a:rPr lang="zh-CN" sz="1600" dirty="0">
                <a:latin typeface="Arial"/>
                <a:ea typeface="Microsoft YaHei"/>
              </a:rPr>
              <a:t>3. the unit is g/mL, not g (L10)</a:t>
            </a:r>
            <a:endParaRPr lang="zh-CN" sz="1600"/>
          </a:p>
          <a:p>
            <a:r>
              <a:rPr lang="zh-CN" sz="1600" dirty="0">
                <a:latin typeface="Arial"/>
                <a:ea typeface="Microsoft YaHei"/>
              </a:rPr>
              <a:t>Short solution:</a:t>
            </a:r>
            <a:endParaRPr lang="zh-CN" sz="1600"/>
          </a:p>
          <a:p>
            <a:r>
              <a:rPr lang="zh-CN" sz="1600" dirty="0">
                <a:latin typeface="Arial"/>
                <a:ea typeface="Microsoft YaHei"/>
              </a:rPr>
              <a:t>volume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r>
                      <a:rPr lang="en-US" sz="1600" i="0">
                        <a:latin typeface="Cambria Math" panose="02040503050406030204" pitchFamily="18" charset="0"/>
                      </a:rPr>
                      <m:t>25.0</m:t>
                    </m:r>
                    <m:r>
                      <m:rPr>
                        <m:sty m:val="p"/>
                      </m:rPr>
                      <a:rPr lang="en-US" sz="1600" i="0">
                        <a:latin typeface="Cambria Math" panose="02040503050406030204" pitchFamily="18" charset="0"/>
                      </a:rPr>
                      <m:t>−</m:t>
                    </m:r>
                    <m:r>
                      <a:rPr lang="en-US" sz="1600" i="0">
                        <a:latin typeface="Cambria Math" panose="02040503050406030204" pitchFamily="18" charset="0"/>
                      </a:rPr>
                      <m:t>20.0</m:t>
                    </m:r>
                    <m:r>
                      <m:rPr>
                        <m:sty m:val="p"/>
                      </m:rPr>
                      <a:rPr lang="en-US" sz="1600" i="0">
                        <a:latin typeface="Cambria Math" panose="02040503050406030204" pitchFamily="18" charset="0"/>
                      </a:rPr>
                      <m:t>=</m:t>
                    </m:r>
                    <m:r>
                      <a:rPr lang="en-US" sz="1600" i="0">
                        <a:latin typeface="Cambria Math" panose="02040503050406030204" pitchFamily="18" charset="0"/>
                      </a:rPr>
                      <m:t>5.0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L</m:t>
                    </m:r>
                  </m:oMath>
                </a14:m>
              </mc:Choice>
              <mc:Fallback>
                <a:r>
                  <a:rPr lang="zh-CN" sz="1600" dirty="0">
                    <a:latin typeface="Arial"/>
                    <a:ea typeface="Microsoft YaHei"/>
                  </a:rPr>
                  <a:t>= 25.0 - 20.0 = 5.0 mL</a:t>
                </a:r>
              </mc:Fallback>
            </mc:AlternateContent>
            <a:r>
              <a:rPr lang="zh-CN" sz="1600" dirty="0">
                <a:latin typeface="Arial"/>
                <a:ea typeface="Microsoft YaHei"/>
              </a:rPr>
              <a:t>；density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f>
                      <m:fPr>
                        <m:type m:val="bar"/>
                      </m:fPr>
                      <m:num>
                        <m:r>
                          <a:rPr lang="en-US" sz="1600" i="0">
                            <a:latin typeface="Cambria Math" panose="02040503050406030204" pitchFamily="18" charset="0"/>
                          </a:rPr>
                          <m:t>39.5</m:t>
                        </m:r>
                        <m:r>
                          <a:rPr lang="en-US" sz="1600" i="0">
                            <a:latin typeface="Cambria Math" panose="02040503050406030204" pitchFamily="18" charset="0"/>
                          </a:rPr>
                          <m:t> </m:t>
                        </m:r>
                        <m:r>
                          <m:rPr>
                            <m:sty m:val="p"/>
                          </m:rPr>
                          <a:rPr lang="en-US" sz="1600" i="0">
                            <a:latin typeface="Cambria Math" panose="02040503050406030204" pitchFamily="18" charset="0"/>
                          </a:rPr>
                          <m:t>g</m:t>
                        </m:r>
                      </m:num>
                      <m:den>
                        <m:r>
                          <a:rPr lang="en-US" sz="1600" i="0">
                            <a:latin typeface="Cambria Math" panose="02040503050406030204" pitchFamily="18" charset="0"/>
                          </a:rPr>
                          <m:t>5.0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L</m:t>
                        </m:r>
                      </m:den>
                    </m:f>
                    <m:r>
                      <m:rPr>
                        <m:sty m:val="p"/>
                      </m:rPr>
                      <a:rPr lang="en-US" sz="1600" i="0">
                        <a:latin typeface="Cambria Math" panose="02040503050406030204" pitchFamily="18" charset="0"/>
                      </a:rPr>
                      <m:t>=</m:t>
                    </m:r>
                    <m:r>
                      <a:rPr lang="en-US" sz="1600" i="0">
                        <a:latin typeface="Cambria Math" panose="02040503050406030204" pitchFamily="18" charset="0"/>
                      </a:rPr>
                      <m:t>7.9</m:t>
                    </m:r>
                  </m:oMath>
                </a14:m>
              </mc:Choice>
              <mc:Fallback>
                <a:r>
                  <a:rPr lang="zh-CN" sz="1600" dirty="0">
                    <a:latin typeface="Arial"/>
                    <a:ea typeface="Microsoft YaHei"/>
                  </a:rPr>
                  <a:t>= \dfrac39.5 g5.0 mL = 7.9</a:t>
                </a:r>
              </mc:Fallback>
            </mc:AlternateContent>
            <a:r>
              <a:rPr lang="zh-CN" sz="1600" dirty="0">
                <a:latin typeface="Arial"/>
                <a:ea typeface="Microsoft YaHei"/>
              </a:rPr>
              <a:t> g/mL (和 booklet p.6 表里的 iron 一样)</a:t>
            </a:r>
            <a:endParaRPr lang="zh-CN" sz="1600"/>
          </a:p>
          <a:p>
            <a:r>
              <a:rPr lang="zh-CN" sz="1600" dirty="0">
                <a:latin typeface="Arial"/>
                <a:ea typeface="Microsoft YaHei"/>
              </a:rPr>
              <a:t>Watch for:</a:t>
            </a:r>
            <a:endParaRPr lang="zh-CN" sz="1600"/>
          </a:p>
          <a:p>
            <a:r>
              <a:rPr lang="zh-CN" sz="1600" dirty="0">
                <a:latin typeface="Arial"/>
                <a:ea typeface="Microsoft YaHei"/>
              </a:rPr>
              <a:t>她 booklet p.4 最后一行也是乘了 (16.55 g 和 2 cm 得出 33.25) ，体积单位还写成 cm。答案 987.5 明显不合理，要养成检查 “是否合理” 的习惯。</a:t>
            </a:r>
            <a:endParaRPr lang="zh-CN" sz="1600"/>
          </a:p>
          <a:p>
            <a:r>
              <a:rPr lang="zh-CN" sz="1600" dirty="0">
                <a:latin typeface="Arial"/>
                <a:ea typeface="Microsoft YaHei"/>
              </a:rPr>
              <a:t>Script:</a:t>
            </a:r>
            <a:endParaRPr lang="zh-CN" sz="1600"/>
          </a:p>
          <a:p>
            <a:r>
              <a:rPr lang="zh-CN" sz="1600" dirty="0">
                <a:latin typeface="Arial"/>
                <a:ea typeface="Microsoft YaHei"/>
              </a:rPr>
              <a:t>说：“Sam 算密度，3 个错误。”</a:t>
            </a:r>
            <a:endParaRPr lang="zh-CN" sz="1600"/>
          </a:p>
          <a:p>
            <a:r>
              <a:rPr lang="zh-CN" sz="1600" dirty="0">
                <a:latin typeface="Arial"/>
                <a:ea typeface="Microsoft YaHei"/>
              </a:rPr>
              <a:t>她应找出：volume should be 5.0 mL；divide, not multiply；the unit is g/mL。</a:t>
            </a:r>
            <a:endParaRPr lang="zh-CN" sz="1600"/>
          </a:p>
          <a:p>
            <a:r>
              <a:rPr lang="zh-CN" sz="1600" dirty="0">
                <a:latin typeface="Arial"/>
                <a:ea typeface="Microsoft YaHei"/>
              </a:rPr>
              <a:t>问：“正确答案是多少？” 39.5 ÷ 5.0 = 7.9 g/mL。</a:t>
            </a:r>
            <a:endParaRPr lang="zh-CN" sz="1600"/>
          </a:p>
          <a:p>
            <a:r>
              <a:rPr lang="zh-CN" sz="1600" dirty="0">
                <a:latin typeface="Arial"/>
                <a:ea typeface="Microsoft YaHei"/>
              </a:rPr>
              <a:t>说：“987.5 这么大的数一看就不合理，算完一定要看看合不合理。”</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5.4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endParaRPr lang="zh-CN" sz="1600"/>
          </a:p>
          <a:p>
            <a:r>
              <a:rPr lang="zh-CN" sz="1600" dirty="0">
                <a:latin typeface="Arial"/>
                <a:ea typeface="Microsoft YaHei"/>
              </a:rPr>
              <a:t>Q2 silver (10.5 g/mL)</a:t>
            </a:r>
            <a:endParaRPr lang="zh-CN" sz="1600"/>
          </a:p>
          <a:p>
            <a:r>
              <a:rPr lang="zh-CN" sz="1600" dirty="0">
                <a:latin typeface="Arial"/>
                <a:ea typeface="Microsoft YaHei"/>
              </a:rPr>
              <a:t>Q3 copper is almost as good a conductor as silver, is much cheaper, and is ductile, so it can be drawn into wires</a:t>
            </a:r>
            <a:endParaRPr lang="zh-CN" sz="1600"/>
          </a:p>
          <a:p>
            <a:r>
              <a:rPr lang="zh-CN" sz="1600" dirty="0">
                <a:latin typeface="Arial"/>
                <a:ea typeface="Microsoft YaHei"/>
              </a:rPr>
              <a:t>Short solution:</a:t>
            </a:r>
            <a:endParaRPr lang="zh-CN" sz="1600"/>
          </a:p>
          <a:p>
            <a:r>
              <a:rPr lang="zh-CN" sz="1600" dirty="0">
                <a:latin typeface="Arial"/>
                <a:ea typeface="Microsoft YaHei"/>
              </a:rPr>
              <a:t>Q1 volume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r>
                      <a:rPr lang="en-US" sz="1600" i="0">
                        <a:latin typeface="Cambria Math" panose="02040503050406030204" pitchFamily="18" charset="0"/>
                      </a:rPr>
                      <m:t>2.0</m:t>
                    </m:r>
                    <m:r>
                      <m:rPr>
                        <m:sty m:val="p"/>
                      </m:rPr>
                      <a:rPr lang="en-US" sz="1600" i="0">
                        <a:latin typeface="Cambria Math" panose="02040503050406030204" pitchFamily="18" charset="0"/>
                      </a:rPr>
                      <m:t>×</m:t>
                    </m:r>
                    <m:r>
                      <a:rPr lang="en-US" sz="1600" i="0">
                        <a:latin typeface="Cambria Math" panose="02040503050406030204" pitchFamily="18" charset="0"/>
                      </a:rPr>
                      <m:t>2.0</m:t>
                    </m:r>
                    <m:r>
                      <m:rPr>
                        <m:sty m:val="p"/>
                      </m:rPr>
                      <a:rPr lang="en-US" sz="1600" i="0">
                        <a:latin typeface="Cambria Math" panose="02040503050406030204" pitchFamily="18" charset="0"/>
                      </a:rPr>
                      <m:t>×</m:t>
                    </m:r>
                    <m:r>
                      <a:rPr lang="en-US" sz="1600" i="0">
                        <a:latin typeface="Cambria Math" panose="02040503050406030204" pitchFamily="18" charset="0"/>
                      </a:rPr>
                      <m:t>3.0</m:t>
                    </m:r>
                    <m:r>
                      <m:rPr>
                        <m:sty m:val="p"/>
                      </m:rPr>
                      <a:rPr lang="en-US" sz="1600" i="0">
                        <a:latin typeface="Cambria Math" panose="02040503050406030204" pitchFamily="18" charset="0"/>
                      </a:rPr>
                      <m:t>=</m:t>
                    </m:r>
                    <m:r>
                      <a:rPr lang="en-US" sz="1600" i="0">
                        <a:latin typeface="Cambria Math" panose="02040503050406030204" pitchFamily="18" charset="0"/>
                      </a:rPr>
                      <m:t>12.0</m:t>
                    </m:r>
                    <m:r>
                      <a:rPr lang="en-US" sz="1600" i="0">
                        <a:latin typeface="Cambria Math" panose="02040503050406030204" pitchFamily="18" charset="0"/>
                      </a:rPr>
                      <m:t> </m:t>
                    </m:r>
                    <m:r>
                      <m:rPr>
                        <m:sty m:val="p"/>
                      </m:rPr>
                      <a:rPr lang="en-US" sz="1600" i="0">
                        <a:latin typeface="Cambria Math" panose="02040503050406030204" pitchFamily="18" charset="0"/>
                      </a:rPr>
                      <m:t>c</m:t>
                    </m:r>
                    <m:sSup>
                      <m:e>
                        <m:r>
                          <m:rPr>
                            <m:sty m:val="p"/>
                          </m:rPr>
                          <a:rPr lang="en-US" sz="1600" i="0">
                            <a:latin typeface="Cambria Math" panose="02040503050406030204" pitchFamily="18" charset="0"/>
                          </a:rPr>
                          <m:t>m</m:t>
                        </m:r>
                      </m:e>
                      <m:sup>
                        <m:r>
                          <m:rPr>
                            <m:sty m:val="p"/>
                          </m:rPr>
                          <a:rPr lang="en-US" sz="1600" i="0">
                            <a:latin typeface="Cambria Math" panose="02040503050406030204" pitchFamily="18" charset="0"/>
                          </a:rPr>
                          <m:t>3</m:t>
                        </m:r>
                      </m:sup>
                    </m:sSup>
                  </m:oMath>
                </a14:m>
              </mc:Choice>
              <mc:Fallback>
                <a:r>
                  <a:rPr lang="zh-CN" sz="1600" dirty="0">
                    <a:latin typeface="Arial"/>
                    <a:ea typeface="Microsoft YaHei"/>
                  </a:rPr>
                  <a:t>= 2.0 × 2.0 × 3.0 = 12.0 \mathrmcm^3</a:t>
                </a:r>
              </mc:Fallback>
            </mc:AlternateContent>
            <a:r>
              <a:rPr lang="zh-CN" sz="1600" dirty="0">
                <a:latin typeface="Arial"/>
                <a:ea typeface="Microsoft YaHei"/>
              </a:rPr>
              <a:t>；density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f>
                      <m:fPr>
                        <m:type m:val="bar"/>
                      </m:fPr>
                      <m:num>
                        <m:r>
                          <a:rPr lang="en-US" sz="1600" i="0">
                            <a:latin typeface="Cambria Math" panose="02040503050406030204" pitchFamily="18" charset="0"/>
                          </a:rPr>
                          <m:t>64.8</m:t>
                        </m:r>
                        <m:r>
                          <a:rPr lang="en-US" sz="1600" i="0">
                            <a:latin typeface="Cambria Math" panose="02040503050406030204" pitchFamily="18" charset="0"/>
                          </a:rPr>
                          <m:t> </m:t>
                        </m:r>
                        <m:r>
                          <m:rPr>
                            <m:sty m:val="p"/>
                          </m:rPr>
                          <a:rPr lang="en-US" sz="1600" i="0">
                            <a:latin typeface="Cambria Math" panose="02040503050406030204" pitchFamily="18" charset="0"/>
                          </a:rPr>
                          <m:t>g</m:t>
                        </m:r>
                      </m:num>
                      <m:den>
                        <m:r>
                          <a:rPr lang="en-US" sz="1600" i="0">
                            <a:latin typeface="Cambria Math" panose="02040503050406030204" pitchFamily="18" charset="0"/>
                          </a:rPr>
                          <m:t>12.0</m:t>
                        </m:r>
                        <m:r>
                          <a:rPr lang="en-US" sz="1600" i="0">
                            <a:latin typeface="Cambria Math" panose="02040503050406030204" pitchFamily="18" charset="0"/>
                          </a:rPr>
                          <m:t> </m:t>
                        </m:r>
                        <m:r>
                          <m:rPr>
                            <m:sty m:val="p"/>
                          </m:rPr>
                          <a:rPr lang="en-US" sz="1600" i="0">
                            <a:latin typeface="Cambria Math" panose="02040503050406030204" pitchFamily="18" charset="0"/>
                          </a:rPr>
                          <m:t>c</m:t>
                        </m:r>
                        <m:sSup>
                          <m:e>
                            <m:r>
                              <m:rPr>
                                <m:sty m:val="p"/>
                              </m:rPr>
                              <a:rPr lang="en-US" sz="1600" i="0">
                                <a:latin typeface="Cambria Math" panose="02040503050406030204" pitchFamily="18" charset="0"/>
                              </a:rPr>
                              <m:t>m</m:t>
                            </m:r>
                          </m:e>
                          <m:sup>
                            <m:r>
                              <m:rPr>
                                <m:sty m:val="p"/>
                              </m:rPr>
                              <a:rPr lang="en-US" sz="1600" i="0">
                                <a:latin typeface="Cambria Math" panose="02040503050406030204" pitchFamily="18" charset="0"/>
                              </a:rPr>
                              <m:t>3</m:t>
                            </m:r>
                          </m:sup>
                        </m:sSup>
                      </m:den>
                    </m:f>
                    <m:r>
                      <m:rPr>
                        <m:sty m:val="p"/>
                      </m:rPr>
                      <a:rPr lang="en-US" sz="1600" i="0">
                        <a:latin typeface="Cambria Math" panose="02040503050406030204" pitchFamily="18" charset="0"/>
                      </a:rPr>
                      <m:t>=</m:t>
                    </m:r>
                    <m:r>
                      <a:rPr lang="en-US" sz="1600" i="0">
                        <a:latin typeface="Cambria Math" panose="02040503050406030204" pitchFamily="18" charset="0"/>
                      </a:rPr>
                      <m:t>5.4</m:t>
                    </m:r>
                  </m:oMath>
                </a14:m>
              </mc:Choice>
              <mc:Fallback>
                <a:r>
                  <a:rPr lang="zh-CN" sz="1600" dirty="0">
                    <a:latin typeface="Arial"/>
                    <a:ea typeface="Microsoft YaHei"/>
                  </a:rPr>
                  <a:t>= \dfrac64.8 g12.0 \mathrmcm^3 = 5.4</a:t>
                </a:r>
              </mc:Fallback>
            </mc:AlternateContent>
            <a:r>
              <a:rPr lang="zh-CN" sz="1600" dirty="0">
                <a:latin typeface="Arial"/>
                <a:ea typeface="Microsoft YaHei"/>
              </a:rPr>
              <a:t>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endParaRPr lang="zh-CN" sz="1600"/>
          </a:p>
          <a:p>
            <a:r>
              <a:rPr lang="zh-CN" sz="1600" dirty="0">
                <a:latin typeface="Arial"/>
                <a:ea typeface="Microsoft YaHei"/>
              </a:rPr>
              <a:t>Q2 volume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r>
                      <a:rPr lang="en-US" sz="1600" i="0">
                        <a:latin typeface="Cambria Math" panose="02040503050406030204" pitchFamily="18" charset="0"/>
                      </a:rPr>
                      <m:t>43.0</m:t>
                    </m:r>
                    <m:r>
                      <m:rPr>
                        <m:sty m:val="p"/>
                      </m:rPr>
                      <a:rPr lang="en-US" sz="1600" i="0">
                        <a:latin typeface="Cambria Math" panose="02040503050406030204" pitchFamily="18" charset="0"/>
                      </a:rPr>
                      <m:t>−</m:t>
                    </m:r>
                    <m:r>
                      <a:rPr lang="en-US" sz="1600" i="0">
                        <a:latin typeface="Cambria Math" panose="02040503050406030204" pitchFamily="18" charset="0"/>
                      </a:rPr>
                      <m:t>40.0</m:t>
                    </m:r>
                    <m:r>
                      <m:rPr>
                        <m:sty m:val="p"/>
                      </m:rPr>
                      <a:rPr lang="en-US" sz="1600" i="0">
                        <a:latin typeface="Cambria Math" panose="02040503050406030204" pitchFamily="18" charset="0"/>
                      </a:rPr>
                      <m:t>=</m:t>
                    </m:r>
                    <m:r>
                      <a:rPr lang="en-US" sz="1600" i="0">
                        <a:latin typeface="Cambria Math" panose="02040503050406030204" pitchFamily="18" charset="0"/>
                      </a:rPr>
                      <m:t>3.0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L</m:t>
                    </m:r>
                  </m:oMath>
                </a14:m>
              </mc:Choice>
              <mc:Fallback>
                <a:r>
                  <a:rPr lang="zh-CN" sz="1600" dirty="0">
                    <a:latin typeface="Arial"/>
                    <a:ea typeface="Microsoft YaHei"/>
                  </a:rPr>
                  <a:t>= 43.0 - 40.0 = 3.0 mL</a:t>
                </a:r>
              </mc:Fallback>
            </mc:AlternateContent>
            <a:r>
              <a:rPr lang="zh-CN" sz="1600" dirty="0">
                <a:latin typeface="Arial"/>
                <a:ea typeface="Microsoft YaHei"/>
              </a:rPr>
              <a:t>；density </a:t>
            </a:r>
            <mc:AlternateContent xmlns:mc="http://schemas.openxmlformats.org/markup-compatibility/2006">
              <mc:Choice xmlns:a14="http://schemas.microsoft.com/office/drawing/2010/main" Requires="a14">
                <a14:m>
                  <m:oMath xmlns:m="http://schemas.openxmlformats.org/officeDocument/2006/math">
                    <m:r>
                      <m:rPr>
                        <m:sty m:val="p"/>
                      </m:rPr>
                      <a:rPr lang="en-US" sz="1600" i="0">
                        <a:latin typeface="Cambria Math" panose="02040503050406030204" pitchFamily="18" charset="0"/>
                      </a:rPr>
                      <m:t>=</m:t>
                    </m:r>
                    <m:f>
                      <m:fPr>
                        <m:type m:val="bar"/>
                      </m:fPr>
                      <m:num>
                        <m:r>
                          <a:rPr lang="en-US" sz="1600" i="0">
                            <a:latin typeface="Cambria Math" panose="02040503050406030204" pitchFamily="18" charset="0"/>
                          </a:rPr>
                          <m:t>31.5</m:t>
                        </m:r>
                        <m:r>
                          <a:rPr lang="en-US" sz="1600" i="0">
                            <a:latin typeface="Cambria Math" panose="02040503050406030204" pitchFamily="18" charset="0"/>
                          </a:rPr>
                          <m:t> </m:t>
                        </m:r>
                        <m:r>
                          <m:rPr>
                            <m:sty m:val="p"/>
                          </m:rPr>
                          <a:rPr lang="en-US" sz="1600" i="0">
                            <a:latin typeface="Cambria Math" panose="02040503050406030204" pitchFamily="18" charset="0"/>
                          </a:rPr>
                          <m:t>g</m:t>
                        </m:r>
                      </m:num>
                      <m:den>
                        <m:r>
                          <a:rPr lang="en-US" sz="1600" i="0">
                            <a:latin typeface="Cambria Math" panose="02040503050406030204" pitchFamily="18" charset="0"/>
                          </a:rPr>
                          <m:t>3.0</m:t>
                        </m:r>
                        <m:r>
                          <a:rPr lang="en-US" sz="1600" i="0">
                            <a:latin typeface="Cambria Math" panose="02040503050406030204" pitchFamily="18" charset="0"/>
                          </a:rPr>
                          <m:t> </m:t>
                        </m:r>
                        <m:r>
                          <m:rPr>
                            <m:sty m:val="p"/>
                          </m:rPr>
                          <a:rPr lang="en-US" sz="1600" i="0">
                            <a:latin typeface="Cambria Math" panose="02040503050406030204" pitchFamily="18" charset="0"/>
                          </a:rPr>
                          <m:t>m</m:t>
                        </m:r>
                        <m:r>
                          <m:rPr>
                            <m:sty m:val="p"/>
                          </m:rPr>
                          <a:rPr lang="en-US" sz="1600" i="0">
                            <a:latin typeface="Cambria Math" panose="02040503050406030204" pitchFamily="18" charset="0"/>
                          </a:rPr>
                          <m:t>L</m:t>
                        </m:r>
                      </m:den>
                    </m:f>
                    <m:r>
                      <m:rPr>
                        <m:sty m:val="p"/>
                      </m:rPr>
                      <a:rPr lang="en-US" sz="1600" i="0">
                        <a:latin typeface="Cambria Math" panose="02040503050406030204" pitchFamily="18" charset="0"/>
                      </a:rPr>
                      <m:t>=</m:t>
                    </m:r>
                    <m:r>
                      <a:rPr lang="en-US" sz="1600" i="0">
                        <a:latin typeface="Cambria Math" panose="02040503050406030204" pitchFamily="18" charset="0"/>
                      </a:rPr>
                      <m:t>10.5</m:t>
                    </m:r>
                  </m:oMath>
                </a14:m>
              </mc:Choice>
              <mc:Fallback>
                <a:r>
                  <a:rPr lang="zh-CN" sz="1600" dirty="0">
                    <a:latin typeface="Arial"/>
                    <a:ea typeface="Microsoft YaHei"/>
                  </a:rPr>
                  <a:t>= \dfrac31.5 g3.0 mL = 10.5</a:t>
                </a:r>
              </mc:Fallback>
            </mc:AlternateContent>
            <a:r>
              <a:rPr lang="zh-CN" sz="1600" dirty="0">
                <a:latin typeface="Arial"/>
                <a:ea typeface="Microsoft YaHei"/>
              </a:rPr>
              <a:t> g/mL，对表得 silver</a:t>
            </a:r>
            <a:endParaRPr lang="zh-CN" sz="1600"/>
          </a:p>
          <a:p>
            <a:r>
              <a:rPr lang="zh-CN" sz="1600" dirty="0">
                <a:latin typeface="Arial"/>
                <a:ea typeface="Microsoft YaHei"/>
              </a:rPr>
              <a:t>Q3 E 要有对比：booklet p.6 的数据 silver 60、copper 50，差别不大，但 silver 是贵金属</a:t>
            </a:r>
            <a:endParaRPr lang="zh-CN" sz="1600"/>
          </a:p>
          <a:p>
            <a:r>
              <a:rPr lang="zh-CN" sz="1600" dirty="0">
                <a:latin typeface="Arial"/>
                <a:ea typeface="Microsoft YaHei"/>
              </a:rPr>
              <a:t>Watch for:</a:t>
            </a:r>
            <a:endParaRPr lang="zh-CN" sz="1600"/>
          </a:p>
          <a:p>
            <a:r>
              <a:rPr lang="zh-CN" sz="1600" dirty="0">
                <a:latin typeface="Arial"/>
                <a:ea typeface="Microsoft YaHei"/>
              </a:rPr>
              <a:t>Q2 先减读数再除，答案要和表对上才算数</a:t>
            </a:r>
            <a:endParaRPr lang="zh-CN" sz="1600"/>
          </a:p>
          <a:p>
            <a:r>
              <a:rPr lang="zh-CN" sz="1600" dirty="0">
                <a:latin typeface="Arial"/>
                <a:ea typeface="Microsoft YaHei"/>
              </a:rPr>
              <a:t>Script:</a:t>
            </a:r>
            <a:endParaRPr lang="zh-CN" sz="1600"/>
          </a:p>
          <a:p>
            <a:r>
              <a:rPr lang="zh-CN" sz="1600" dirty="0">
                <a:latin typeface="Arial"/>
                <a:ea typeface="Microsoft YaHei"/>
              </a:rPr>
              <a:t>Q1 让她说算式：2.0 × 2.0 × 3.0 = 12.0；64.8 ÷ 12.0 = 5.4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a:t>
            </a:r>
            <a:endParaRPr lang="zh-CN" sz="1600"/>
          </a:p>
          <a:p>
            <a:r>
              <a:rPr lang="zh-CN" sz="1600" dirty="0">
                <a:latin typeface="Arial"/>
                <a:ea typeface="Microsoft YaHei"/>
              </a:rPr>
              <a:t>Q2：43.0 − 40.0 = 3.0；31.5 ÷ 3.0 = 10.5，是 silver。</a:t>
            </a:r>
            <a:endParaRPr lang="zh-CN" sz="1600"/>
          </a:p>
          <a:p>
            <a:r>
              <a:rPr lang="zh-CN" sz="1600" dirty="0">
                <a:latin typeface="Arial"/>
                <a:ea typeface="Microsoft YaHei"/>
              </a:rPr>
              <a:t>Q3 她应答：copper is almost as good a conductor, much cheaper, and ductile。要拿 E 一定要和 silver 对比。</a:t>
            </a:r>
            <a:endParaRPr lang="zh-CN" sz="1600"/>
          </a:p>
          <a:p>
            <a:r>
              <a:rPr lang="zh-CN" sz="1600" dirty="0">
                <a:latin typeface="Arial"/>
                <a:ea typeface="Microsoft YaHei"/>
              </a:rPr>
              <a:t>Say it:</a:t>
            </a:r>
            <a:endParaRPr lang="zh-CN" sz="1600"/>
          </a:p>
          <a:p>
            <a:r>
              <a:rPr lang="zh-CN" sz="1600" dirty="0">
                <a:latin typeface="Arial"/>
                <a:ea typeface="Microsoft YaHei"/>
              </a:rPr>
              <a:t>aluminium = al-yoo-MIN-ee-um</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quenching, B</a:t>
            </a:r>
            <a:endParaRPr lang="zh-CN" sz="1600"/>
          </a:p>
          <a:p>
            <a:r>
              <a:rPr lang="zh-CN" sz="1600" dirty="0">
                <a:latin typeface="Arial"/>
                <a:ea typeface="Microsoft YaHei"/>
              </a:rPr>
              <a:t>2. annealing, A</a:t>
            </a:r>
            <a:endParaRPr lang="zh-CN" sz="1600"/>
          </a:p>
          <a:p>
            <a:r>
              <a:rPr lang="zh-CN" sz="1600" dirty="0">
                <a:latin typeface="Arial"/>
                <a:ea typeface="Microsoft YaHei"/>
              </a:rPr>
              <a:t>3. tempering, C</a:t>
            </a:r>
            <a:endParaRPr lang="zh-CN" sz="1600"/>
          </a:p>
          <a:p>
            <a:r>
              <a:rPr lang="zh-CN" sz="1600" dirty="0">
                <a:latin typeface="Arial"/>
                <a:ea typeface="Microsoft YaHei"/>
              </a:rPr>
              <a:t>4. tempering</a:t>
            </a:r>
            <a:endParaRPr lang="zh-CN" sz="1600"/>
          </a:p>
          <a:p>
            <a:r>
              <a:rPr lang="zh-CN" sz="1600" dirty="0">
                <a:latin typeface="Arial"/>
                <a:ea typeface="Microsoft YaHei"/>
              </a:rPr>
              <a:t>Short solution:</a:t>
            </a:r>
            <a:endParaRPr lang="zh-CN" sz="1600"/>
          </a:p>
          <a:p>
            <a:r>
              <a:rPr lang="zh-CN" sz="1600" dirty="0">
                <a:latin typeface="Arial"/>
                <a:ea typeface="Microsoft YaHei"/>
              </a:rPr>
              <a:t>4. hair clip 要 springy，所以是 tempering</a:t>
            </a:r>
            <a:endParaRPr lang="zh-CN" sz="1600"/>
          </a:p>
          <a:p>
            <a:r>
              <a:rPr lang="zh-CN" sz="1600" dirty="0">
                <a:latin typeface="Arial"/>
                <a:ea typeface="Microsoft YaHei"/>
              </a:rPr>
              <a:t>Watch for:</a:t>
            </a:r>
            <a:endParaRPr lang="zh-CN" sz="1600"/>
          </a:p>
          <a:p>
            <a:r>
              <a:rPr lang="zh-CN" sz="1600" dirty="0">
                <a:latin typeface="Arial"/>
                <a:ea typeface="Microsoft YaHei"/>
              </a:rPr>
              <a:t>4. 她 booklet p.8 第 2 题写 “Annealing because it modified easily”，这是错的：annealing 让钢变软，夹子会弯了回不去</a:t>
            </a:r>
            <a:endParaRPr lang="zh-CN" sz="1600"/>
          </a:p>
          <a:p>
            <a:r>
              <a:rPr lang="zh-CN" sz="1600" dirty="0">
                <a:latin typeface="Arial"/>
                <a:ea typeface="Microsoft YaHei"/>
              </a:rPr>
              <a:t>Script:</a:t>
            </a:r>
            <a:endParaRPr lang="zh-CN" sz="1600"/>
          </a:p>
          <a:p>
            <a:r>
              <a:rPr lang="zh-CN" sz="1600" dirty="0">
                <a:latin typeface="Arial"/>
                <a:ea typeface="Microsoft YaHei"/>
              </a:rPr>
              <a:t>说：“三种热处理，名字加结果。”</a:t>
            </a:r>
            <a:endParaRPr lang="zh-CN" sz="1600"/>
          </a:p>
          <a:p>
            <a:r>
              <a:rPr lang="zh-CN" sz="1600" dirty="0">
                <a:latin typeface="Arial"/>
                <a:ea typeface="Microsoft YaHei"/>
              </a:rPr>
              <a:t>她应答：1 quenching, B；2 annealing, A；3 tempering, C。</a:t>
            </a:r>
            <a:endParaRPr lang="zh-CN" sz="1600"/>
          </a:p>
          <a:p>
            <a:r>
              <a:rPr lang="zh-CN" sz="1600" dirty="0">
                <a:latin typeface="Arial"/>
                <a:ea typeface="Microsoft YaHei"/>
              </a:rPr>
              <a:t>问第 4 题：答 tempering，因为要 springy (有弹性)。说：“你 booklet 写的是 annealing，那样夹子会软掉弹不回来。”</a:t>
            </a:r>
            <a:endParaRPr lang="zh-CN" sz="1600"/>
          </a:p>
          <a:p>
            <a:r>
              <a:rPr lang="zh-CN" sz="1600" dirty="0">
                <a:latin typeface="Arial"/>
                <a:ea typeface="Microsoft YaHei"/>
              </a:rPr>
              <a:t>Say it:</a:t>
            </a:r>
            <a:endParaRPr lang="zh-CN" sz="1600"/>
          </a:p>
          <a:p>
            <a:r>
              <a:rPr lang="zh-CN" sz="1600" dirty="0">
                <a:latin typeface="Arial"/>
                <a:ea typeface="Microsoft YaHei"/>
              </a:rPr>
              <a:t>tempering = TEM-per-ing</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1:07–1:08。</a:t>
            </a:r>
            <a:endParaRPr lang="zh-CN" sz="1600"/>
          </a:p>
          <a:p>
            <a:r>
              <a:rPr lang="zh-CN" sz="1600" dirty="0">
                <a:latin typeface="Arial"/>
                <a:ea typeface="Microsoft YaHei"/>
              </a:rPr>
              <a:t>答案：the layers slide over each other easily，所以 pure metal 是 soft 的，也因此 malleable 和 ductile。</a:t>
            </a:r>
            <a:endParaRPr lang="zh-CN" sz="1600"/>
          </a:p>
          <a:p>
            <a:r>
              <a:rPr lang="zh-CN" sz="1600" dirty="0">
                <a:latin typeface="Arial"/>
                <a:ea typeface="Microsoft YaHei"/>
              </a:rPr>
              <a:t>booklet p.9：pure iron is too soft for many uses。</a:t>
            </a:r>
            <a:endParaRPr lang="zh-CN" sz="1600"/>
          </a:p>
          <a:p>
            <a:r>
              <a:rPr lang="zh-CN" sz="1600" dirty="0">
                <a:latin typeface="Arial"/>
                <a:ea typeface="Microsoft YaHei"/>
              </a:rPr>
              <a:t>Script:</a:t>
            </a:r>
            <a:endParaRPr lang="zh-CN" sz="1600"/>
          </a:p>
          <a:p>
            <a:r>
              <a:rPr lang="zh-CN" sz="1600" dirty="0">
                <a:latin typeface="Arial"/>
                <a:ea typeface="Microsoft YaHei"/>
              </a:rPr>
              <a:t>说：“这是纯金属的原子，全部一样大，排成一层一层。”</a:t>
            </a:r>
            <a:endParaRPr lang="zh-CN" sz="1600"/>
          </a:p>
          <a:p>
            <a:r>
              <a:rPr lang="zh-CN" sz="1600" dirty="0">
                <a:latin typeface="Arial"/>
                <a:ea typeface="Microsoft YaHei"/>
              </a:rPr>
              <a:t>问：“What happened when the layers were pushed?” 她应答：the layers slid over each other。</a:t>
            </a:r>
            <a:endParaRPr lang="zh-CN" sz="1600"/>
          </a:p>
          <a:p>
            <a:r>
              <a:rPr lang="zh-CN" sz="1600" dirty="0">
                <a:latin typeface="Arial"/>
                <a:ea typeface="Microsoft YaHei"/>
              </a:rPr>
              <a:t>问：“So is a pure metal hard or soft?” 答 soft。</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1:08–1:09。</a:t>
            </a:r>
            <a:endParaRPr lang="zh-CN" sz="1600"/>
          </a:p>
          <a:p>
            <a:r>
              <a:rPr lang="zh-CN" sz="1600" dirty="0">
                <a:latin typeface="Arial"/>
                <a:ea typeface="Microsoft YaHei"/>
              </a:rPr>
              <a:t>空格：different / disrupts / slide over each other / harder。</a:t>
            </a:r>
            <a:endParaRPr lang="zh-CN" sz="1600"/>
          </a:p>
          <a:p>
            <a:r>
              <a:rPr lang="zh-CN" sz="1600" dirty="0">
                <a:latin typeface="Arial"/>
                <a:ea typeface="Microsoft YaHei"/>
              </a:rPr>
              <a:t>L13：只写 “because it is a mixture” 不给分，必须写 atoms of different sizes 和 layers can't slide。</a:t>
            </a:r>
            <a:endParaRPr lang="zh-CN" sz="1600"/>
          </a:p>
          <a:p>
            <a:r>
              <a:rPr lang="zh-CN" sz="1600" dirty="0">
                <a:latin typeface="Arial"/>
                <a:ea typeface="Microsoft YaHei"/>
              </a:rPr>
              <a:t>Script:</a:t>
            </a:r>
            <a:endParaRPr lang="zh-CN" sz="1600"/>
          </a:p>
          <a:p>
            <a:r>
              <a:rPr lang="zh-CN" sz="1600" dirty="0">
                <a:latin typeface="Arial"/>
                <a:ea typeface="Microsoft YaHei"/>
              </a:rPr>
              <a:t>说：“现在加进一些大原子，看层还能不能滑。”</a:t>
            </a:r>
            <a:endParaRPr lang="zh-CN" sz="1600"/>
          </a:p>
          <a:p>
            <a:r>
              <a:rPr lang="zh-CN" sz="1600" dirty="0">
                <a:latin typeface="Arial"/>
                <a:ea typeface="Microsoft YaHei"/>
              </a:rPr>
              <a:t>她应答：the atoms are different sizes；this disrupts the layers；the layers cannot slide easily；so the alloy is harder。</a:t>
            </a:r>
            <a:endParaRPr lang="zh-CN" sz="1600"/>
          </a:p>
          <a:p>
            <a:r>
              <a:rPr lang="zh-CN" sz="1600" dirty="0">
                <a:latin typeface="Arial"/>
                <a:ea typeface="Microsoft YaHei"/>
              </a:rPr>
              <a:t>说：“考试四句都要写，这是 Excellence 的写法。”</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1:09–1:10。</a:t>
            </a:r>
            <a:endParaRPr lang="zh-CN" sz="1600"/>
          </a:p>
          <a:p>
            <a:r>
              <a:rPr lang="zh-CN" sz="1600" dirty="0">
                <a:latin typeface="Arial"/>
                <a:ea typeface="Microsoft YaHei"/>
              </a:rPr>
              <a:t>空格：tin / joining electrical wires / cutlery and sinks (resists corrosion) / teeth braces and spectacle frames (shape memory)。</a:t>
            </a:r>
            <a:endParaRPr lang="zh-CN" sz="1600"/>
          </a:p>
          <a:p>
            <a:r>
              <a:rPr lang="zh-CN" sz="1600" dirty="0">
                <a:latin typeface="Arial"/>
                <a:ea typeface="Microsoft YaHei"/>
              </a:rPr>
              <a:t>solder：melting point 低，容易熔化，冷却后在常温下是 solid。</a:t>
            </a:r>
            <a:endParaRPr lang="zh-CN" sz="1600"/>
          </a:p>
          <a:p>
            <a:r>
              <a:rPr lang="zh-CN" sz="1600" dirty="0">
                <a:latin typeface="Arial"/>
                <a:ea typeface="Microsoft YaHei"/>
              </a:rPr>
              <a:t>alloy 是 mixture：比例可以变，每种成分保留自己的 chemical identity；compound 是固定比例、化学结合。</a:t>
            </a:r>
            <a:endParaRPr lang="zh-CN" sz="1600"/>
          </a:p>
          <a:p>
            <a:r>
              <a:rPr lang="zh-CN" sz="1600" dirty="0">
                <a:latin typeface="Arial"/>
                <a:ea typeface="Microsoft YaHei"/>
              </a:rPr>
              <a:t>nitinol 是 smart alloy (shape memory alloy)：弯了以后加热或通电会回到原来的形状。</a:t>
            </a:r>
            <a:endParaRPr lang="zh-CN" sz="1600"/>
          </a:p>
          <a:p>
            <a:r>
              <a:rPr lang="zh-CN" sz="1600" dirty="0">
                <a:latin typeface="Arial"/>
                <a:ea typeface="Microsoft YaHei"/>
              </a:rPr>
              <a:t>Script:</a:t>
            </a:r>
            <a:endParaRPr lang="zh-CN" sz="1600"/>
          </a:p>
          <a:p>
            <a:r>
              <a:rPr lang="zh-CN" sz="1600" dirty="0">
                <a:latin typeface="Arial"/>
                <a:ea typeface="Microsoft YaHei"/>
              </a:rPr>
              <a:t>说：“填一下表里的空。”</a:t>
            </a:r>
            <a:endParaRPr lang="zh-CN" sz="1600"/>
          </a:p>
          <a:p>
            <a:r>
              <a:rPr lang="zh-CN" sz="1600" dirty="0">
                <a:latin typeface="Arial"/>
                <a:ea typeface="Microsoft YaHei"/>
              </a:rPr>
              <a:t>她应答：tin；joining electrical wires；cutlery and sinks；teeth braces and glasses frames。</a:t>
            </a:r>
            <a:endParaRPr lang="zh-CN" sz="1600"/>
          </a:p>
          <a:p>
            <a:r>
              <a:rPr lang="zh-CN" sz="1600" dirty="0">
                <a:latin typeface="Arial"/>
                <a:ea typeface="Microsoft YaHei"/>
              </a:rPr>
              <a:t>问：“Why is solder good for joining wires?” 答 low melting point。问：“Compound or mixture?” 答 mixture。</a:t>
            </a:r>
            <a:endParaRPr lang="zh-CN" sz="1600"/>
          </a:p>
          <a:p>
            <a:r>
              <a:rPr lang="zh-CN" sz="1600" dirty="0">
                <a:latin typeface="Arial"/>
                <a:ea typeface="Microsoft YaHei"/>
              </a:rPr>
              <a:t>Say it:</a:t>
            </a:r>
            <a:endParaRPr lang="zh-CN" sz="1600"/>
          </a:p>
          <a:p>
            <a:r>
              <a:rPr lang="zh-CN" sz="1600" dirty="0">
                <a:latin typeface="Arial"/>
                <a:ea typeface="Microsoft YaHei"/>
              </a:rPr>
              <a:t>chromium = KROH-mee-um</a:t>
            </a:r>
            <a:endParaRPr lang="zh-CN" sz="1600"/>
          </a:p>
          <a:p>
            <a:r>
              <a:rPr lang="zh-CN" sz="1600" dirty="0">
                <a:latin typeface="Arial"/>
                <a:ea typeface="Microsoft YaHei"/>
              </a:rPr>
              <a:t>nitinol = NIT-ih-nol</a:t>
            </a:r>
            <a:endParaRPr lang="zh-CN" sz="1600"/>
          </a:p>
          <a:p>
            <a:r>
              <a:rPr lang="zh-CN" sz="1600" dirty="0">
                <a:latin typeface="Arial"/>
                <a:ea typeface="Microsoft YaHei"/>
              </a:rPr>
              <a:t>titanium = ty-TAY-nee-um</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1:10–1:11。</a:t>
            </a:r>
            <a:endParaRPr lang="zh-CN" sz="1600"/>
          </a:p>
          <a:p>
            <a:r>
              <a:rPr lang="zh-CN" sz="1600" dirty="0">
                <a:latin typeface="Arial"/>
                <a:ea typeface="Microsoft YaHei"/>
              </a:rPr>
              <a:t>1. pure X (100 %) 262 ° C；pure Y (0 % X) 330 ° C</a:t>
            </a:r>
            <a:endParaRPr lang="zh-CN" sz="1600"/>
          </a:p>
          <a:p>
            <a:r>
              <a:rPr lang="zh-CN" sz="1600" dirty="0">
                <a:latin typeface="Arial"/>
                <a:ea typeface="Microsoft YaHei"/>
              </a:rPr>
              <a:t>2. 70 % X，about 190 ° C</a:t>
            </a:r>
            <a:endParaRPr lang="zh-CN" sz="1600"/>
          </a:p>
          <a:p>
            <a:r>
              <a:rPr lang="zh-CN" sz="1600" dirty="0">
                <a:latin typeface="Arial"/>
                <a:ea typeface="Microsoft YaHei"/>
              </a:rPr>
              <a:t>3. the melting point falls steadily as the percentage of X increases</a:t>
            </a:r>
            <a:endParaRPr lang="zh-CN" sz="1600"/>
          </a:p>
          <a:p>
            <a:r>
              <a:rPr lang="zh-CN" sz="1600" dirty="0">
                <a:latin typeface="Arial"/>
                <a:ea typeface="Microsoft YaHei"/>
              </a:rPr>
              <a:t>提醒 booklet 的 “A SLurP of Tea”：Axes, Scale, Label, Plot, Title。她 p.10 的 solder 图还没画，留在作业里。</a:t>
            </a:r>
            <a:endParaRPr lang="zh-CN" sz="1600"/>
          </a:p>
          <a:p>
            <a:r>
              <a:rPr lang="zh-CN" sz="1600" dirty="0">
                <a:latin typeface="Arial"/>
                <a:ea typeface="Microsoft YaHei"/>
              </a:rPr>
              <a:t>结论 (和 booklet p.11 Q1 同一个思路) ：alloy 的 melting point 可以比两种纯金属都低。</a:t>
            </a:r>
            <a:endParaRPr lang="zh-CN" sz="1600"/>
          </a:p>
          <a:p>
            <a:r>
              <a:rPr lang="zh-CN" sz="1600" dirty="0">
                <a:latin typeface="Arial"/>
                <a:ea typeface="Microsoft YaHei"/>
              </a:rPr>
              <a:t>Script:</a:t>
            </a:r>
            <a:endParaRPr lang="zh-CN" sz="1600"/>
          </a:p>
          <a:p>
            <a:r>
              <a:rPr lang="zh-CN" sz="1600" dirty="0">
                <a:latin typeface="Arial"/>
                <a:ea typeface="Microsoft YaHei"/>
              </a:rPr>
              <a:t>说：“读图题，先看坐标轴。”</a:t>
            </a:r>
            <a:endParaRPr lang="zh-CN" sz="1600"/>
          </a:p>
          <a:p>
            <a:r>
              <a:rPr lang="zh-CN" sz="1600" dirty="0">
                <a:latin typeface="Arial"/>
                <a:ea typeface="Microsoft YaHei"/>
              </a:rPr>
              <a:t>她应答：pure X 262 °C, pure Y 330 °C；lowest at 70% X, about 190 °C；the melting point falls as the percentage of X increases。</a:t>
            </a:r>
            <a:endParaRPr lang="zh-CN" sz="1600"/>
          </a:p>
          <a:p>
            <a:r>
              <a:rPr lang="zh-CN" sz="1600" dirty="0">
                <a:latin typeface="Arial"/>
                <a:ea typeface="Microsoft YaHei"/>
              </a:rPr>
              <a:t>说：“读数时要带单位 °C。”</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quenching</a:t>
            </a:r>
            <a:endParaRPr lang="zh-CN" sz="1600"/>
          </a:p>
          <a:p>
            <a:r>
              <a:rPr lang="zh-CN" sz="1600" dirty="0">
                <a:latin typeface="Arial"/>
                <a:ea typeface="Microsoft YaHei"/>
              </a:rPr>
              <a:t>Q2 zinc atoms are a different size from copper atoms; they disrupt the regular layers, so the layers cannot slide over each other easily</a:t>
            </a:r>
            <a:endParaRPr lang="zh-CN" sz="1600"/>
          </a:p>
          <a:p>
            <a:r>
              <a:rPr lang="zh-CN" sz="1600" dirty="0">
                <a:latin typeface="Arial"/>
                <a:ea typeface="Microsoft YaHei"/>
              </a:rPr>
              <a:t>Q3 spring: tempering, so it is tough and springy and returns to shape; door panel: annealing, so it is soft and easy to press into shape</a:t>
            </a:r>
            <a:endParaRPr lang="zh-CN" sz="1600"/>
          </a:p>
          <a:p>
            <a:r>
              <a:rPr lang="zh-CN" sz="1600" dirty="0">
                <a:latin typeface="Arial"/>
                <a:ea typeface="Microsoft YaHei"/>
              </a:rPr>
              <a:t>Short solution:</a:t>
            </a:r>
            <a:endParaRPr lang="zh-CN" sz="1600"/>
          </a:p>
          <a:p>
            <a:r>
              <a:rPr lang="zh-CN" sz="1600" dirty="0">
                <a:latin typeface="Arial"/>
                <a:ea typeface="Microsoft YaHei"/>
              </a:rPr>
              <a:t>Q3 每一个都要 “treatment + 得到的 property + 为什么这个用途需要它”</a:t>
            </a:r>
            <a:endParaRPr lang="zh-CN" sz="1600"/>
          </a:p>
          <a:p>
            <a:r>
              <a:rPr lang="zh-CN" sz="1600" dirty="0">
                <a:latin typeface="Arial"/>
                <a:ea typeface="Microsoft YaHei"/>
              </a:rPr>
              <a:t>Watch for:</a:t>
            </a:r>
            <a:endParaRPr lang="zh-CN" sz="1600"/>
          </a:p>
          <a:p>
            <a:r>
              <a:rPr lang="zh-CN" sz="1600" dirty="0">
                <a:latin typeface="Arial"/>
                <a:ea typeface="Microsoft YaHei"/>
              </a:rPr>
              <a:t>Q2 只写 “alloys are harder” 是复述题目，0 分</a:t>
            </a:r>
            <a:endParaRPr lang="zh-CN" sz="1600"/>
          </a:p>
          <a:p>
            <a:r>
              <a:rPr lang="zh-CN" sz="1600" dirty="0">
                <a:latin typeface="Arial"/>
                <a:ea typeface="Microsoft YaHei"/>
              </a:rPr>
              <a:t>Q3 门板写 quenching 是错的：太 brittle，一撞就裂</a:t>
            </a:r>
            <a:endParaRPr lang="zh-CN" sz="1600"/>
          </a:p>
          <a:p>
            <a:r>
              <a:rPr lang="zh-CN" sz="1600" dirty="0">
                <a:latin typeface="Arial"/>
                <a:ea typeface="Microsoft YaHei"/>
              </a:rPr>
              <a:t>Script:</a:t>
            </a:r>
            <a:endParaRPr lang="zh-CN" sz="1600"/>
          </a:p>
          <a:p>
            <a:r>
              <a:rPr lang="zh-CN" sz="1600" dirty="0">
                <a:latin typeface="Arial"/>
                <a:ea typeface="Microsoft YaHei"/>
              </a:rPr>
              <a:t>Q1 她应答：quenching。</a:t>
            </a:r>
            <a:endParaRPr lang="zh-CN" sz="1600"/>
          </a:p>
          <a:p>
            <a:r>
              <a:rPr lang="zh-CN" sz="1600" dirty="0">
                <a:latin typeface="Arial"/>
                <a:ea typeface="Microsoft YaHei"/>
              </a:rPr>
              <a:t>Q2 她应答：zinc atoms are a different size, they disrupt the layers, so the layers cannot slide easily。</a:t>
            </a:r>
            <a:endParaRPr lang="zh-CN" sz="1600"/>
          </a:p>
          <a:p>
            <a:r>
              <a:rPr lang="zh-CN" sz="1600" dirty="0">
                <a:latin typeface="Arial"/>
                <a:ea typeface="Microsoft YaHei"/>
              </a:rPr>
              <a:t>Q3 她应答：spring needs tempering so it is springy；door panel needs annealing so it is soft and easy to shape。</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true</a:t>
            </a:r>
            <a:endParaRPr lang="zh-CN" sz="1600"/>
          </a:p>
          <a:p>
            <a:r>
              <a:rPr lang="zh-CN" sz="1600" dirty="0">
                <a:latin typeface="Arial"/>
                <a:ea typeface="Microsoft YaHei"/>
              </a:rPr>
              <a:t>2. false</a:t>
            </a:r>
            <a:endParaRPr lang="zh-CN" sz="1600"/>
          </a:p>
          <a:p>
            <a:r>
              <a:rPr lang="zh-CN" sz="1600" dirty="0">
                <a:latin typeface="Arial"/>
                <a:ea typeface="Microsoft YaHei"/>
              </a:rPr>
              <a:t>3. true</a:t>
            </a:r>
            <a:endParaRPr lang="zh-CN" sz="1600"/>
          </a:p>
          <a:p>
            <a:r>
              <a:rPr lang="zh-CN" sz="1600" dirty="0">
                <a:latin typeface="Arial"/>
                <a:ea typeface="Microsoft YaHei"/>
              </a:rPr>
              <a:t>4. false</a:t>
            </a:r>
            <a:endParaRPr lang="zh-CN" sz="1600"/>
          </a:p>
          <a:p>
            <a:r>
              <a:rPr lang="zh-CN" sz="1600" dirty="0">
                <a:latin typeface="Arial"/>
                <a:ea typeface="Microsoft YaHei"/>
              </a:rPr>
              <a:t>5. true</a:t>
            </a:r>
            <a:endParaRPr lang="zh-CN" sz="1600"/>
          </a:p>
          <a:p>
            <a:r>
              <a:rPr lang="zh-CN" sz="1600" dirty="0">
                <a:latin typeface="Arial"/>
                <a:ea typeface="Microsoft YaHei"/>
              </a:rPr>
              <a:t>Short solution:</a:t>
            </a:r>
            <a:endParaRPr lang="zh-CN" sz="1600"/>
          </a:p>
          <a:p>
            <a:r>
              <a:rPr lang="zh-CN" sz="1600" dirty="0">
                <a:latin typeface="Arial"/>
                <a:ea typeface="Microsoft YaHei"/>
              </a:rPr>
              <a:t>2. 只有 iron (和 steel) 会 rust；其他金属是 corrode</a:t>
            </a:r>
            <a:endParaRPr lang="zh-CN" sz="1600"/>
          </a:p>
          <a:p>
            <a:r>
              <a:rPr lang="zh-CN" sz="1600" dirty="0">
                <a:latin typeface="Arial"/>
                <a:ea typeface="Microsoft YaHei"/>
              </a:rPr>
              <a:t>3. booklet p.13：salt solution 和 higher temperature 都会加快 rusting</a:t>
            </a:r>
            <a:endParaRPr lang="zh-CN" sz="1600"/>
          </a:p>
          <a:p>
            <a:r>
              <a:rPr lang="zh-CN" sz="1600" dirty="0">
                <a:latin typeface="Arial"/>
                <a:ea typeface="Microsoft YaHei"/>
              </a:rPr>
              <a:t>Watch for:</a:t>
            </a:r>
            <a:endParaRPr lang="zh-CN" sz="1600"/>
          </a:p>
          <a:p>
            <a:r>
              <a:rPr lang="zh-CN" sz="1600" dirty="0">
                <a:latin typeface="Arial"/>
                <a:ea typeface="Microsoft YaHei"/>
              </a:rPr>
              <a:t>LO 要求 “distinguish between corrosion and rusting”：rusting 是 corrosion 的一种，只用于 iron</a:t>
            </a:r>
            <a:endParaRPr lang="zh-CN" sz="1600"/>
          </a:p>
          <a:p>
            <a:r>
              <a:rPr lang="zh-CN" sz="1600" dirty="0">
                <a:latin typeface="Arial"/>
                <a:ea typeface="Microsoft YaHei"/>
              </a:rPr>
              <a:t>Script:</a:t>
            </a:r>
            <a:endParaRPr lang="zh-CN" sz="1600"/>
          </a:p>
          <a:p>
            <a:r>
              <a:rPr lang="zh-CN" sz="1600" dirty="0">
                <a:latin typeface="Arial"/>
                <a:ea typeface="Microsoft YaHei"/>
              </a:rPr>
              <a:t>说：“对还是错，用 true 或 false 回答。”</a:t>
            </a:r>
            <a:endParaRPr lang="zh-CN" sz="1600"/>
          </a:p>
          <a:p>
            <a:r>
              <a:rPr lang="zh-CN" sz="1600" dirty="0">
                <a:latin typeface="Arial"/>
                <a:ea typeface="Microsoft YaHei"/>
              </a:rPr>
              <a:t>她应答：true, false, true, false, true。</a:t>
            </a:r>
            <a:endParaRPr lang="zh-CN" sz="1600"/>
          </a:p>
          <a:p>
            <a:r>
              <a:rPr lang="zh-CN" sz="1600" dirty="0">
                <a:latin typeface="Arial"/>
                <a:ea typeface="Microsoft YaHei"/>
              </a:rPr>
              <a:t>问第 2 题为什么错：只有 iron 和 steel 会 rust，其他金属是 corrode。</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1:12–1:14。</a:t>
            </a:r>
            <a:endParaRPr lang="zh-CN" sz="1600"/>
          </a:p>
          <a:p>
            <a:r>
              <a:rPr lang="zh-CN" sz="1600" dirty="0">
                <a:latin typeface="Arial"/>
                <a:ea typeface="Microsoft YaHei"/>
              </a:rPr>
              <a:t>A：water (moisture) from the air，所以 A 是 dry air</a:t>
            </a:r>
            <a:endParaRPr lang="zh-CN" sz="1600"/>
          </a:p>
          <a:p>
            <a:r>
              <a:rPr lang="zh-CN" sz="1600" dirty="0">
                <a:latin typeface="Arial"/>
                <a:ea typeface="Microsoft YaHei"/>
              </a:rPr>
              <a:t>B：dissolved oxygen (air)；air from dissolving back into the water</a:t>
            </a:r>
            <a:endParaRPr lang="zh-CN" sz="1600"/>
          </a:p>
          <a:p>
            <a:r>
              <a:rPr lang="zh-CN" sz="1600" dirty="0">
                <a:latin typeface="Arial"/>
                <a:ea typeface="Microsoft YaHei"/>
              </a:rPr>
              <a:t>C：water and oxygen (air)</a:t>
            </a:r>
            <a:endParaRPr lang="zh-CN" sz="1600"/>
          </a:p>
          <a:p>
            <a:r>
              <a:rPr lang="zh-CN" sz="1600" dirty="0">
                <a:latin typeface="Arial"/>
                <a:ea typeface="Microsoft YaHei"/>
              </a:rPr>
              <a:t>这个设计和 Lesson 1 Practice Q3 的种子实验一样：boiled water + oil = 没有 oxygen。</a:t>
            </a:r>
            <a:endParaRPr lang="zh-CN" sz="1600"/>
          </a:p>
          <a:p>
            <a:r>
              <a:rPr lang="zh-CN" sz="1600" dirty="0">
                <a:latin typeface="Arial"/>
                <a:ea typeface="Microsoft YaHei"/>
              </a:rPr>
              <a:t>Script:</a:t>
            </a:r>
            <a:endParaRPr lang="zh-CN" sz="1600"/>
          </a:p>
          <a:p>
            <a:r>
              <a:rPr lang="zh-CN" sz="1600" dirty="0">
                <a:latin typeface="Arial"/>
                <a:ea typeface="Microsoft YaHei"/>
              </a:rPr>
              <a:t>说：“三支试管，我们先搞清楚每支试管缺什么。”</a:t>
            </a:r>
            <a:endParaRPr lang="zh-CN" sz="1600"/>
          </a:p>
          <a:p>
            <a:r>
              <a:rPr lang="zh-CN" sz="1600" dirty="0">
                <a:latin typeface="Arial"/>
                <a:ea typeface="Microsoft YaHei"/>
              </a:rPr>
              <a:t>她应答：A calcium chloride removes water；B boiling removes oxygen, the oil stops air getting back in；C has both water and oxygen。</a:t>
            </a:r>
            <a:endParaRPr lang="zh-CN" sz="1600"/>
          </a:p>
          <a:p>
            <a:r>
              <a:rPr lang="zh-CN" sz="1600" dirty="0">
                <a:latin typeface="Arial"/>
                <a:ea typeface="Microsoft YaHei"/>
              </a:rPr>
              <a:t>说：“B 的设计和第一课种子题 D 管一模一样。”</a:t>
            </a:r>
            <a:endParaRPr lang="zh-CN" sz="1600"/>
          </a:p>
          <a:p>
            <a:r>
              <a:rPr lang="zh-CN" sz="1600" dirty="0">
                <a:latin typeface="Arial"/>
                <a:ea typeface="Microsoft YaHei"/>
              </a:rPr>
              <a:t>Say it:</a:t>
            </a:r>
            <a:endParaRPr lang="zh-CN" sz="1600"/>
          </a:p>
          <a:p>
            <a:r>
              <a:rPr lang="zh-CN" sz="1600" dirty="0">
                <a:latin typeface="Arial"/>
                <a:ea typeface="Microsoft YaHei"/>
              </a:rPr>
              <a:t>calcium = KAL-see-um</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1:14–1:15。</a:t>
            </a:r>
            <a:endParaRPr lang="zh-CN" sz="1600"/>
          </a:p>
          <a:p>
            <a:r>
              <a:rPr lang="zh-CN" sz="1600" dirty="0">
                <a:latin typeface="Arial"/>
                <a:ea typeface="Microsoft YaHei"/>
              </a:rPr>
              <a:t>结果：A no rust；B no rust；C rust。</a:t>
            </a:r>
            <a:endParaRPr lang="zh-CN" sz="1600"/>
          </a:p>
          <a:p>
            <a:r>
              <a:rPr lang="zh-CN" sz="1600" dirty="0">
                <a:latin typeface="Arial"/>
                <a:ea typeface="Microsoft YaHei"/>
              </a:rPr>
              <a:t>空格：C / water / oxygen / both water and oxygen。</a:t>
            </a:r>
            <a:endParaRPr lang="zh-CN" sz="1600"/>
          </a:p>
          <a:p>
            <a:r>
              <a:rPr lang="zh-CN" sz="1600" dirty="0">
                <a:latin typeface="Arial"/>
                <a:ea typeface="Microsoft YaHei"/>
              </a:rPr>
              <a:t>她 booklet p.17 的结果写 B “slight rusting, barely can see”，是错的。B 没有 oxygen，不应该生锈；如果真的有一点，说明 boiled water 又溶进了空气 (L14)。</a:t>
            </a:r>
            <a:endParaRPr lang="zh-CN" sz="1600"/>
          </a:p>
          <a:p>
            <a:r>
              <a:rPr lang="zh-CN" sz="1600" dirty="0">
                <a:latin typeface="Arial"/>
                <a:ea typeface="Microsoft YaHei"/>
              </a:rPr>
              <a:t>Script:</a:t>
            </a:r>
            <a:endParaRPr lang="zh-CN" sz="1600"/>
          </a:p>
          <a:p>
            <a:r>
              <a:rPr lang="zh-CN" sz="1600" dirty="0">
                <a:latin typeface="Arial"/>
                <a:ea typeface="Microsoft YaHei"/>
              </a:rPr>
              <a:t>说：“结果和结论，按四步说。”</a:t>
            </a:r>
            <a:endParaRPr lang="zh-CN" sz="1600"/>
          </a:p>
          <a:p>
            <a:r>
              <a:rPr lang="zh-CN" sz="1600" dirty="0">
                <a:latin typeface="Arial"/>
                <a:ea typeface="Microsoft YaHei"/>
              </a:rPr>
              <a:t>她应答：A no rust, B no rust, C rust；only C rusted；A had no water；B had no oxygen；so iron needs both water and oxygen to rust。</a:t>
            </a:r>
            <a:endParaRPr lang="zh-CN" sz="1600"/>
          </a:p>
          <a:p>
            <a:r>
              <a:rPr lang="zh-CN" sz="1600" dirty="0">
                <a:latin typeface="Arial"/>
                <a:ea typeface="Microsoft YaHei"/>
              </a:rPr>
              <a:t>说：“你 booklet 上 B 写了 slight rusting，B 没有氧气，不应该生锈。”</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P has air; it does not rust because it has no water (L14)</a:t>
            </a:r>
            <a:endParaRPr lang="zh-CN" sz="1600"/>
          </a:p>
          <a:p>
            <a:r>
              <a:rPr lang="zh-CN" sz="1600" dirty="0">
                <a:latin typeface="Arial"/>
                <a:ea typeface="Microsoft YaHei"/>
              </a:rPr>
              <a:t>2. Q does not rust: boiled water has no oxygen and the oil keeps air out (L14)</a:t>
            </a:r>
            <a:endParaRPr lang="zh-CN" sz="1600"/>
          </a:p>
          <a:p>
            <a:r>
              <a:rPr lang="zh-CN" sz="1600" dirty="0">
                <a:latin typeface="Arial"/>
                <a:ea typeface="Microsoft YaHei"/>
              </a:rPr>
              <a:t>3. iron needs both water and oxygen to rust (L14)</a:t>
            </a:r>
            <a:endParaRPr lang="zh-CN" sz="1600"/>
          </a:p>
          <a:p>
            <a:r>
              <a:rPr lang="zh-CN" sz="1600" dirty="0">
                <a:latin typeface="Arial"/>
                <a:ea typeface="Microsoft YaHei"/>
              </a:rPr>
              <a:t>Short solution:</a:t>
            </a:r>
            <a:endParaRPr lang="zh-CN" sz="1600"/>
          </a:p>
          <a:p>
            <a:r>
              <a:rPr lang="zh-CN" sz="1600" dirty="0">
                <a:latin typeface="Arial"/>
                <a:ea typeface="Microsoft YaHei"/>
              </a:rPr>
              <a:t>P: no rust, because the calcium chloride removes the water. Q: no rust, because boiling removes the oxygen and the oil keeps air out. R: lots of rust, because it has water and oxygen. So iron needs both water and oxygen to rust.</a:t>
            </a:r>
            <a:endParaRPr lang="zh-CN" sz="1600"/>
          </a:p>
          <a:p>
            <a:r>
              <a:rPr lang="zh-CN" sz="1600" dirty="0">
                <a:latin typeface="Arial"/>
                <a:ea typeface="Microsoft YaHei"/>
              </a:rPr>
              <a:t>Watch for:</a:t>
            </a:r>
            <a:endParaRPr lang="zh-CN" sz="1600"/>
          </a:p>
          <a:p>
            <a:r>
              <a:rPr lang="zh-CN" sz="1600" dirty="0">
                <a:latin typeface="Arial"/>
                <a:ea typeface="Microsoft YaHei"/>
              </a:rPr>
              <a:t>R 那一句是对的。steel 也会 rust，因为 steel 主要是 iron。</a:t>
            </a:r>
            <a:endParaRPr lang="zh-CN" sz="1600"/>
          </a:p>
          <a:p>
            <a:r>
              <a:rPr lang="zh-CN" sz="1600" dirty="0">
                <a:latin typeface="Arial"/>
                <a:ea typeface="Microsoft YaHei"/>
              </a:rPr>
              <a:t>Script:</a:t>
            </a:r>
            <a:endParaRPr lang="zh-CN" sz="1600"/>
          </a:p>
          <a:p>
            <a:r>
              <a:rPr lang="zh-CN" sz="1600" dirty="0">
                <a:latin typeface="Arial"/>
                <a:ea typeface="Microsoft YaHei"/>
              </a:rPr>
              <a:t>说：“Sam 写的生锈实验，3 个错误。”</a:t>
            </a:r>
            <a:endParaRPr lang="zh-CN" sz="1600"/>
          </a:p>
          <a:p>
            <a:r>
              <a:rPr lang="zh-CN" sz="1600" dirty="0">
                <a:latin typeface="Arial"/>
                <a:ea typeface="Microsoft YaHei"/>
              </a:rPr>
              <a:t>她应找出：P has air but no water；Q does not rust because there is no oxygen；iron needs both water and oxygen。</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1:16–1:17。</a:t>
            </a:r>
            <a:endParaRPr lang="zh-CN" sz="1600"/>
          </a:p>
          <a:p>
            <a:r>
              <a:rPr lang="zh-CN" sz="1600" dirty="0">
                <a:latin typeface="Arial"/>
                <a:ea typeface="Microsoft YaHei"/>
              </a:rPr>
              <a:t>空格：painting；moving parts，paint would rub off；galvanising；made of stainless steel (alloying)。</a:t>
            </a:r>
            <a:endParaRPr lang="zh-CN" sz="1600"/>
          </a:p>
          <a:p>
            <a:r>
              <a:rPr lang="zh-CN" sz="1600" dirty="0">
                <a:latin typeface="Arial"/>
                <a:ea typeface="Microsoft YaHei"/>
              </a:rPr>
              <a:t>最后一句：water and oxygen (air)。</a:t>
            </a:r>
            <a:endParaRPr lang="zh-CN" sz="1600"/>
          </a:p>
          <a:p>
            <a:r>
              <a:rPr lang="zh-CN" sz="1600" dirty="0">
                <a:latin typeface="Arial"/>
                <a:ea typeface="Microsoft YaHei"/>
              </a:rPr>
              <a:t>booklet p.13：选哪种方法看 object 的大小、用途和成本。</a:t>
            </a:r>
            <a:endParaRPr lang="zh-CN" sz="1600"/>
          </a:p>
          <a:p>
            <a:r>
              <a:rPr lang="zh-CN" sz="1600" dirty="0">
                <a:latin typeface="Arial"/>
                <a:ea typeface="Microsoft YaHei"/>
              </a:rPr>
              <a:t>Script:</a:t>
            </a:r>
            <a:endParaRPr lang="zh-CN" sz="1600"/>
          </a:p>
          <a:p>
            <a:r>
              <a:rPr lang="zh-CN" sz="1600" dirty="0">
                <a:latin typeface="Arial"/>
                <a:ea typeface="Microsoft YaHei"/>
              </a:rPr>
              <a:t>说：“四种防锈方法，填空。”</a:t>
            </a:r>
            <a:endParaRPr lang="zh-CN" sz="1600"/>
          </a:p>
          <a:p>
            <a:r>
              <a:rPr lang="zh-CN" sz="1600" dirty="0">
                <a:latin typeface="Arial"/>
                <a:ea typeface="Microsoft YaHei"/>
              </a:rPr>
              <a:t>她应答：painting；moving parts, paint would rub off；galvanising；stainless steel。</a:t>
            </a:r>
            <a:endParaRPr lang="zh-CN" sz="1600"/>
          </a:p>
          <a:p>
            <a:r>
              <a:rPr lang="zh-CN" sz="1600" dirty="0">
                <a:latin typeface="Arial"/>
                <a:ea typeface="Microsoft YaHei"/>
              </a:rPr>
              <a:t>问最后一句：water and oxygen。</a:t>
            </a:r>
            <a:endParaRPr lang="zh-CN" sz="1600"/>
          </a:p>
          <a:p>
            <a:r>
              <a:rPr lang="zh-CN" sz="1600" dirty="0">
                <a:latin typeface="Arial"/>
                <a:ea typeface="Microsoft YaHei"/>
              </a:rPr>
              <a:t>Say it:</a:t>
            </a:r>
            <a:endParaRPr lang="zh-CN" sz="1600"/>
          </a:p>
          <a:p>
            <a:r>
              <a:rPr lang="zh-CN" sz="1600" dirty="0">
                <a:latin typeface="Arial"/>
                <a:ea typeface="Microsoft YaHei"/>
              </a:rPr>
              <a:t>galvanising = GAL-vuh-ny-zing</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water and oxygen</a:t>
            </a:r>
            <a:endParaRPr lang="zh-CN" sz="1600"/>
          </a:p>
          <a:p>
            <a:r>
              <a:rPr lang="zh-CN" sz="1600" dirty="0">
                <a:latin typeface="Arial"/>
                <a:ea typeface="Microsoft YaHei"/>
              </a:rPr>
              <a:t>Q2 the air near the sea carries salt, and salt solution speeds up rusting</a:t>
            </a:r>
            <a:endParaRPr lang="zh-CN" sz="1600"/>
          </a:p>
          <a:p>
            <a:r>
              <a:rPr lang="zh-CN" sz="1600" dirty="0">
                <a:latin typeface="Arial"/>
                <a:ea typeface="Microsoft YaHei"/>
              </a:rPr>
              <a:t>Q3 change: tap water or salt water; measure: how much rust after 3 days; keep the same: type and size of nail (cleaned with sandpaper), volume of water, temperature, time, tubes open to the air; repeat each tube</a:t>
            </a:r>
            <a:endParaRPr lang="zh-CN" sz="1600"/>
          </a:p>
          <a:p>
            <a:r>
              <a:rPr lang="zh-CN" sz="1600" dirty="0">
                <a:latin typeface="Arial"/>
                <a:ea typeface="Microsoft YaHei"/>
              </a:rPr>
              <a:t>Short solution:</a:t>
            </a:r>
            <a:endParaRPr lang="zh-CN" sz="1600"/>
          </a:p>
          <a:p>
            <a:r>
              <a:rPr lang="zh-CN" sz="1600" dirty="0">
                <a:latin typeface="Arial"/>
                <a:ea typeface="Microsoft YaHei"/>
              </a:rPr>
              <a:t>Q3 E 要有：independent variable、dependent variable、至少三个 controlled variables、重复实验</a:t>
            </a:r>
            <a:endParaRPr lang="zh-CN" sz="1600"/>
          </a:p>
          <a:p>
            <a:r>
              <a:rPr lang="zh-CN" sz="1600" dirty="0">
                <a:latin typeface="Arial"/>
                <a:ea typeface="Microsoft YaHei"/>
              </a:rPr>
              <a:t>Watch for:</a:t>
            </a:r>
            <a:endParaRPr lang="zh-CN" sz="1600"/>
          </a:p>
          <a:p>
            <a:r>
              <a:rPr lang="zh-CN" sz="1600" dirty="0">
                <a:latin typeface="Arial"/>
                <a:ea typeface="Microsoft YaHei"/>
              </a:rPr>
              <a:t>Q3 她实验题最容易漏 “how to measure”：写 “compare the amount of rust” 或 “measure the mass of the nail before and after” 都可以</a:t>
            </a:r>
            <a:endParaRPr lang="zh-CN" sz="1600"/>
          </a:p>
          <a:p>
            <a:r>
              <a:rPr lang="zh-CN" sz="1600" dirty="0">
                <a:latin typeface="Arial"/>
                <a:ea typeface="Microsoft YaHei"/>
              </a:rPr>
              <a:t>Script:</a:t>
            </a:r>
            <a:endParaRPr lang="zh-CN" sz="1600"/>
          </a:p>
          <a:p>
            <a:r>
              <a:rPr lang="zh-CN" sz="1600" dirty="0">
                <a:latin typeface="Arial"/>
                <a:ea typeface="Microsoft YaHei"/>
              </a:rPr>
              <a:t>Q1 她应答：water and oxygen。</a:t>
            </a:r>
            <a:endParaRPr lang="zh-CN" sz="1600"/>
          </a:p>
          <a:p>
            <a:r>
              <a:rPr lang="zh-CN" sz="1600" dirty="0">
                <a:latin typeface="Arial"/>
                <a:ea typeface="Microsoft YaHei"/>
              </a:rPr>
              <a:t>Q2 她应答：the air by the sea carries salt, and salt speeds up rusting。</a:t>
            </a:r>
            <a:endParaRPr lang="zh-CN" sz="1600"/>
          </a:p>
          <a:p>
            <a:r>
              <a:rPr lang="zh-CN" sz="1600" dirty="0">
                <a:latin typeface="Arial"/>
                <a:ea typeface="Microsoft YaHei"/>
              </a:rPr>
              <a:t>Q3 让她说出三样：change tap water or salt water；measure the amount of rust after 3 days；keep the same nail, volume of water, temperature, time；repeat。</a:t>
            </a:r>
            <a:endParaRPr lang="zh-CN" sz="1600"/>
          </a:p>
          <a:p>
            <a:r>
              <a:rPr lang="zh-CN" sz="1600" dirty="0">
                <a:latin typeface="Arial"/>
                <a:ea typeface="Microsoft YaHei"/>
              </a:rPr>
              <a:t>说：“实验设计题最容易漏的是 ‘怎么测量’。”</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metal oxide</a:t>
            </a:r>
            <a:endParaRPr lang="zh-CN" sz="1600"/>
          </a:p>
          <a:p>
            <a:r>
              <a:rPr lang="zh-CN" sz="1600" dirty="0">
                <a:latin typeface="Arial"/>
                <a:ea typeface="Microsoft YaHei"/>
              </a:rPr>
              <a:t>2. metal hydroxide + hydrogen</a:t>
            </a:r>
            <a:endParaRPr lang="zh-CN" sz="1600"/>
          </a:p>
          <a:p>
            <a:r>
              <a:rPr lang="zh-CN" sz="1600" dirty="0">
                <a:latin typeface="Arial"/>
                <a:ea typeface="Microsoft YaHei"/>
              </a:rPr>
              <a:t>3. metal chloride + hydrogen</a:t>
            </a:r>
            <a:endParaRPr lang="zh-CN" sz="1600"/>
          </a:p>
          <a:p>
            <a:r>
              <a:rPr lang="zh-CN" sz="1600" dirty="0">
                <a:latin typeface="Arial"/>
                <a:ea typeface="Microsoft YaHei"/>
              </a:rPr>
              <a:t>4. squeaky pop</a:t>
            </a:r>
            <a:endParaRPr lang="zh-CN" sz="1600"/>
          </a:p>
          <a:p>
            <a:r>
              <a:rPr lang="zh-CN" sz="1600" dirty="0">
                <a:latin typeface="Arial"/>
                <a:ea typeface="Microsoft YaHei"/>
              </a:rPr>
              <a:t>Short solution:</a:t>
            </a:r>
            <a:endParaRPr lang="zh-CN" sz="1600"/>
          </a:p>
          <a:p>
            <a:r>
              <a:rPr lang="zh-CN" sz="1600" dirty="0">
                <a:latin typeface="Arial"/>
                <a:ea typeface="Microsoft YaHei"/>
              </a:rPr>
              <a:t>2 和 3 都放出 hydrogen gas，所以都可以用 lit splint 测</a:t>
            </a:r>
            <a:endParaRPr lang="zh-CN" sz="1600"/>
          </a:p>
          <a:p>
            <a:r>
              <a:rPr lang="zh-CN" sz="1600" dirty="0">
                <a:latin typeface="Arial"/>
                <a:ea typeface="Microsoft YaHei"/>
              </a:rPr>
              <a:t>Watch for:</a:t>
            </a:r>
            <a:endParaRPr lang="zh-CN" sz="1600"/>
          </a:p>
          <a:p>
            <a:r>
              <a:rPr lang="zh-CN" sz="1600" dirty="0">
                <a:latin typeface="Arial"/>
                <a:ea typeface="Microsoft YaHei"/>
              </a:rPr>
              <a:t>2. 写成 metal oxide + hydrogen 是常见错误 (L15)</a:t>
            </a:r>
            <a:endParaRPr lang="zh-CN" sz="1600"/>
          </a:p>
          <a:p>
            <a:r>
              <a:rPr lang="zh-CN" sz="1600" dirty="0">
                <a:latin typeface="Arial"/>
                <a:ea typeface="Microsoft YaHei"/>
              </a:rPr>
              <a:t>Script:</a:t>
            </a:r>
            <a:endParaRPr lang="zh-CN" sz="1600"/>
          </a:p>
          <a:p>
            <a:r>
              <a:rPr lang="zh-CN" sz="1600" dirty="0">
                <a:latin typeface="Arial"/>
                <a:ea typeface="Microsoft YaHei"/>
              </a:rPr>
              <a:t>说：“三个规律记住了，所有方程式都能写。”</a:t>
            </a:r>
            <a:endParaRPr lang="zh-CN" sz="1600"/>
          </a:p>
          <a:p>
            <a:r>
              <a:rPr lang="zh-CN" sz="1600" dirty="0">
                <a:latin typeface="Arial"/>
                <a:ea typeface="Microsoft YaHei"/>
              </a:rPr>
              <a:t>她应答：metal oxide；metal hydroxide + hydrogen；metal chloride + hydrogen；squeaky pop。</a:t>
            </a:r>
            <a:endParaRPr lang="zh-CN" sz="1600"/>
          </a:p>
          <a:p>
            <a:r>
              <a:rPr lang="zh-CN" sz="1600" dirty="0">
                <a:latin typeface="Arial"/>
                <a:ea typeface="Microsoft YaHei"/>
              </a:rPr>
              <a:t>说：“金属和水生成的是 hydroxide，不是 oxide，这是常见错误。”</a:t>
            </a:r>
            <a:endParaRPr lang="zh-CN" sz="1600"/>
          </a:p>
          <a:p>
            <a:r>
              <a:rPr lang="zh-CN" sz="1600" dirty="0">
                <a:latin typeface="Arial"/>
                <a:ea typeface="Microsoft YaHei"/>
              </a:rPr>
              <a:t>Say it:</a:t>
            </a:r>
            <a:endParaRPr lang="zh-CN" sz="1600"/>
          </a:p>
          <a:p>
            <a:r>
              <a:rPr lang="zh-CN" sz="1600" dirty="0">
                <a:latin typeface="Arial"/>
                <a:ea typeface="Microsoft YaHei"/>
              </a:rPr>
              <a:t>hydroxide = hy-DROK-side</a:t>
            </a:r>
            <a:endParaRPr lang="zh-CN" sz="1600"/>
          </a:p>
          <a:p>
            <a:r>
              <a:rPr lang="zh-CN" sz="1600" dirty="0">
                <a:latin typeface="Arial"/>
                <a:ea typeface="Microsoft YaHei"/>
              </a:rPr>
              <a:t>hydrochloric = hy-droh-KLOR-ik</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1:21–1:23。</a:t>
            </a:r>
            <a:endParaRPr lang="zh-CN" sz="1600"/>
          </a:p>
          <a:p>
            <a:r>
              <a:rPr lang="zh-CN" sz="1600" dirty="0">
                <a:latin typeface="Arial"/>
                <a:ea typeface="Microsoft YaHei"/>
              </a:rPr>
              <a:t>(a) iron oxide</a:t>
            </a:r>
            <a:endParaRPr lang="zh-CN" sz="1600"/>
          </a:p>
          <a:p>
            <a:r>
              <a:rPr lang="zh-CN" sz="1600" dirty="0">
                <a:latin typeface="Arial"/>
                <a:ea typeface="Microsoft YaHei"/>
              </a:rPr>
              <a:t>(b) lithium hydroxide + hydrogen</a:t>
            </a:r>
            <a:endParaRPr lang="zh-CN" sz="1600"/>
          </a:p>
          <a:p>
            <a:r>
              <a:rPr lang="zh-CN" sz="1600" dirty="0">
                <a:latin typeface="Arial"/>
                <a:ea typeface="Microsoft YaHei"/>
              </a:rPr>
              <a:t>(c) aluminium + hydrochloric acid → aluminium chloride + hydrogen</a:t>
            </a:r>
            <a:endParaRPr lang="zh-CN" sz="1600"/>
          </a:p>
          <a:p>
            <a:r>
              <a:rPr lang="zh-CN" sz="1600" dirty="0">
                <a:latin typeface="Arial"/>
                <a:ea typeface="Microsoft YaHei"/>
              </a:rPr>
              <a:t>(d) no reaction：gold 在 reactivity series 的最下面</a:t>
            </a:r>
            <a:endParaRPr lang="zh-CN" sz="1600"/>
          </a:p>
          <a:p>
            <a:r>
              <a:rPr lang="zh-CN" sz="1600" dirty="0">
                <a:latin typeface="Arial"/>
                <a:ea typeface="Microsoft YaHei"/>
              </a:rPr>
              <a:t>考试写 word equation：用词，不用化学式；箭头不要写成等号。</a:t>
            </a:r>
            <a:endParaRPr lang="zh-CN" sz="1600"/>
          </a:p>
          <a:p>
            <a:r>
              <a:rPr lang="zh-CN" sz="1600" dirty="0">
                <a:latin typeface="Arial"/>
                <a:ea typeface="Microsoft YaHei"/>
              </a:rPr>
              <a:t>Script:</a:t>
            </a:r>
            <a:endParaRPr lang="zh-CN" sz="1600"/>
          </a:p>
          <a:p>
            <a:r>
              <a:rPr lang="zh-CN" sz="1600" dirty="0">
                <a:latin typeface="Arial"/>
                <a:ea typeface="Microsoft YaHei"/>
              </a:rPr>
              <a:t>说：“用刚才的规律写四个方程式，用词，不用化学式。”</a:t>
            </a:r>
            <a:endParaRPr lang="zh-CN" sz="1600"/>
          </a:p>
          <a:p>
            <a:r>
              <a:rPr lang="zh-CN" sz="1600" dirty="0">
                <a:latin typeface="Arial"/>
                <a:ea typeface="Microsoft YaHei"/>
              </a:rPr>
              <a:t>她应答：(a) iron oxide；(b) lithium hydroxide plus hydrogen；(c) aluminium chloride plus hydrogen；(d) no reaction。</a:t>
            </a:r>
            <a:endParaRPr lang="zh-CN" sz="1600"/>
          </a:p>
          <a:p>
            <a:r>
              <a:rPr lang="zh-CN" sz="1600" dirty="0">
                <a:latin typeface="Arial"/>
                <a:ea typeface="Microsoft YaHei"/>
              </a:rPr>
              <a:t>Say it:</a:t>
            </a:r>
            <a:endParaRPr lang="zh-CN" sz="1600"/>
          </a:p>
          <a:p>
            <a:r>
              <a:rPr lang="zh-CN" sz="1600" dirty="0">
                <a:latin typeface="Arial"/>
                <a:ea typeface="Microsoft YaHei"/>
              </a:rPr>
              <a:t>lithium = LITH-ee-um</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1:23–1:25。</a:t>
            </a:r>
            <a:endParaRPr lang="zh-CN" sz="1600"/>
          </a:p>
          <a:p>
            <a:r>
              <a:rPr lang="zh-CN" sz="1600" dirty="0">
                <a:latin typeface="Arial"/>
                <a:ea typeface="Microsoft YaHei"/>
              </a:rPr>
              <a:t>1. yes：tin 在 “react with acids” 的范围里 (反应很慢)</a:t>
            </a:r>
            <a:endParaRPr lang="zh-CN" sz="1600"/>
          </a:p>
          <a:p>
            <a:r>
              <a:rPr lang="zh-CN" sz="1600" dirty="0">
                <a:latin typeface="Arial"/>
                <a:ea typeface="Microsoft YaHei"/>
              </a:rPr>
              <a:t>2. gold is so unreactive that it does not react with oxygen or sulfur, so it stays as the pure metal; iron is more reactive, so it is found as compounds (ores) and must be extracted</a:t>
            </a:r>
            <a:endParaRPr lang="zh-CN" sz="1600"/>
          </a:p>
          <a:p>
            <a:r>
              <a:rPr lang="zh-CN" sz="1600" dirty="0">
                <a:latin typeface="Arial"/>
                <a:ea typeface="Microsoft YaHei"/>
              </a:rPr>
              <a:t>这一页对应 booklet p.20 Summary 的图，重画成四组。</a:t>
            </a:r>
            <a:endParaRPr lang="zh-CN" sz="1600"/>
          </a:p>
          <a:p>
            <a:r>
              <a:rPr lang="zh-CN" sz="1600" dirty="0">
                <a:latin typeface="Arial"/>
                <a:ea typeface="Microsoft YaHei"/>
              </a:rPr>
              <a:t>Script:</a:t>
            </a:r>
            <a:endParaRPr lang="zh-CN" sz="1600"/>
          </a:p>
          <a:p>
            <a:r>
              <a:rPr lang="zh-CN" sz="1600" dirty="0">
                <a:latin typeface="Arial"/>
                <a:ea typeface="Microsoft YaHei"/>
              </a:rPr>
              <a:t>说：“这是 booklet 第 20 页的图，越往左越活泼。”</a:t>
            </a:r>
            <a:endParaRPr lang="zh-CN" sz="1600"/>
          </a:p>
          <a:p>
            <a:r>
              <a:rPr lang="zh-CN" sz="1600" dirty="0">
                <a:latin typeface="Arial"/>
                <a:ea typeface="Microsoft YaHei"/>
              </a:rPr>
              <a:t>问第 1 题：答 yes，tin is in the ‘react with acids’ range。</a:t>
            </a:r>
            <a:endParaRPr lang="zh-CN" sz="1600"/>
          </a:p>
          <a:p>
            <a:r>
              <a:rPr lang="zh-CN" sz="1600" dirty="0">
                <a:latin typeface="Arial"/>
                <a:ea typeface="Microsoft YaHei"/>
              </a:rPr>
              <a:t>问第 2 题：她应答：gold is very unreactive so it stays as the metal；iron is more reactive so it is found as compounds in ores。</a:t>
            </a:r>
            <a:endParaRPr lang="zh-CN" sz="1600"/>
          </a:p>
          <a:p>
            <a:r>
              <a:rPr lang="zh-CN" sz="1600" dirty="0">
                <a:latin typeface="Arial"/>
                <a:ea typeface="Microsoft YaHei"/>
              </a:rPr>
              <a:t>Say it:</a:t>
            </a:r>
            <a:endParaRPr lang="zh-CN" sz="1600"/>
          </a:p>
          <a:p>
            <a:r>
              <a:rPr lang="zh-CN" sz="1600" dirty="0">
                <a:latin typeface="Arial"/>
                <a:ea typeface="Microsoft YaHei"/>
              </a:rPr>
              <a:t>potassium = puh-TAS-ee-um</a:t>
            </a:r>
            <a:endParaRPr lang="zh-CN" sz="1600"/>
          </a:p>
          <a:p>
            <a:r>
              <a:rPr lang="zh-CN" sz="1600" dirty="0">
                <a:latin typeface="Arial"/>
                <a:ea typeface="Microsoft YaHei"/>
              </a:rPr>
              <a:t>magnesium = mag-NEE-zee-um</a:t>
            </a:r>
            <a:endParaRPr lang="zh-CN" sz="1600"/>
          </a:p>
          <a:p>
            <a:r>
              <a:rPr lang="zh-CN" sz="1600" dirty="0">
                <a:latin typeface="Arial"/>
                <a:ea typeface="Microsoft YaHei"/>
              </a:rPr>
              <a:t>mercury = MER-kyuh-ree</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1. calcium + oxygen → calcium oxide, not calcium oxygen (L15)</a:t>
            </a:r>
            <a:endParaRPr lang="zh-CN" sz="1600"/>
          </a:p>
          <a:p>
            <a:r>
              <a:rPr lang="zh-CN" sz="1600" dirty="0">
                <a:latin typeface="Arial"/>
                <a:ea typeface="Microsoft YaHei"/>
              </a:rPr>
              <a:t>2. iron + hydrochloric acid → iron chloride + hydrogen, not water (L15)</a:t>
            </a:r>
            <a:endParaRPr lang="zh-CN" sz="1600"/>
          </a:p>
          <a:p>
            <a:r>
              <a:rPr lang="zh-CN" sz="1600" dirty="0">
                <a:latin typeface="Arial"/>
                <a:ea typeface="Microsoft YaHei"/>
              </a:rPr>
              <a:t>3. silver + hydrochloric acid → no reaction: silver is below the acids in the series (L16)</a:t>
            </a:r>
            <a:endParaRPr lang="zh-CN" sz="1600"/>
          </a:p>
          <a:p>
            <a:r>
              <a:rPr lang="zh-CN" sz="1600" dirty="0">
                <a:latin typeface="Arial"/>
                <a:ea typeface="Microsoft YaHei"/>
              </a:rPr>
              <a:t>Short solution:</a:t>
            </a:r>
            <a:endParaRPr lang="zh-CN" sz="1600"/>
          </a:p>
          <a:p>
            <a:r>
              <a:rPr lang="zh-CN" sz="1600" dirty="0">
                <a:latin typeface="Arial"/>
                <a:ea typeface="Microsoft YaHei"/>
              </a:rPr>
              <a:t>calcium + oxygen → calcium oxide; iron + hydrochloric acid → iron chloride + hydrogen; potassium + water → potassium hydroxide + hydrogen (correct); silver + hydrochloric acid → no reaction</a:t>
            </a:r>
            <a:endParaRPr lang="zh-CN" sz="1600"/>
          </a:p>
          <a:p>
            <a:r>
              <a:rPr lang="zh-CN" sz="1600" dirty="0">
                <a:latin typeface="Arial"/>
                <a:ea typeface="Microsoft YaHei"/>
              </a:rPr>
              <a:t>Watch for:</a:t>
            </a:r>
            <a:endParaRPr lang="zh-CN" sz="1600"/>
          </a:p>
          <a:p>
            <a:r>
              <a:rPr lang="zh-CN" sz="1600" dirty="0">
                <a:latin typeface="Arial"/>
                <a:ea typeface="Microsoft YaHei"/>
              </a:rPr>
              <a:t>第 3 条是对的，error 的编号按找到的顺序 1–3，不按 Sam 的行号。</a:t>
            </a:r>
            <a:endParaRPr lang="zh-CN" sz="1600"/>
          </a:p>
          <a:p>
            <a:r>
              <a:rPr lang="zh-CN" sz="1600" dirty="0">
                <a:latin typeface="Arial"/>
                <a:ea typeface="Microsoft YaHei"/>
              </a:rPr>
              <a:t>Script:</a:t>
            </a:r>
            <a:endParaRPr lang="zh-CN" sz="1600"/>
          </a:p>
          <a:p>
            <a:r>
              <a:rPr lang="zh-CN" sz="1600" dirty="0">
                <a:latin typeface="Arial"/>
                <a:ea typeface="Microsoft YaHei"/>
              </a:rPr>
              <a:t>说：“四条方程式，3 条有错，找出来。”</a:t>
            </a:r>
            <a:endParaRPr lang="zh-CN" sz="1600"/>
          </a:p>
          <a:p>
            <a:r>
              <a:rPr lang="zh-CN" sz="1600" dirty="0">
                <a:latin typeface="Arial"/>
                <a:ea typeface="Microsoft YaHei"/>
              </a:rPr>
              <a:t>她应找出：calcium oxide, not calcium oxygen；iron chloride plus hydrogen, not water；silver gives no reaction。</a:t>
            </a:r>
            <a:endParaRPr lang="zh-CN" sz="1600"/>
          </a:p>
          <a:p>
            <a:r>
              <a:rPr lang="zh-CN" sz="1600" dirty="0">
                <a:latin typeface="Arial"/>
                <a:ea typeface="Microsoft YaHei"/>
              </a:rPr>
              <a:t>问：“第 3 条对吗？” 答：对。</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Q1 aluminium + oxygen → aluminium oxide</a:t>
            </a:r>
            <a:endParaRPr lang="zh-CN" sz="1600"/>
          </a:p>
          <a:p>
            <a:r>
              <a:rPr lang="zh-CN" sz="1600" dirty="0">
                <a:latin typeface="Arial"/>
                <a:ea typeface="Microsoft YaHei"/>
              </a:rPr>
              <a:t>Q2 S, P, R, Q</a:t>
            </a:r>
            <a:endParaRPr lang="zh-CN" sz="1600"/>
          </a:p>
          <a:p>
            <a:r>
              <a:rPr lang="zh-CN" sz="1600" dirty="0">
                <a:latin typeface="Arial"/>
                <a:ea typeface="Microsoft YaHei"/>
              </a:rPr>
              <a:t>Q3 add same-sized pieces of zinc and copper to the same volume of the same dilute hydrochloric acid; zinc fizzes (hydrogen), copper does not react</a:t>
            </a:r>
            <a:endParaRPr lang="zh-CN" sz="1600"/>
          </a:p>
          <a:p>
            <a:r>
              <a:rPr lang="zh-CN" sz="1600" dirty="0">
                <a:latin typeface="Arial"/>
                <a:ea typeface="Microsoft YaHei"/>
              </a:rPr>
              <a:t>Short solution:</a:t>
            </a:r>
            <a:endParaRPr lang="zh-CN" sz="1600"/>
          </a:p>
          <a:p>
            <a:r>
              <a:rPr lang="zh-CN" sz="1600" dirty="0">
                <a:latin typeface="Arial"/>
                <a:ea typeface="Microsoft YaHei"/>
              </a:rPr>
              <a:t>Q2 evidence：S 连冷水都能反应，最活泼；P 气泡多又快；R 少又慢；Q 没有反应</a:t>
            </a:r>
            <a:endParaRPr lang="zh-CN" sz="1600"/>
          </a:p>
          <a:p>
            <a:r>
              <a:rPr lang="zh-CN" sz="1600" dirty="0">
                <a:latin typeface="Arial"/>
                <a:ea typeface="Microsoft YaHei"/>
              </a:rPr>
              <a:t>Q3 fair test：same size, same volume, same concentration, same temperature；可以用 lit splint 证明气体是 hydrogen</a:t>
            </a:r>
            <a:endParaRPr lang="zh-CN" sz="1600"/>
          </a:p>
          <a:p>
            <a:r>
              <a:rPr lang="zh-CN" sz="1600" dirty="0">
                <a:latin typeface="Arial"/>
                <a:ea typeface="Microsoft YaHei"/>
              </a:rPr>
              <a:t>Watch for:</a:t>
            </a:r>
            <a:endParaRPr lang="zh-CN" sz="1600"/>
          </a:p>
          <a:p>
            <a:r>
              <a:rPr lang="zh-CN" sz="1600" dirty="0">
                <a:latin typeface="Arial"/>
                <a:ea typeface="Microsoft YaHei"/>
              </a:rPr>
              <a:t>Q2 只排顺序不写证据只有 A (L16)</a:t>
            </a:r>
            <a:endParaRPr lang="zh-CN" sz="1600"/>
          </a:p>
          <a:p>
            <a:r>
              <a:rPr lang="zh-CN" sz="1600" dirty="0">
                <a:latin typeface="Arial"/>
                <a:ea typeface="Microsoft YaHei"/>
              </a:rPr>
              <a:t>Script:</a:t>
            </a:r>
            <a:endParaRPr lang="zh-CN" sz="1600"/>
          </a:p>
          <a:p>
            <a:r>
              <a:rPr lang="zh-CN" sz="1600" dirty="0">
                <a:latin typeface="Arial"/>
                <a:ea typeface="Microsoft YaHei"/>
              </a:rPr>
              <a:t>Q1 她应答：aluminium plus oxygen gives aluminium oxide。</a:t>
            </a:r>
            <a:endParaRPr lang="zh-CN" sz="1600"/>
          </a:p>
          <a:p>
            <a:r>
              <a:rPr lang="zh-CN" sz="1600" dirty="0">
                <a:latin typeface="Arial"/>
                <a:ea typeface="Microsoft YaHei"/>
              </a:rPr>
              <a:t>Q2 她应答：S, P, R, Q，并说证据：S reacts even with cold water, P bubbles fastest, R slowly, Q not at all。</a:t>
            </a:r>
            <a:endParaRPr lang="zh-CN" sz="1600"/>
          </a:p>
          <a:p>
            <a:r>
              <a:rPr lang="zh-CN" sz="1600" dirty="0">
                <a:latin typeface="Arial"/>
                <a:ea typeface="Microsoft YaHei"/>
              </a:rPr>
              <a:t>Q3 她应答：same size pieces, same volume and concentration of acid；zinc fizzes, copper does not react。</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1:27–1:28。</a:t>
            </a:r>
            <a:endParaRPr lang="zh-CN" sz="1600"/>
          </a:p>
          <a:p>
            <a:r>
              <a:rPr lang="zh-CN" sz="1600" dirty="0">
                <a:latin typeface="Arial"/>
                <a:ea typeface="Microsoft YaHei"/>
              </a:rPr>
              <a:t>L10 和 L11 来自她 booklet p.4 的表；L14 来自 p.17 的 tube B；L12 来自 p.6。</a:t>
            </a:r>
            <a:endParaRPr lang="zh-CN" sz="1600"/>
          </a:p>
          <a:p>
            <a:r>
              <a:rPr lang="zh-CN" sz="1600" dirty="0">
                <a:latin typeface="Arial"/>
                <a:ea typeface="Microsoft YaHei"/>
              </a:rPr>
              <a:t>L16 在作业 hw2 里再练。</a:t>
            </a:r>
            <a:endParaRPr lang="zh-CN" sz="1600"/>
          </a:p>
          <a:p>
            <a:r>
              <a:rPr lang="zh-CN" sz="1600" dirty="0">
                <a:latin typeface="Arial"/>
                <a:ea typeface="Microsoft YaHei"/>
              </a:rPr>
              <a:t>Script:</a:t>
            </a:r>
            <a:endParaRPr lang="zh-CN" sz="1600"/>
          </a:p>
          <a:p>
            <a:r>
              <a:rPr lang="zh-CN" sz="1600" dirty="0">
                <a:latin typeface="Arial"/>
                <a:ea typeface="Microsoft YaHei"/>
              </a:rPr>
              <a:t>说：“金属这六条，每条说一个刚才的例子。”</a:t>
            </a:r>
            <a:endParaRPr lang="zh-CN" sz="1600"/>
          </a:p>
          <a:p>
            <a:r>
              <a:rPr lang="zh-CN" sz="1600" dirty="0">
                <a:latin typeface="Arial"/>
                <a:ea typeface="Microsoft YaHei"/>
              </a:rPr>
              <a:t>她可以举：L10、L11 Sam 的螺栓；L13 黄铜；L14 回形针；L15 Sam 的方程式。</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1:28–1:29。</a:t>
            </a:r>
            <a:endParaRPr lang="zh-CN" sz="1600"/>
          </a:p>
          <a:p>
            <a:r>
              <a:rPr lang="zh-CN" sz="1600" dirty="0">
                <a:latin typeface="Arial"/>
                <a:ea typeface="Microsoft YaHei"/>
              </a:rPr>
              <a:t>同样让她先说再看。</a:t>
            </a:r>
            <a:endParaRPr lang="zh-CN" sz="1600"/>
          </a:p>
          <a:p>
            <a:r>
              <a:rPr lang="zh-CN" sz="1600" dirty="0">
                <a:latin typeface="Arial"/>
                <a:ea typeface="Microsoft YaHei"/>
              </a:rPr>
              <a:t>Script:</a:t>
            </a:r>
            <a:endParaRPr lang="zh-CN" sz="1600"/>
          </a:p>
          <a:p>
            <a:r>
              <a:rPr lang="zh-CN" sz="1600" dirty="0">
                <a:latin typeface="Arial"/>
                <a:ea typeface="Microsoft YaHei"/>
              </a:rPr>
              <a:t>说：“还是先闭眼说一遍，再看屏幕对一下。”</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1:29–1:40。</a:t>
            </a:r>
            <a:endParaRPr lang="zh-CN" sz="1600"/>
          </a:p>
          <a:p>
            <a:r>
              <a:rPr lang="zh-CN" sz="1600" dirty="0">
                <a:latin typeface="Arial"/>
                <a:ea typeface="Microsoft YaHei"/>
              </a:rPr>
              <a:t>答案在 classwork_answers.pdf：Part D 的 density 题答案是 2.7 g/cm</a:t>
            </a:r>
            <mc:AlternateContent xmlns:mc="http://schemas.openxmlformats.org/markup-compatibility/2006">
              <mc:Choice xmlns:a14="http://schemas.microsoft.com/office/drawing/2010/main" Requires="a14">
                <a14:m>
                  <m:oMath xmlns:m="http://schemas.openxmlformats.org/officeDocument/2006/math">
                    <m:sSup>
                      <m:e>
                        <m:r>
                          <a:rPr lang="en-US" sz="1600" i="0">
                            <a:latin typeface="Cambria Math" panose="02040503050406030204" pitchFamily="18" charset="0"/>
                          </a:rPr>
                          <m:t>​</m:t>
                        </m:r>
                      </m:e>
                      <m:sup>
                        <m:r>
                          <a:rPr lang="en-US" sz="1600" i="0">
                            <a:latin typeface="Cambria Math" panose="02040503050406030204" pitchFamily="18" charset="0"/>
                          </a:rPr>
                          <m:t>3</m:t>
                        </m:r>
                      </m:sup>
                    </m:sSup>
                  </m:oMath>
                </a14:m>
              </mc:Choice>
              <mc:Fallback>
                <a:r>
                  <a:rPr lang="zh-CN" sz="1600" dirty="0">
                    <a:latin typeface="Arial"/>
                    <a:ea typeface="Microsoft YaHei"/>
                  </a:rPr>
                  <a:t>^3</a:t>
                </a:r>
              </mc:Fallback>
            </mc:AlternateContent>
            <a:r>
              <a:rPr lang="zh-CN" sz="1600" dirty="0">
                <a:latin typeface="Arial"/>
                <a:ea typeface="Microsoft YaHei"/>
              </a:rPr>
              <a:t> (aluminium)；Part E 重点是 alloy 的解释链；Part F 的实验设计要有三个 controlled variables。</a:t>
            </a:r>
            <a:endParaRPr lang="zh-CN" sz="1600"/>
          </a:p>
          <a:p>
            <a:r>
              <a:rPr lang="zh-CN" sz="1600" dirty="0">
                <a:latin typeface="Arial"/>
                <a:ea typeface="Microsoft YaHei"/>
              </a:rPr>
              <a:t>1:38 收卷，准备发 Mini mock。</a:t>
            </a:r>
            <a:endParaRPr lang="zh-CN" sz="1600"/>
          </a:p>
          <a:p>
            <a:r>
              <a:rPr lang="zh-CN" sz="1600" dirty="0">
                <a:latin typeface="Arial"/>
                <a:ea typeface="Microsoft YaHei"/>
              </a:rPr>
              <a:t>Script:</a:t>
            </a:r>
            <a:endParaRPr lang="zh-CN" sz="1600"/>
          </a:p>
          <a:p>
            <a:r>
              <a:rPr lang="zh-CN" sz="1600" dirty="0">
                <a:latin typeface="Arial"/>
                <a:ea typeface="Microsoft YaHei"/>
              </a:rPr>
              <a:t>说：“做 Classwork 的 Part D 到 F，计算要写步骤和单位。”</a:t>
            </a:r>
            <a:endParaRPr lang="zh-CN" sz="1600"/>
          </a:p>
          <a:p>
            <a:r>
              <a:rPr lang="zh-CN" sz="1600" dirty="0">
                <a:latin typeface="Arial"/>
                <a:ea typeface="Microsoft YaHei"/>
              </a:rPr>
              <a:t>1:38 收卷，准备发 mini mock。</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1:40–1:57。</a:t>
            </a:r>
            <a:endParaRPr lang="zh-CN" sz="1600"/>
          </a:p>
          <a:p>
            <a:r>
              <a:rPr lang="zh-CN" sz="1600" dirty="0">
                <a:latin typeface="Arial"/>
                <a:ea typeface="Microsoft YaHei"/>
              </a:rPr>
              <a:t>发 mock.pdf，计时 17 分钟，老师不提示。</a:t>
            </a:r>
            <a:endParaRPr lang="zh-CN" sz="1600"/>
          </a:p>
          <a:p>
            <a:r>
              <a:rPr lang="zh-CN" sz="1600" dirty="0">
                <a:latin typeface="Arial"/>
                <a:ea typeface="Microsoft YaHei"/>
              </a:rPr>
              <a:t>答案和评分标准在 mock_answers.pdf，每题写了 A、M、E 各需要写到哪一步。</a:t>
            </a:r>
            <a:endParaRPr lang="zh-CN" sz="1600"/>
          </a:p>
          <a:p>
            <a:r>
              <a:rPr lang="zh-CN" sz="1600" dirty="0">
                <a:latin typeface="Arial"/>
                <a:ea typeface="Microsoft YaHei"/>
              </a:rPr>
              <a:t>时间到了先收卷，课后批改，下次课开头花 5 分钟讲最差的两题。</a:t>
            </a:r>
            <a:endParaRPr lang="zh-CN" sz="1600"/>
          </a:p>
          <a:p>
            <a:r>
              <a:rPr lang="zh-CN" sz="1600" dirty="0">
                <a:latin typeface="Arial"/>
                <a:ea typeface="Microsoft YaHei"/>
              </a:rPr>
              <a:t>Script:</a:t>
            </a:r>
            <a:endParaRPr lang="zh-CN" sz="1600"/>
          </a:p>
          <a:p>
            <a:r>
              <a:rPr lang="zh-CN" sz="1600" dirty="0">
                <a:latin typeface="Arial"/>
                <a:ea typeface="Microsoft YaHei"/>
              </a:rPr>
              <a:t>说：“现在是 17 分钟的小模考，两个单元都有，我不提示。explain 题用今天练的顺序写。”</a:t>
            </a:r>
            <a:endParaRPr lang="zh-CN" sz="1600"/>
          </a:p>
          <a:p>
            <a:r>
              <a:rPr lang="zh-CN" sz="1600" dirty="0">
                <a:latin typeface="Arial"/>
                <a:ea typeface="Microsoft YaHei"/>
              </a:rPr>
              <a:t>时间到了先收卷，课后批改，下次课开头花 5 分钟讲最差的两题。</a:t>
            </a:r>
            <a:endParaRPr lang="zh-CN" sz="1600"/>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noAutofit/>
          </a:bodyPr>
          <a:lstStyle/>
          <a:p>
            <a:r>
              <a:rPr lang="zh-CN" sz="1600" dirty="0">
                <a:latin typeface="Arial"/>
                <a:ea typeface="Microsoft YaHei"/>
              </a:rPr>
              <a:t>Teaching line, not a question slide.</a:t>
            </a:r>
            <a:endParaRPr lang="zh-CN" sz="1600"/>
          </a:p>
          <a:p>
            <a:r>
              <a:rPr lang="zh-CN" sz="1600" dirty="0">
                <a:latin typeface="Arial"/>
                <a:ea typeface="Microsoft YaHei"/>
              </a:rPr>
              <a:t>时间 1:57–2:00。</a:t>
            </a:r>
            <a:endParaRPr lang="zh-CN" sz="1600"/>
          </a:p>
          <a:p>
            <a:r>
              <a:rPr lang="zh-CN" sz="1600" dirty="0">
                <a:latin typeface="Arial"/>
                <a:ea typeface="Microsoft YaHei"/>
              </a:rPr>
              <a:t>hw1：pollination、osmosis、transpiration 的 Explain 题和一个 Spot the error；hw2：density 计算、reactivity 数据题、rusting 实验设计和一个 Spot the error。</a:t>
            </a:r>
            <a:endParaRPr lang="zh-CN" sz="1600"/>
          </a:p>
          <a:p>
            <a:r>
              <a:rPr lang="zh-CN" sz="1600" dirty="0">
                <a:latin typeface="Arial"/>
                <a:ea typeface="Microsoft YaHei"/>
              </a:rPr>
              <a:t>答案文件 hw1_answers.pdf 和 hw2_answers.pdf，同版面红色答案。</a:t>
            </a:r>
            <a:endParaRPr lang="zh-CN" sz="1600"/>
          </a:p>
          <a:p>
            <a:r>
              <a:rPr lang="zh-CN" sz="1600" dirty="0">
                <a:latin typeface="Arial"/>
                <a:ea typeface="Microsoft YaHei"/>
              </a:rPr>
              <a:t>booklet p.10 的 solder 图：提醒 SLurP of Tea，x 轴是 percentage of tin。</a:t>
            </a:r>
            <a:endParaRPr lang="zh-CN" sz="1600"/>
          </a:p>
          <a:p>
            <a:r>
              <a:rPr lang="zh-CN" sz="1600" dirty="0">
                <a:latin typeface="Arial"/>
                <a:ea typeface="Microsoft YaHei"/>
              </a:rPr>
              <a:t>Script:</a:t>
            </a:r>
            <a:endParaRPr lang="zh-CN" sz="1600"/>
          </a:p>
          <a:p>
            <a:r>
              <a:rPr lang="zh-CN" sz="1600" dirty="0">
                <a:latin typeface="Arial"/>
                <a:ea typeface="Microsoft YaHei"/>
              </a:rPr>
              <a:t>说：“两份作业，各 40 分钟，分两天做。另外把 Metals booklet 第 10 页的焊锡图画了。”</a:t>
            </a:r>
            <a:endParaRPr lang="zh-CN" sz="1600"/>
          </a:p>
          <a:p>
            <a:r>
              <a:rPr lang="zh-CN" sz="1600" dirty="0">
                <a:latin typeface="Arial"/>
                <a:ea typeface="Microsoft YaHei"/>
              </a:rPr>
              <a:t>提醒她画图用 SLurP of Tea：坐标轴、刻度、标签、描点、标题，x 轴是 percentage of tin。</a:t>
            </a:r>
            <a:endParaRPr lang="zh-CN" sz="1600"/>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